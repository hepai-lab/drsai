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9B1723"/>
            </a:solidFill>
            <a:ln w="20320">
              <a:solidFill>
                <a:srgbClr val="9B1723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365.817</c:v>
                </c:pt>
                <c:pt idx="1">
                  <c:v>394.328</c:v>
                </c:pt>
                <c:pt idx="2">
                  <c:v>383.285</c:v>
                </c:pt>
                <c:pt idx="3">
                  <c:v>391.035</c:v>
                </c:pt>
                <c:pt idx="4">
                  <c:v>416.161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净利润</c:v>
                </c:pt>
              </c:strCache>
            </c:strRef>
          </c:tx>
          <c:spPr>
            <a:solidFill>
              <a:srgbClr val="84682D"/>
            </a:solidFill>
            <a:ln w="20320">
              <a:solidFill>
                <a:srgbClr val="84682D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94.68</c:v>
                </c:pt>
                <c:pt idx="1">
                  <c:v>99.803</c:v>
                </c:pt>
                <c:pt idx="2">
                  <c:v>96.995</c:v>
                </c:pt>
                <c:pt idx="3">
                  <c:v>93.736</c:v>
                </c:pt>
                <c:pt idx="4">
                  <c:v>112.01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4445">
              <a:solidFill>
                <a:srgbClr val="E1DDD5"/>
              </a:solidFill>
            </a:ln>
          </c:spPr>
        </c:majorGridlines>
        <c:numFmt formatCode="0&quot;bn&quot;" sourceLinked="0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4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iPhone</c:v>
                </c:pt>
              </c:strCache>
            </c:strRef>
          </c:tx>
          <c:spPr>
            <a:solidFill>
              <a:srgbClr val="9B1723"/>
            </a:solidFill>
            <a:ln w="20320">
              <a:solidFill>
                <a:srgbClr val="9B1723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191.973</c:v>
                </c:pt>
                <c:pt idx="1">
                  <c:v>205.489</c:v>
                </c:pt>
                <c:pt idx="2">
                  <c:v>200.583</c:v>
                </c:pt>
                <c:pt idx="3">
                  <c:v>201.183</c:v>
                </c:pt>
                <c:pt idx="4">
                  <c:v>209.586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</c:v>
                </c:pt>
              </c:strCache>
            </c:strRef>
          </c:tx>
          <c:spPr>
            <a:solidFill>
              <a:srgbClr val="84682D"/>
            </a:solidFill>
            <a:ln w="20320">
              <a:solidFill>
                <a:srgbClr val="84682D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35.19</c:v>
                </c:pt>
                <c:pt idx="1">
                  <c:v>40.177</c:v>
                </c:pt>
                <c:pt idx="2">
                  <c:v>29.357</c:v>
                </c:pt>
                <c:pt idx="3">
                  <c:v>29.984</c:v>
                </c:pt>
                <c:pt idx="4">
                  <c:v>33.708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iPad</c:v>
                </c:pt>
              </c:strCache>
            </c:strRef>
          </c:tx>
          <c:spPr>
            <a:solidFill>
              <a:srgbClr val="7E503E"/>
            </a:solidFill>
            <a:ln w="20320">
              <a:solidFill>
                <a:srgbClr val="7E503E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31.862</c:v>
                </c:pt>
                <c:pt idx="1">
                  <c:v>29.292</c:v>
                </c:pt>
                <c:pt idx="2">
                  <c:v>28.3</c:v>
                </c:pt>
                <c:pt idx="3">
                  <c:v>26.694</c:v>
                </c:pt>
                <c:pt idx="4">
                  <c:v>28.023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Wearables, Home and Accessories</c:v>
                </c:pt>
              </c:strCache>
            </c:strRef>
          </c:tx>
          <c:spPr>
            <a:solidFill>
              <a:srgbClr val="5C5C5C"/>
            </a:solidFill>
            <a:ln w="20320">
              <a:solidFill>
                <a:srgbClr val="5C5C5C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38.367</c:v>
                </c:pt>
                <c:pt idx="1">
                  <c:v>41.241</c:v>
                </c:pt>
                <c:pt idx="2">
                  <c:v>39.845</c:v>
                </c:pt>
                <c:pt idx="3">
                  <c:v>37.005</c:v>
                </c:pt>
                <c:pt idx="4">
                  <c:v>35.686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B8AE97"/>
            </a:solidFill>
            <a:ln w="20320">
              <a:solidFill>
                <a:srgbClr val="B8AE97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68.425</c:v>
                </c:pt>
                <c:pt idx="1">
                  <c:v>78.129</c:v>
                </c:pt>
                <c:pt idx="2">
                  <c:v>85.2</c:v>
                </c:pt>
                <c:pt idx="3">
                  <c:v>96.169</c:v>
                </c:pt>
                <c:pt idx="4">
                  <c:v>109.158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4445">
              <a:solidFill>
                <a:srgbClr val="E1DDD5"/>
              </a:solidFill>
            </a:ln>
          </c:spPr>
        </c:majorGridlines>
        <c:numFmt formatCode="0&quot;bn&quot;" sourceLinked="0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4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 毛利率</c:v>
                </c:pt>
              </c:strCache>
            </c:strRef>
          </c:tx>
          <c:spPr>
            <a:solidFill>
              <a:srgbClr val="9B1723"/>
            </a:solidFill>
            <a:ln w="20320">
              <a:solidFill>
                <a:srgbClr val="9B1723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35.3</c:v>
                </c:pt>
                <c:pt idx="1">
                  <c:v>36.3</c:v>
                </c:pt>
                <c:pt idx="2">
                  <c:v>36.5</c:v>
                </c:pt>
                <c:pt idx="3">
                  <c:v>37.2</c:v>
                </c:pt>
                <c:pt idx="4">
                  <c:v>36.8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 毛利率</c:v>
                </c:pt>
              </c:strCache>
            </c:strRef>
          </c:tx>
          <c:spPr>
            <a:solidFill>
              <a:srgbClr val="84682D"/>
            </a:solidFill>
            <a:ln w="20320">
              <a:solidFill>
                <a:srgbClr val="84682D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69.7</c:v>
                </c:pt>
                <c:pt idx="1">
                  <c:v>71.7</c:v>
                </c:pt>
                <c:pt idx="2">
                  <c:v>70.8</c:v>
                </c:pt>
                <c:pt idx="3">
                  <c:v>73.9</c:v>
                </c:pt>
                <c:pt idx="4">
                  <c:v>75.4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综合毛利率</c:v>
                </c:pt>
              </c:strCache>
            </c:strRef>
          </c:tx>
          <c:spPr>
            <a:solidFill>
              <a:srgbClr val="7E503E"/>
            </a:solidFill>
            <a:ln w="20320">
              <a:solidFill>
                <a:srgbClr val="7E503E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41.8</c:v>
                </c:pt>
                <c:pt idx="1">
                  <c:v>43.3</c:v>
                </c:pt>
                <c:pt idx="2">
                  <c:v>44.1</c:v>
                </c:pt>
                <c:pt idx="3">
                  <c:v>46.2</c:v>
                </c:pt>
                <c:pt idx="4">
                  <c:v>46.9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4445">
              <a:solidFill>
                <a:srgbClr val="E1DDD5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40">
              <a:latin typeface="Times New Roma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FY2025 地区收入</c:v>
                </c:pt>
              </c:strCache>
            </c:strRef>
          </c:tx>
          <c:spPr>
            <a:solidFill>
              <a:srgbClr val="9B1723"/>
            </a:solidFill>
            <a:ln w="20320">
              <a:solidFill>
                <a:srgbClr val="9B1723"/>
              </a:solidFill>
            </a:ln>
          </c:spPr>
          <c:cat>
            <c:strRef>
              <c:f>Sheet1!$A$2:$A$6</c:f>
              <c:strCache>
                <c:ptCount val="5"/>
                <c:pt idx="0">
                  <c:v>Americas</c:v>
                </c:pt>
                <c:pt idx="1">
                  <c:v>Europe</c:v>
                </c:pt>
                <c:pt idx="2">
                  <c:v>Greater China</c:v>
                </c:pt>
                <c:pt idx="3">
                  <c:v>Japan</c:v>
                </c:pt>
                <c:pt idx="4">
                  <c:v>Rest of Asia Pacific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178.353</c:v>
                </c:pt>
                <c:pt idx="1">
                  <c:v>111.032</c:v>
                </c:pt>
                <c:pt idx="2">
                  <c:v>64.377</c:v>
                </c:pt>
                <c:pt idx="3">
                  <c:v>28.703</c:v>
                </c:pt>
                <c:pt idx="4">
                  <c:v>33.696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4445">
              <a:solidFill>
                <a:srgbClr val="E1DDD5"/>
              </a:solidFill>
            </a:ln>
          </c:spPr>
        </c:majorGridlines>
        <c:numFmt formatCode="0&quot;bn&quot;" sourceLinked="0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经营现金流</c:v>
                </c:pt>
              </c:strCache>
            </c:strRef>
          </c:tx>
          <c:spPr>
            <a:solidFill>
              <a:srgbClr val="9B1723"/>
            </a:solidFill>
            <a:ln w="20320">
              <a:solidFill>
                <a:srgbClr val="9B1723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104.038</c:v>
                </c:pt>
                <c:pt idx="1">
                  <c:v>122.151</c:v>
                </c:pt>
                <c:pt idx="2">
                  <c:v>110.543</c:v>
                </c:pt>
                <c:pt idx="3">
                  <c:v>118.254</c:v>
                </c:pt>
                <c:pt idx="4">
                  <c:v>111.482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自由现金流</c:v>
                </c:pt>
              </c:strCache>
            </c:strRef>
          </c:tx>
          <c:spPr>
            <a:solidFill>
              <a:srgbClr val="84682D"/>
            </a:solidFill>
            <a:ln w="20320">
              <a:solidFill>
                <a:srgbClr val="84682D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92.953</c:v>
                </c:pt>
                <c:pt idx="1">
                  <c:v>111.443</c:v>
                </c:pt>
                <c:pt idx="2">
                  <c:v>99.584</c:v>
                </c:pt>
                <c:pt idx="3">
                  <c:v>108.807</c:v>
                </c:pt>
                <c:pt idx="4">
                  <c:v>98.767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回购+分红</c:v>
                </c:pt>
              </c:strCache>
            </c:strRef>
          </c:tx>
          <c:spPr>
            <a:solidFill>
              <a:srgbClr val="7E503E"/>
            </a:solidFill>
            <a:ln w="20320">
              <a:solidFill>
                <a:srgbClr val="7E503E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100.438</c:v>
                </c:pt>
                <c:pt idx="1">
                  <c:v>104.243</c:v>
                </c:pt>
                <c:pt idx="2">
                  <c:v>92.575</c:v>
                </c:pt>
                <c:pt idx="3">
                  <c:v>110.183</c:v>
                </c:pt>
                <c:pt idx="4">
                  <c:v>106.132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4445">
              <a:solidFill>
                <a:srgbClr val="E1DDD5"/>
              </a:solidFill>
            </a:ln>
          </c:spPr>
        </c:majorGridlines>
        <c:numFmt formatCode="0&quot;bn&quot;" sourceLinked="0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4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现金及可出售证券</c:v>
                </c:pt>
              </c:strCache>
            </c:strRef>
          </c:tx>
          <c:spPr>
            <a:solidFill>
              <a:srgbClr val="9B1723"/>
            </a:solidFill>
            <a:ln w="20320">
              <a:solidFill>
                <a:srgbClr val="9B1723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190.516</c:v>
                </c:pt>
                <c:pt idx="1">
                  <c:v>169.109</c:v>
                </c:pt>
                <c:pt idx="2">
                  <c:v>162.099</c:v>
                </c:pt>
                <c:pt idx="3">
                  <c:v>156.65</c:v>
                </c:pt>
                <c:pt idx="4">
                  <c:v>132.42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总债务</c:v>
                </c:pt>
              </c:strCache>
            </c:strRef>
          </c:tx>
          <c:spPr>
            <a:solidFill>
              <a:srgbClr val="84682D"/>
            </a:solidFill>
            <a:ln w="20320">
              <a:solidFill>
                <a:srgbClr val="84682D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124.719</c:v>
                </c:pt>
                <c:pt idx="1">
                  <c:v>120.069</c:v>
                </c:pt>
                <c:pt idx="2">
                  <c:v>111.088</c:v>
                </c:pt>
                <c:pt idx="3">
                  <c:v>106.629</c:v>
                </c:pt>
                <c:pt idx="4">
                  <c:v>98.657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净现金</c:v>
                </c:pt>
              </c:strCache>
            </c:strRef>
          </c:tx>
          <c:spPr>
            <a:solidFill>
              <a:srgbClr val="7E503E"/>
            </a:solidFill>
            <a:ln w="20320">
              <a:solidFill>
                <a:srgbClr val="7E503E"/>
              </a:solidFill>
            </a:ln>
          </c:spP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65.797</c:v>
                </c:pt>
                <c:pt idx="1">
                  <c:v>49.04</c:v>
                </c:pt>
                <c:pt idx="2">
                  <c:v>51.011</c:v>
                </c:pt>
                <c:pt idx="3">
                  <c:v>50.021</c:v>
                </c:pt>
                <c:pt idx="4">
                  <c:v>33.763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4445">
              <a:solidFill>
                <a:srgbClr val="E1DDD5"/>
              </a:solidFill>
            </a:ln>
          </c:spPr>
        </c:majorGridlines>
        <c:numFmt formatCode="0&quot;bn&quot;" sourceLinked="0"/>
        <c:majorTickMark val="out"/>
        <c:minorTickMark val="none"/>
        <c:tickLblPos val="nextTo"/>
        <c:spPr>
          <a:ln w="4445">
            <a:solidFill>
              <a:srgbClr val="E1DDD5"/>
            </a:solidFill>
          </a:ln>
        </c:spPr>
        <c:txPr>
          <a:bodyPr/>
          <a:lstStyle/>
          <a:p>
            <a:pPr>
              <a:defRPr sz="78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4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50292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财报点评 | FY2025 Form 10-K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9601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Apple Inc. FY2025 财报点评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00784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84682D"/>
                </a:solidFill>
                <a:latin typeface="Times New Roman"/>
                <a:ea typeface="宋体"/>
                <a:cs typeface="Times New Roman"/>
              </a:rPr>
              <a:t>稳健恢复延续，服务化与现金流仍是核心护城河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267712"/>
            <a:ext cx="1143000" cy="32004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92224" y="2267712"/>
            <a:ext cx="658368" cy="32004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779776"/>
            <a:ext cx="6446520" cy="1389888"/>
          </a:xfrm>
          <a:prstGeom prst="rect">
            <a:avLst/>
          </a:prstGeom>
          <a:solidFill>
            <a:srgbClr val="F9F1F1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79776"/>
            <a:ext cx="41148" cy="1389888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852928"/>
            <a:ext cx="6190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核心判断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90672"/>
            <a:ext cx="61904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FY2025 收入和净利润同步恢复，Services 高增长与高毛利继续支撑经营韧性；但 iPhone 依赖、Greater China 承压和监管变量仍决定后续增长斜率。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79792" y="932688"/>
          <a:ext cx="40416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88720"/>
                <a:gridCol w="1435608"/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同比/变化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Revenue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416.2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+6.4%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Net income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112.0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+19.5%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Gross margin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46.9%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+0.7pct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FCF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98.8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98.8bn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479792" y="3346704"/>
            <a:ext cx="4041648" cy="1371600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9792" y="3346704"/>
            <a:ext cx="4041648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3511296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材料边界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3849624"/>
            <a:ext cx="3749039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基于 SEC companyfacts 与 Apple FY2021-FY2025 Form 10-K。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不含评级、目标价、实时行情或未披露经营数据。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5074920"/>
            <a:ext cx="10899648" cy="566928"/>
          </a:xfrm>
          <a:prstGeom prst="rect">
            <a:avLst/>
          </a:prstGeom>
          <a:solidFill>
            <a:srgbClr val="F8F5EB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257800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仅供学术交流使用，不代表任何组织机构，机构和个人的观点和立场。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144768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生成日期：2026-05-10 | Fiscal year ended September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FY2025 经营恢复明确，结构改善主要来自服务化和利润率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数据来源：SEC companyfacts、Apple FY2025 Form 10-K；金额单位为十亿美元。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1005840"/>
            <a:ext cx="11320272" cy="713232"/>
          </a:xfrm>
          <a:prstGeom prst="rect">
            <a:avLst/>
          </a:prstGeom>
          <a:solidFill>
            <a:srgbClr val="F9F1F1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1005840"/>
            <a:ext cx="41148" cy="713232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本页结论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1316736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Apple FY2025 的财务主线是收入恢复、利润率上行与现金流保持高位；结构主线是 Services 抬升经营韧性，风险主线是硬件周期和区域竞争仍未消失。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1965960"/>
            <a:ext cx="45720" cy="182880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93852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关键指标快照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2267712"/>
          <a:ext cx="5349240" cy="1508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914400"/>
                <a:gridCol w="960120"/>
                <a:gridCol w="2450592"/>
              </a:tblGrid>
              <a:tr h="3017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同比/变化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阅读含义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收入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416.2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+6.4%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五年新高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净利润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112.0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+19.5%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恢复至千亿美元以上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Services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109.2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+13.5%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高毛利增量来源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Greater China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64.4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-3.8%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区域压力项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99632" y="1965960"/>
            <a:ext cx="45720" cy="182880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93852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三条主线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36208" y="2267712"/>
          <a:ext cx="5285232" cy="1508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"/>
                <a:gridCol w="2139696"/>
                <a:gridCol w="2340864"/>
              </a:tblGrid>
              <a:tr h="3017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主线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结论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后续跟踪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业绩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收入、净利润同步修复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FY2026 硬件周期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结构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Services 占比与毛利率继续上行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监管和云/AI 成本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风险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Greater China 承压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渠道、价格带和竞争格局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资本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现金流支撑回购分红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净现金收敛与投资节奏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66928" y="4160520"/>
            <a:ext cx="10954512" cy="98755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6168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点评口径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6634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本材料只讨论 FY2025 公开财报与历史结构变化，不外推评级、目标价或实时交易建议；所有后续判断均需要结合 Apple 后续定期报告和监管文件更新。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收入创五年新高，净利润恢复至千亿美元以上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数据来源：SEC companyfacts、Apple 10-K；金额单位为十亿美元。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078992"/>
            <a:ext cx="7086600" cy="3547872"/>
          </a:xfrm>
          <a:prstGeom prst="rect">
            <a:avLst/>
          </a:prstGeom>
          <a:solidFill>
            <a:srgbClr val="FFFFFF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170432"/>
            <a:ext cx="5623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图1：收入与净利润五年趋势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17043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单位：十亿美元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481328"/>
          <a:ext cx="6684264" cy="29443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4754880"/>
          <a:ext cx="70866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97864"/>
                <a:gridCol w="1197864"/>
                <a:gridCol w="1197864"/>
                <a:gridCol w="1197864"/>
                <a:gridCol w="1197864"/>
              </a:tblGrid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FY2021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FY2022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FY2023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FY2024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收入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365.8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394.3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383.3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391.0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416.2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净利润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94.7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99.8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97.0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93.7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112.0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经营利润率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29.8%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30.3%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29.8%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31.5%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32.0%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001000" y="1078992"/>
            <a:ext cx="3429000" cy="455371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078992"/>
            <a:ext cx="3429000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24358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FY2025 核心数据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581912"/>
            <a:ext cx="3136392" cy="3895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收入 416.2bn，同比增长 6.4%。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经营利润率 32.0%，较 FY2024 提升 0.5pct。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净利润 112.0bn，同比增长 19.5%。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自由现金流 98.8bn，仍处于全球科技龙头高位。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iPhone 仍是收入中枢，Services 成为最稳定的增量来源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数据来源：Apple FY2025 与 FY2022 Form 10-K，Net sales by category。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078992"/>
            <a:ext cx="7086600" cy="3547872"/>
          </a:xfrm>
          <a:prstGeom prst="rect">
            <a:avLst/>
          </a:prstGeom>
          <a:solidFill>
            <a:srgbClr val="FFFFFF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170432"/>
            <a:ext cx="5623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图2：产品线收入结构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17043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单位：十亿美元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481328"/>
          <a:ext cx="6684264" cy="29443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4754880"/>
          <a:ext cx="70866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737360"/>
                <a:gridCol w="1645920"/>
                <a:gridCol w="1783080"/>
              </a:tblGrid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类别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占比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同比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iPhone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209.6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50.4%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+4.2%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Services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109.2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26.2%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+13.5%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Wearables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35.7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8.6%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-3.6%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001000" y="1078992"/>
            <a:ext cx="3429000" cy="455371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078992"/>
            <a:ext cx="3429000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24358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结构点评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581912"/>
            <a:ext cx="3136392" cy="3895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iPhone FY2025 收入占比 50.4%，仍是收入中枢。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Services FY2025 收入占比 26.2%，同比增长 13.5%。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Wearables/Home/Accessories 连续两年下滑，反映非核心硬件承压。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服务化提升收入可见度，但硬件装机规模仍决定长期服务池上限。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Services 高毛利扩张继续抬升综合毛利率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数据来源：Apple 10-K Gross margin percentage；SEC companyfacts R&amp;D expense。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078992"/>
            <a:ext cx="7086600" cy="3547872"/>
          </a:xfrm>
          <a:prstGeom prst="rect">
            <a:avLst/>
          </a:prstGeom>
          <a:solidFill>
            <a:srgbClr val="FFFFFF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170432"/>
            <a:ext cx="5623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图3：Products、Services 与综合毛利率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17043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单位：%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481328"/>
          <a:ext cx="6684264" cy="29443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4754880"/>
          <a:ext cx="70866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79576"/>
                <a:gridCol w="1179576"/>
                <a:gridCol w="1179576"/>
                <a:gridCol w="1179576"/>
                <a:gridCol w="1179576"/>
              </a:tblGrid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FY2021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FY2022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FY2023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FY2024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综合毛利率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41.8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43.3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44.1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46.2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46.9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Services 毛利率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69.7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71.7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70.8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73.9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75.4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R&amp;D ratio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6.0%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6.7%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7.8%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8.0%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8.3%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001000" y="1078992"/>
            <a:ext cx="3429000" cy="455371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078992"/>
            <a:ext cx="3429000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24358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机制拆解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581912"/>
            <a:ext cx="3136392" cy="3895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Services 毛利率显著高于 Products，收入占比提升会自然推高综合毛利率。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FY2025 综合毛利率 46.9%，较 FY2021 提升 5.1pct。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R&amp;D ratio 从 FY2021 的 6.0% 提升至 FY2025 的 8.3%。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后续利润率风险在于监管分成、云与 AI 成本、汇率和硬件促销压力。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美欧日及亚太恢复支撑增长，大中华区延续承压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数据来源：Apple FY2025 与 FY2022 Form 10-K，Net sales by reportable segment。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078992"/>
            <a:ext cx="6583680" cy="3566160"/>
          </a:xfrm>
          <a:prstGeom prst="rect">
            <a:avLst/>
          </a:prstGeom>
          <a:solidFill>
            <a:srgbClr val="FFFFFF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17043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图4：FY2025 地区收入排序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117043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单位：十亿美元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481328"/>
          <a:ext cx="6181344" cy="29626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543800" y="1078992"/>
          <a:ext cx="3822192" cy="1508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1078992"/>
                <a:gridCol w="1115568"/>
              </a:tblGrid>
              <a:tr h="251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地区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FY2025收入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同比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Americas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178.4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+6.8%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Europe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111.0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+9.6%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Greater China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64.4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-3.8%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Japan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28.7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+14.6%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Rest of Asia Pacific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33.7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+9.9%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543800" y="2907792"/>
            <a:ext cx="3822191" cy="272491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2907792"/>
            <a:ext cx="3822191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3072384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地区观察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3410712"/>
            <a:ext cx="3529584" cy="206654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Americas 与 Europe 仍是收入规模最大的两个地区，FY2025 增速分别为 6.8% 与 9.6%。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Greater China FY2025 同比 -3.8%，连续两年回落，是最需要单独跟踪的区域变量。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Japan 和 Rest of Asia Pacific 恢复较快，但基数和战略含义弱于美欧与大中华区。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自由现金流仍然厚实，资本回报维持高强度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数据来源：SEC companyfacts、Apple 10-K；金额单位为十亿美元。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078992"/>
            <a:ext cx="7086600" cy="3547872"/>
          </a:xfrm>
          <a:prstGeom prst="rect">
            <a:avLst/>
          </a:prstGeom>
          <a:solidFill>
            <a:srgbClr val="FFFFFF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170432"/>
            <a:ext cx="5623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图5：经营现金流、自由现金流与资本回报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17043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单位：十亿美元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481328"/>
          <a:ext cx="6684264" cy="29443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4754880"/>
          <a:ext cx="70866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79576"/>
                <a:gridCol w="1179576"/>
                <a:gridCol w="1179576"/>
                <a:gridCol w="1179576"/>
                <a:gridCol w="1179576"/>
              </a:tblGrid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FY2021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FY2022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FY2023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FY2024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自由现金流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93.0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111.4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99.6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108.8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98.8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资本回报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100.4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104.2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92.6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110.2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106.1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FCF margin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25.4%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28.3%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26.0%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27.8%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23.7%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001000" y="1078992"/>
            <a:ext cx="3429000" cy="455371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078992"/>
            <a:ext cx="3429000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24358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资本配置点评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581912"/>
            <a:ext cx="3136392" cy="3895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FY2025 自由现金流 98.8bn，低于 FY2024 但仍保持强韧。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FY2025 回购与分红合计 106.1bn，连续五年保持高强度。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回购对 EPS 与股东回报有支撑，但也会持续压缩净现金头寸。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AI 投资、供应链资本开支和监管成本上行时，资本回报节奏需要观察。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净现金收敛但仍为正，资产负债表保持弹性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数据来源：SEC companyfacts；总债务=Commercial paper + current long-term debt + non-current long-term debt。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078992"/>
            <a:ext cx="7086600" cy="3547872"/>
          </a:xfrm>
          <a:prstGeom prst="rect">
            <a:avLst/>
          </a:prstGeom>
          <a:solidFill>
            <a:srgbClr val="FFFFFF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170432"/>
            <a:ext cx="5623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图6：现金及可出售证券、总债务与净现金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17043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单位：十亿美元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481328"/>
          <a:ext cx="6684264" cy="29443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4754880"/>
          <a:ext cx="70866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43000"/>
                <a:gridCol w="1143000"/>
                <a:gridCol w="1143000"/>
                <a:gridCol w="1143000"/>
                <a:gridCol w="1143000"/>
              </a:tblGrid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FY2021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FY2022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FY2023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FY2024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现金及可出售证券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190.5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169.1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162.1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156.7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132.4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总债务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124.7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120.1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111.1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106.6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98.7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净现金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65.8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49.0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51.0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50.0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33.8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001000" y="1078992"/>
            <a:ext cx="3429000" cy="455371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078992"/>
            <a:ext cx="3429000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24358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安全边际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581912"/>
            <a:ext cx="3136392" cy="3895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FY2025 现金及可出售证券 132.4bn，总债务 98.7bn。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净现金 33.8bn，较 FY2021 明显收敛但仍为正。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总债务口径包含 commercial paper、current long-term debt 与 non-current long-term debt。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· 现金储备为研发、供应链、回购和潜在监管冲击提供缓冲。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后续跟踪重点落在 AI 终端、服务生态和区域竞争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数据来源：基于 Apple FY2025 10-K 披露风险因素与经营数据的研究框架整理。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1005840"/>
            <a:ext cx="11320272" cy="658368"/>
          </a:xfrm>
          <a:prstGeom prst="rect">
            <a:avLst/>
          </a:prstGeom>
          <a:solidFill>
            <a:srgbClr val="F9F1F1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1005840"/>
            <a:ext cx="41148" cy="658368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研究框架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13167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FY2025 的财务质量已经较强，后续再加速需要产品周期、服务生态变现和区域竞争压力三者共同改善。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2011680"/>
          <a:ext cx="1097279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1"/>
                <a:gridCol w="5669280"/>
                <a:gridCol w="3218688"/>
              </a:tblGrid>
              <a:tr h="6309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观察变量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跟踪指标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财报含义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AI 终端与换机周期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Apple Intelligence 与端侧 AI 体验能否转化为换机需求；iPhone 价格带、渠道库存和新兴市场渗透率。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决定硬件收入弹性与 Products 毛利率。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Services monetization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App Store、iCloud、支付、广告和订阅组合的增长持续性；监管对抽佣和默认入口的影响。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决定 Services 增速、毛利率和综合利润率中枢。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区域与供应链风险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Greater China 竞争格局、需求和渠道变化；印度、东南亚生产与销售端扩张效率。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决定区域收入分化、成本韧性和地缘风险暴露。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资本配置与监管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回购、分红、AI 投资、供应链资本开支和监管成本之间的优先级变化。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决定净现金收敛速度和股东回报持续性。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1792" y="5440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建议把上述变量纳入后续季度跟踪表，而不是只在年报点评中一次性描述。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风险声明：强现金流不消除经营、监管和估值波动风险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数据来源：Apple FY2025 Form 10-K Risk Factors 与本材料整理。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143000"/>
          <a:ext cx="10972799" cy="434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9098280"/>
              </a:tblGrid>
              <a:tr h="620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风险类型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风险说明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产品与创新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iPhone、Mac、iPad、Wearables 等产品周期不及预期；AI 终端体验、生态协同或消费者换机意愿低于预期。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竞争与区域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智能手机、PC、服务生态和本地互联网服务竞争加剧；Greater China 等重点地区需求、渠道与竞争格局变化。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供应链与地缘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关键零部件、制造产能、物流、出口管制、关税和地缘政治事件影响供给、成本或销售。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监管与法律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App Store 抽佣、默认入口、数据隐私、反垄断、税务和内容监管政策变化影响收入与利润率。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财务与市场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汇率、利率、税率、市场流动性和估值波动影响财务表现与市场价格；回购节奏可能受现金与监管约束。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数据与方法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本材料基于公开 10-K 和 SEC XBRL 数据整理，表格抽取、科目映射和期间口径可能存在解释差异。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1792" y="571500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以上风险并非完整清单，读者应结合 Apple 后续定期报告、监管文件及宏观市场环境持续更新判断。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"/>
            <a:ext cx="12191695" cy="12801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65176"/>
            <a:ext cx="10287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免责声明与数据来源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749808"/>
            <a:ext cx="713232" cy="20116"/>
          </a:xfrm>
          <a:prstGeom prst="rect">
            <a:avLst/>
          </a:prstGeom>
          <a:solidFill>
            <a:srgbClr val="9B1723"/>
          </a:solidFill>
          <a:ln>
            <a:solidFill>
              <a:srgbClr val="9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749808"/>
            <a:ext cx="411480" cy="20116"/>
          </a:xfrm>
          <a:prstGeom prst="rect">
            <a:avLst/>
          </a:prstGeom>
          <a:solidFill>
            <a:srgbClr val="B49146"/>
          </a:solidFill>
          <a:ln>
            <a:solidFill>
              <a:srgbClr val="B4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27432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473952"/>
            <a:ext cx="11320272" cy="7315"/>
          </a:xfrm>
          <a:prstGeom prst="rect">
            <a:avLst/>
          </a:prstGeom>
          <a:solidFill>
            <a:srgbClr val="D9D0C2"/>
          </a:solidFill>
          <a:ln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242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数据来源：SEC 官方 API 与 Apple 10-K；本页为合规与来源说明。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4244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仅供学术交流使用，不代表任何组织机构、机构和个人观点和立场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078992"/>
            <a:ext cx="5166360" cy="4370832"/>
          </a:xfrm>
          <a:prstGeom prst="rect">
            <a:avLst/>
          </a:prstGeom>
          <a:solidFill>
            <a:srgbClr val="FEFDFA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078992"/>
            <a:ext cx="5166360" cy="54864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124358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免责声明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1645919"/>
            <a:ext cx="4873752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仅供学术交流使用，不代表任何组织机构，机构和个人的观点和立场。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本材料不构成任何证券、基金、衍生品或其他金融产品的投资建议、评级、招揽、承诺或收益保证。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本材料仅基于公开资料整理，未对 Apple Inc.、其审计师、监管机构或任何第三方进行访谈确认。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读者应独立核验数据来源，并结合自身研究目标、风险承受能力和合规要求使用本材料。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44768" y="1078992"/>
          <a:ext cx="516636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"/>
                <a:gridCol w="1078992"/>
                <a:gridCol w="3300984"/>
              </a:tblGrid>
              <a:tr h="2712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报告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Filed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Accession</a:t>
                      </a:r>
                    </a:p>
                  </a:txBody>
                  <a:tcPr marL="54864" marR="54864" marT="13716" marB="13716" anchor="ctr">
                    <a:solidFill>
                      <a:srgbClr val="6F121C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FY2025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2025-10-31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0000320193-25-000079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FY2024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2024-11-01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0000320193-24-000123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FY2023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2023-11-03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0000320193-23-000106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FY2022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2022-10-28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0000320193-22-000108</a:t>
                      </a:r>
                    </a:p>
                  </a:txBody>
                  <a:tcPr marL="54864" marR="54864" marT="10972" marB="10972" anchor="ctr">
                    <a:solidFill>
                      <a:srgbClr val="FCF9F4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FY2021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2021-10-29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31F2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0000320193-21-000105</a:t>
                      </a:r>
                    </a:p>
                  </a:txBody>
                  <a:tcPr marL="54864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63056" y="3026663"/>
            <a:ext cx="45720" cy="182880"/>
          </a:xfrm>
          <a:prstGeom prst="rect">
            <a:avLst/>
          </a:prstGeom>
          <a:solidFill>
            <a:srgbClr val="6F121C"/>
          </a:solidFill>
          <a:ln>
            <a:solidFill>
              <a:srgbClr val="6F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999232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121C"/>
                </a:solidFill>
                <a:latin typeface="Times New Roman"/>
                <a:ea typeface="宋体"/>
                <a:cs typeface="Times New Roman"/>
              </a:rPr>
              <a:t>主要数据来源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3346704"/>
            <a:ext cx="50749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31F20"/>
                </a:solidFill>
                <a:latin typeface="Times New Roman"/>
                <a:ea typeface="宋体"/>
                <a:cs typeface="Times New Roman"/>
              </a:rPr>
              <a:t>主要数据来源：SEC submissions API、SEC companyfacts API、Apple Inc. FY2021-FY2025 Form 10-K。完整链接与本地文件路径见 data/processed/sources.md 与 apple_10k_sources.csv。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4645152"/>
            <a:ext cx="5166360" cy="786384"/>
          </a:xfrm>
          <a:prstGeom prst="rect">
            <a:avLst/>
          </a:prstGeom>
          <a:solidFill>
            <a:srgbClr val="F8F5EB"/>
          </a:solidFill>
          <a:ln w="6985">
            <a:solidFill>
              <a:srgbClr val="DA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864608"/>
            <a:ext cx="4828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06C65"/>
                </a:solidFill>
                <a:latin typeface="Times New Roman"/>
                <a:ea typeface="宋体"/>
                <a:cs typeface="Times New Roman"/>
              </a:rPr>
              <a:t>金额单位默认使用美元；图表通常换算为十亿美元，表格来源以原始披露口径为准。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ns1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11</Slides>
  <Notes>0</Notes>
  <HiddenSlides>0</HiddenSlides>
  <MMClips>0</MMClips>
  <ScaleCrop>false</ScaleCrop>
  <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HeadingPairs>
  <TitlesOfParts>
    <ns1:vector size="1" baseType="lpstr">
      <ns1:lpstr>Office Theme</ns1:lpstr>
    </ns1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