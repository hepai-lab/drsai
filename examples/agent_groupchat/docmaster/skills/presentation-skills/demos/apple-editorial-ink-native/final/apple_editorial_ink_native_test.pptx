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6035040" cy="5669280"/>
          </a:xfrm>
          <a:prstGeom prst="ellipse">
            <a:avLst/>
          </a:prstGeom>
          <a:noFill/>
          <a:ln w="12700">
            <a:solidFill>
              <a:srgbClr val="3D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949440" y="-1280160"/>
            <a:ext cx="6492240" cy="5852160"/>
          </a:xfrm>
          <a:prstGeom prst="ellipse">
            <a:avLst/>
          </a:prstGeom>
          <a:noFill/>
          <a:ln w="10160">
            <a:solidFill>
              <a:srgbClr val="3D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23360" y="3017520"/>
            <a:ext cx="8046720" cy="5303520"/>
          </a:xfrm>
          <a:prstGeom prst="ellipse">
            <a:avLst/>
          </a:prstGeom>
          <a:noFill/>
          <a:ln w="8890">
            <a:solidFill>
              <a:srgbClr val="3D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114800"/>
            <a:ext cx="4937760" cy="3474720"/>
          </a:xfrm>
          <a:prstGeom prst="ellipse">
            <a:avLst/>
          </a:prstGeom>
          <a:noFill/>
          <a:ln w="6985">
            <a:solidFill>
              <a:srgbClr val="3D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18120" y="320040"/>
            <a:ext cx="2926080" cy="2377440"/>
          </a:xfrm>
          <a:prstGeom prst="ellipse">
            <a:avLst/>
          </a:prstGeom>
          <a:noFill/>
          <a:ln w="6985">
            <a:solidFill>
              <a:srgbClr val="6C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82712" y="418795"/>
            <a:ext cx="2926080" cy="2377440"/>
          </a:xfrm>
          <a:prstGeom prst="ellipse">
            <a:avLst/>
          </a:prstGeom>
          <a:noFill/>
          <a:ln w="6985">
            <a:solidFill>
              <a:srgbClr val="6C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65592" y="528523"/>
            <a:ext cx="2926080" cy="2377440"/>
          </a:xfrm>
          <a:prstGeom prst="ellipse">
            <a:avLst/>
          </a:prstGeom>
          <a:noFill/>
          <a:ln w="6985">
            <a:solidFill>
              <a:srgbClr val="6C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38360" y="1005840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94976" y="1005840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51592" y="1005840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808208" y="1005840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76104" y="1124712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32720" y="1124712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89336" y="1124712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57232" y="1243584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13848" y="1243584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70464" y="1243584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738360" y="1362456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94976" y="1362456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451592" y="1362456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808208" y="1362456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76104" y="1481328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32720" y="1481328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89336" y="1481328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57232" y="1600200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13848" y="1600200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570464" y="1600200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38360" y="1719072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094976" y="1719072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451592" y="1719072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808208" y="1719072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76104" y="1837944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332720" y="1837944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689336" y="1837944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57232" y="1956816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13848" y="1956816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570464" y="1956816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38360" y="2075688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94976" y="2075688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451592" y="2075688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808208" y="2075688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76104" y="2194560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332720" y="2194560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89336" y="2194560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857232" y="2313432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213848" y="2313432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570464" y="2313432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738360" y="2432304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094976" y="2432304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451592" y="2432304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808208" y="2432304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976104" y="2551176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332720" y="2551176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689336" y="2551176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857232" y="2670048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213848" y="2670048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570464" y="2670048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738360" y="2788920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094976" y="2788920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451592" y="2788920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808208" y="2788920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976104" y="2907792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332720" y="2907792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689336" y="2907792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857232" y="3026664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213848" y="3026664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570464" y="3026664"/>
            <a:ext cx="13716" cy="13716"/>
          </a:xfrm>
          <a:prstGeom prst="rect">
            <a:avLst/>
          </a:prstGeom>
          <a:solidFill>
            <a:srgbClr val="4B5A71"/>
          </a:solidFill>
          <a:ln>
            <a:solidFill>
              <a:srgbClr val="4B5A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12064" y="2926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894A2"/>
                </a:solidFill>
                <a:latin typeface="Menlo"/>
                <a:ea typeface="Menlo"/>
                <a:cs typeface="Menlo"/>
              </a:rPr>
              <a:t>AAPL / SEC 10-K / FY2021-FY2025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32520" y="29260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894A2"/>
                </a:solidFill>
                <a:latin typeface="Menlo"/>
                <a:ea typeface="Menlo"/>
                <a:cs typeface="Menlo"/>
              </a:rPr>
              <a:t>EDITORIAL INK · NATIVE PPTX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512064" y="6364224"/>
            <a:ext cx="11173968" cy="0"/>
          </a:xfrm>
          <a:prstGeom prst="line">
            <a:avLst/>
          </a:prstGeom>
          <a:ln w="4445">
            <a:solidFill>
              <a:srgbClr val="8894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12064" y="6455664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8894A2"/>
                </a:solidFill>
                <a:latin typeface="Helvetica Neue"/>
                <a:ea typeface="Helvetica Neue"/>
                <a:cs typeface="Helvetica Neue"/>
              </a:rPr>
              <a:t>数据来源：SEC companyfacts、Apple FY2021-FY2025 10-K；金额单位除特别说明外为十亿美元。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21040" y="6455664"/>
            <a:ext cx="3364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8894A2"/>
                </a:solidFill>
                <a:latin typeface="Helvetica Neue"/>
                <a:ea typeface="Helvetica Neue"/>
                <a:cs typeface="Helvetica Neue"/>
              </a:rPr>
              <a:t>仅供学术交流与 skill 测试使用，不构成投资建议。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55279" y="685800"/>
            <a:ext cx="38404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0" b="1" i="0">
                <a:solidFill>
                  <a:srgbClr val="263853"/>
                </a:solidFill>
                <a:latin typeface="Times New Roman"/>
                <a:ea typeface="Songti SC"/>
                <a:cs typeface="Times New Roman"/>
              </a:rPr>
              <a:t>25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1060704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0A9B5"/>
                </a:solidFill>
                <a:latin typeface="Menlo"/>
                <a:ea typeface="Menlo"/>
                <a:cs typeface="Menlo"/>
              </a:rPr>
              <a:t>APPLE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93776" y="1517904"/>
            <a:ext cx="539496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1F3F5"/>
                </a:solidFill>
                <a:latin typeface="Times New Roman"/>
                <a:ea typeface="Songti SC"/>
                <a:cs typeface="Times New Roman"/>
              </a:rPr>
              <a:t>历年财报
解读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7784" y="312724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BC844F"/>
                </a:solidFill>
                <a:latin typeface="Times New Roman"/>
                <a:ea typeface="Songti SC"/>
                <a:cs typeface="Times New Roman"/>
              </a:rPr>
              <a:t>2021–2025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85216" y="3822191"/>
            <a:ext cx="5349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B0B8C1"/>
                </a:solidFill>
                <a:latin typeface="Helvetica Neue"/>
                <a:ea typeface="Helvetica Neue"/>
                <a:cs typeface="Helvetica Neue"/>
              </a:rPr>
              <a:t>把 guizang HTML 的电子杂志风迁移为原生 PowerPoint 对象：大标题、细线、ghost number、数据大字报与可验证财务链路。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29400" y="2779776"/>
            <a:ext cx="1600200" cy="1078992"/>
          </a:xfrm>
          <a:prstGeom prst="rect">
            <a:avLst/>
          </a:prstGeom>
          <a:solidFill>
            <a:srgbClr val="1C304C"/>
          </a:solidFill>
          <a:ln w="7620">
            <a:solidFill>
              <a:srgbClr val="3D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29400" y="2779776"/>
            <a:ext cx="41148" cy="1078992"/>
          </a:xfrm>
          <a:prstGeom prst="rect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766560" y="2889504"/>
            <a:ext cx="13807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REVENUE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57416" y="3099816"/>
            <a:ext cx="1362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F1F3F5"/>
                </a:solidFill>
                <a:latin typeface="Times New Roman"/>
                <a:ea typeface="Songti SC"/>
                <a:cs typeface="Times New Roman"/>
              </a:rPr>
              <a:t>416.2B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66560" y="3511296"/>
            <a:ext cx="1380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994A2"/>
                </a:solidFill>
                <a:latin typeface="Helvetica Neue"/>
                <a:ea typeface="Helvetica Neue"/>
                <a:cs typeface="Helvetica Neue"/>
              </a:rPr>
              <a:t>FY2025 net sales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449056" y="2779776"/>
            <a:ext cx="1600200" cy="1078992"/>
          </a:xfrm>
          <a:prstGeom prst="rect">
            <a:avLst/>
          </a:prstGeom>
          <a:solidFill>
            <a:srgbClr val="1C304C"/>
          </a:solidFill>
          <a:ln w="7620">
            <a:solidFill>
              <a:srgbClr val="3D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449056" y="2779776"/>
            <a:ext cx="41148" cy="1078992"/>
          </a:xfrm>
          <a:prstGeom prst="rect">
            <a:avLst/>
          </a:prstGeom>
          <a:solidFill>
            <a:srgbClr val="699287"/>
          </a:solidFill>
          <a:ln>
            <a:solidFill>
              <a:srgbClr val="699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586216" y="2889504"/>
            <a:ext cx="13807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NET INCOME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77072" y="3099816"/>
            <a:ext cx="13624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F1F3F5"/>
                </a:solidFill>
                <a:latin typeface="Times New Roman"/>
                <a:ea typeface="Songti SC"/>
                <a:cs typeface="Times New Roman"/>
              </a:rPr>
              <a:t>112.0B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86216" y="3511296"/>
            <a:ext cx="1380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994A2"/>
                </a:solidFill>
                <a:latin typeface="Helvetica Neue"/>
                <a:ea typeface="Helvetica Neue"/>
                <a:cs typeface="Helvetica Neue"/>
              </a:rPr>
              <a:t>profit recovery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268712" y="2779776"/>
            <a:ext cx="1417320" cy="1078992"/>
          </a:xfrm>
          <a:prstGeom prst="rect">
            <a:avLst/>
          </a:prstGeom>
          <a:solidFill>
            <a:srgbClr val="1C304C"/>
          </a:solidFill>
          <a:ln w="7620">
            <a:solidFill>
              <a:srgbClr val="3D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268712" y="2779776"/>
            <a:ext cx="41148" cy="1078992"/>
          </a:xfrm>
          <a:prstGeom prst="rect">
            <a:avLst/>
          </a:prstGeom>
          <a:solidFill>
            <a:srgbClr val="AE2F44"/>
          </a:solidFill>
          <a:ln>
            <a:solidFill>
              <a:srgbClr val="AE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405872" y="2889504"/>
            <a:ext cx="11978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GM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396728" y="3099816"/>
            <a:ext cx="117957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F1F3F5"/>
                </a:solidFill>
                <a:latin typeface="Times New Roman"/>
                <a:ea typeface="Songti SC"/>
                <a:cs typeface="Times New Roman"/>
              </a:rPr>
              <a:t>46.9%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05872" y="3511296"/>
            <a:ext cx="119786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994A2"/>
                </a:solidFill>
                <a:latin typeface="Helvetica Neue"/>
                <a:ea typeface="Helvetica Neue"/>
                <a:cs typeface="Helvetica Neue"/>
              </a:rPr>
              <a:t>gross margin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6656832" y="4617720"/>
            <a:ext cx="4892040" cy="0"/>
          </a:xfrm>
          <a:prstGeom prst="line">
            <a:avLst/>
          </a:prstGeom>
          <a:ln w="6985">
            <a:solidFill>
              <a:srgbClr val="99A2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6640372" y="4601260"/>
            <a:ext cx="32918" cy="32918"/>
          </a:xfrm>
          <a:prstGeom prst="rect">
            <a:avLst/>
          </a:prstGeom>
          <a:solidFill>
            <a:srgbClr val="99A2AF"/>
          </a:solidFill>
          <a:ln>
            <a:solidFill>
              <a:srgbClr val="99A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55664" y="4672583"/>
            <a:ext cx="4023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99A2AF"/>
                </a:solidFill>
                <a:latin typeface="Menlo"/>
                <a:ea typeface="Menlo"/>
                <a:cs typeface="Menlo"/>
              </a:rPr>
              <a:t>2021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863382" y="4601260"/>
            <a:ext cx="32918" cy="32918"/>
          </a:xfrm>
          <a:prstGeom prst="rect">
            <a:avLst/>
          </a:prstGeom>
          <a:solidFill>
            <a:srgbClr val="99A2AF"/>
          </a:solidFill>
          <a:ln>
            <a:solidFill>
              <a:srgbClr val="99A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678673" y="4672583"/>
            <a:ext cx="4023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99A2AF"/>
                </a:solidFill>
                <a:latin typeface="Menlo"/>
                <a:ea typeface="Menlo"/>
                <a:cs typeface="Menlo"/>
              </a:rPr>
              <a:t>2022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086392" y="4601260"/>
            <a:ext cx="32918" cy="32918"/>
          </a:xfrm>
          <a:prstGeom prst="rect">
            <a:avLst/>
          </a:prstGeom>
          <a:solidFill>
            <a:srgbClr val="99A2AF"/>
          </a:solidFill>
          <a:ln>
            <a:solidFill>
              <a:srgbClr val="99A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01684" y="4672583"/>
            <a:ext cx="4023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99A2AF"/>
                </a:solidFill>
                <a:latin typeface="Menlo"/>
                <a:ea typeface="Menlo"/>
                <a:cs typeface="Menlo"/>
              </a:rPr>
              <a:t>2023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309402" y="4601260"/>
            <a:ext cx="32918" cy="32918"/>
          </a:xfrm>
          <a:prstGeom prst="rect">
            <a:avLst/>
          </a:prstGeom>
          <a:solidFill>
            <a:srgbClr val="99A2AF"/>
          </a:solidFill>
          <a:ln>
            <a:solidFill>
              <a:srgbClr val="99A2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124694" y="4672583"/>
            <a:ext cx="4023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99A2AF"/>
                </a:solidFill>
                <a:latin typeface="Menlo"/>
                <a:ea typeface="Menlo"/>
                <a:cs typeface="Menlo"/>
              </a:rPr>
              <a:t>2024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1532412" y="4601260"/>
            <a:ext cx="32918" cy="32918"/>
          </a:xfrm>
          <a:prstGeom prst="rect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1347703" y="4672583"/>
            <a:ext cx="4023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99A2AF"/>
                </a:solidFill>
                <a:latin typeface="Menlo"/>
                <a:ea typeface="Menlo"/>
                <a:cs typeface="Menlo"/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6035040" cy="5669280"/>
          </a:xfrm>
          <a:prstGeom prst="ellipse">
            <a:avLst/>
          </a:prstGeom>
          <a:noFill/>
          <a:ln w="12700">
            <a:solidFill>
              <a:srgbClr val="D3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949440" y="-1280160"/>
            <a:ext cx="6492240" cy="5852160"/>
          </a:xfrm>
          <a:prstGeom prst="ellipse">
            <a:avLst/>
          </a:prstGeom>
          <a:noFill/>
          <a:ln w="10160">
            <a:solidFill>
              <a:srgbClr val="D3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23360" y="3017520"/>
            <a:ext cx="8046720" cy="5303520"/>
          </a:xfrm>
          <a:prstGeom prst="ellipse">
            <a:avLst/>
          </a:prstGeom>
          <a:noFill/>
          <a:ln w="8890">
            <a:solidFill>
              <a:srgbClr val="D3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114800"/>
            <a:ext cx="4937760" cy="3474720"/>
          </a:xfrm>
          <a:prstGeom prst="ellipse">
            <a:avLst/>
          </a:prstGeom>
          <a:noFill/>
          <a:ln w="6985">
            <a:solidFill>
              <a:srgbClr val="D3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18120" y="320040"/>
            <a:ext cx="2926080" cy="2377440"/>
          </a:xfrm>
          <a:prstGeom prst="ellipse">
            <a:avLst/>
          </a:prstGeom>
          <a:noFill/>
          <a:ln w="6985">
            <a:solidFill>
              <a:srgbClr val="DBC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82712" y="418795"/>
            <a:ext cx="2926080" cy="2377440"/>
          </a:xfrm>
          <a:prstGeom prst="ellipse">
            <a:avLst/>
          </a:prstGeom>
          <a:noFill/>
          <a:ln w="6985">
            <a:solidFill>
              <a:srgbClr val="DBC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65592" y="528523"/>
            <a:ext cx="2926080" cy="2377440"/>
          </a:xfrm>
          <a:prstGeom prst="ellipse">
            <a:avLst/>
          </a:prstGeom>
          <a:noFill/>
          <a:ln w="6985">
            <a:solidFill>
              <a:srgbClr val="DBC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926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D8A9C"/>
                </a:solidFill>
                <a:latin typeface="Menlo"/>
                <a:ea typeface="Menlo"/>
                <a:cs typeface="Menlo"/>
              </a:rPr>
              <a:t>EXECUTIVE MEMO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9260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D8A9C"/>
                </a:solidFill>
                <a:latin typeface="Menlo"/>
                <a:ea typeface="Menlo"/>
                <a:cs typeface="Menlo"/>
              </a:rPr>
              <a:t>VOL. TEST · 02 / 10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2064" y="6364224"/>
            <a:ext cx="11173968" cy="0"/>
          </a:xfrm>
          <a:prstGeom prst="line">
            <a:avLst/>
          </a:prstGeom>
          <a:ln w="4445">
            <a:solidFill>
              <a:srgbClr val="7D8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2064" y="6455664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7D8A9C"/>
                </a:solidFill>
                <a:latin typeface="Helvetica Neue"/>
                <a:ea typeface="Helvetica Neue"/>
                <a:cs typeface="Helvetica Neue"/>
              </a:rPr>
              <a:t>数据来源：SEC companyfacts、Apple FY2021-FY2025 10-K；金额单位除特别说明外为十亿美元。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6455664"/>
            <a:ext cx="3364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7D8A9C"/>
                </a:solidFill>
                <a:latin typeface="Helvetica Neue"/>
                <a:ea typeface="Helvetica Neue"/>
                <a:cs typeface="Helvetica Neue"/>
              </a:rPr>
              <a:t>仅供学术交流与 skill 测试使用，不构成投资建议。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713232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27083"/>
                </a:solidFill>
                <a:latin typeface="Menlo"/>
                <a:ea typeface="Menlo"/>
                <a:cs typeface="Menlo"/>
              </a:rPr>
              <a:t>EXECUTIVE MEMO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932688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FY2025 的恢复不是单点反弹，而是利润率、服务化与现金流共同支撑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664208"/>
            <a:ext cx="8869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7083"/>
                </a:solidFill>
                <a:latin typeface="Helvetica Neue"/>
                <a:ea typeface="Helvetica Neue"/>
                <a:cs typeface="Helvetica Neue"/>
              </a:rPr>
              <a:t>先看结论，再拆证据。页面风格保留杂志式留白与等宽元数据，数据全部来自处理后 CSV。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786384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27083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084831"/>
            <a:ext cx="47548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50" b="0" i="1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The machine lights up again.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706624"/>
            <a:ext cx="4800600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93E5B"/>
                </a:solidFill>
                <a:latin typeface="Helvetica Neue"/>
                <a:ea typeface="Helvetica Neue"/>
                <a:cs typeface="Helvetica Neue"/>
              </a:rPr>
              <a:t>FY2025 不是单一产品驱动的孤立恢复，而是收入、净利润、综合毛利率同时上修。</a:t>
            </a:r>
          </a:p>
          <a:p>
            <a:pPr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93E5B"/>
                </a:solidFill>
                <a:latin typeface="Helvetica Neue"/>
                <a:ea typeface="Helvetica Neue"/>
                <a:cs typeface="Helvetica Neue"/>
              </a:rPr>
              <a:t>Services 增长继续改善收入质量，现金流与资本回报仍然构成财务底座。</a:t>
            </a:r>
          </a:p>
          <a:p>
            <a:pPr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93E5B"/>
                </a:solidFill>
                <a:latin typeface="Helvetica Neue"/>
                <a:ea typeface="Helvetica Neue"/>
                <a:cs typeface="Helvetica Neue"/>
              </a:rPr>
              <a:t>风险侧没有消失，Greater China、AI 终端节奏、监管和硬件换机周期仍是后续跟踪重点。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4425696"/>
            <a:ext cx="32004" cy="786384"/>
          </a:xfrm>
          <a:prstGeom prst="rect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443983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测试判断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782312"/>
            <a:ext cx="4754880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27083"/>
                </a:solidFill>
                <a:latin typeface="Helvetica Neue"/>
                <a:ea typeface="Helvetica Neue"/>
                <a:cs typeface="Helvetica Neue"/>
              </a:rPr>
              <a:t>本页故意使用强叙事型 title 与少量正文，验证 native PPTX 能否承载 guizang 的演讲型 magazine rhythm。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9088" y="2103120"/>
            <a:ext cx="2157984" cy="1042415"/>
          </a:xfrm>
          <a:prstGeom prst="rect">
            <a:avLst/>
          </a:prstGeom>
          <a:solidFill>
            <a:srgbClr val="F3F4F6"/>
          </a:solidFill>
          <a:ln w="7620"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19088" y="2103120"/>
            <a:ext cx="41148" cy="1042415"/>
          </a:xfrm>
          <a:prstGeom prst="rect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2212848"/>
            <a:ext cx="19385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收入回到新高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3" y="2423160"/>
            <a:ext cx="19202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416.2B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2834639"/>
            <a:ext cx="1938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26F82"/>
                </a:solidFill>
                <a:latin typeface="Helvetica Neue"/>
                <a:ea typeface="Helvetica Neue"/>
                <a:cs typeface="Helvetica Neue"/>
              </a:rPr>
              <a:t>同比 +6.4%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33104" y="2103120"/>
            <a:ext cx="2157984" cy="1042415"/>
          </a:xfrm>
          <a:prstGeom prst="rect">
            <a:avLst/>
          </a:prstGeom>
          <a:solidFill>
            <a:srgbClr val="F3F4F6"/>
          </a:solidFill>
          <a:ln w="7620"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33104" y="2103120"/>
            <a:ext cx="41148" cy="1042415"/>
          </a:xfrm>
          <a:prstGeom prst="rect">
            <a:avLst/>
          </a:prstGeom>
          <a:solidFill>
            <a:srgbClr val="699287"/>
          </a:solidFill>
          <a:ln>
            <a:solidFill>
              <a:srgbClr val="699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70264" y="2212848"/>
            <a:ext cx="19385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净利润恢复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2423160"/>
            <a:ext cx="19202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112.0B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0264" y="2834639"/>
            <a:ext cx="1938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26F82"/>
                </a:solidFill>
                <a:latin typeface="Helvetica Neue"/>
                <a:ea typeface="Helvetica Neue"/>
                <a:cs typeface="Helvetica Neue"/>
              </a:rPr>
              <a:t>同比 +19.5%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19088" y="3401568"/>
            <a:ext cx="2157984" cy="1042415"/>
          </a:xfrm>
          <a:prstGeom prst="rect">
            <a:avLst/>
          </a:prstGeom>
          <a:solidFill>
            <a:srgbClr val="F3F4F6"/>
          </a:solidFill>
          <a:ln w="7620"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19088" y="3401568"/>
            <a:ext cx="41148" cy="1042415"/>
          </a:xfrm>
          <a:prstGeom prst="rect">
            <a:avLst/>
          </a:prstGeom>
          <a:solidFill>
            <a:srgbClr val="0A1F3D"/>
          </a:solidFill>
          <a:ln>
            <a:solidFill>
              <a:srgbClr val="0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56248" y="3511296"/>
            <a:ext cx="19385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毛利率上行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3" y="3721607"/>
            <a:ext cx="19202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46.9%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6248" y="4133087"/>
            <a:ext cx="1938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26F82"/>
                </a:solidFill>
                <a:latin typeface="Helvetica Neue"/>
                <a:ea typeface="Helvetica Neue"/>
                <a:cs typeface="Helvetica Neue"/>
              </a:rPr>
              <a:t>五年高点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33104" y="3401568"/>
            <a:ext cx="2157984" cy="1042415"/>
          </a:xfrm>
          <a:prstGeom prst="rect">
            <a:avLst/>
          </a:prstGeom>
          <a:solidFill>
            <a:srgbClr val="F3F4F6"/>
          </a:solidFill>
          <a:ln w="7620"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33104" y="3401568"/>
            <a:ext cx="41148" cy="1042415"/>
          </a:xfrm>
          <a:prstGeom prst="rect">
            <a:avLst/>
          </a:prstGeom>
          <a:solidFill>
            <a:srgbClr val="AE2F44"/>
          </a:solidFill>
          <a:ln>
            <a:solidFill>
              <a:srgbClr val="AE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70264" y="3511296"/>
            <a:ext cx="19385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大中华区承压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3721607"/>
            <a:ext cx="19202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64.4B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0264" y="4133087"/>
            <a:ext cx="19385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26F82"/>
                </a:solidFill>
                <a:latin typeface="Helvetica Neue"/>
                <a:ea typeface="Helvetica Neue"/>
                <a:cs typeface="Helvetica Neue"/>
              </a:rPr>
              <a:t>同比 -3.8%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46520" y="5193792"/>
            <a:ext cx="4892039" cy="0"/>
          </a:xfrm>
          <a:prstGeom prst="line">
            <a:avLst/>
          </a:prstGeom>
          <a:ln w="6985">
            <a:solidFill>
              <a:srgbClr val="7583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6430060" y="5177332"/>
            <a:ext cx="32918" cy="32918"/>
          </a:xfrm>
          <a:prstGeom prst="rect">
            <a:avLst/>
          </a:prstGeom>
          <a:solidFill>
            <a:srgbClr val="758396"/>
          </a:solidFill>
          <a:ln>
            <a:solidFill>
              <a:srgbClr val="758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45352" y="5248655"/>
            <a:ext cx="4023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758396"/>
                </a:solidFill>
                <a:latin typeface="Menlo"/>
                <a:ea typeface="Menlo"/>
                <a:cs typeface="Menlo"/>
              </a:rPr>
              <a:t>2021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53070" y="5177332"/>
            <a:ext cx="32918" cy="32918"/>
          </a:xfrm>
          <a:prstGeom prst="rect">
            <a:avLst/>
          </a:prstGeom>
          <a:solidFill>
            <a:srgbClr val="758396"/>
          </a:solidFill>
          <a:ln>
            <a:solidFill>
              <a:srgbClr val="758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68361" y="5248655"/>
            <a:ext cx="4023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758396"/>
                </a:solidFill>
                <a:latin typeface="Menlo"/>
                <a:ea typeface="Menlo"/>
                <a:cs typeface="Menlo"/>
              </a:rPr>
              <a:t>2022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76080" y="5177332"/>
            <a:ext cx="32918" cy="32918"/>
          </a:xfrm>
          <a:prstGeom prst="rect">
            <a:avLst/>
          </a:prstGeom>
          <a:solidFill>
            <a:srgbClr val="758396"/>
          </a:solidFill>
          <a:ln>
            <a:solidFill>
              <a:srgbClr val="758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91372" y="5248655"/>
            <a:ext cx="4023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758396"/>
                </a:solidFill>
                <a:latin typeface="Menlo"/>
                <a:ea typeface="Menlo"/>
                <a:cs typeface="Menlo"/>
              </a:rPr>
              <a:t>2023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099090" y="5177332"/>
            <a:ext cx="32918" cy="32918"/>
          </a:xfrm>
          <a:prstGeom prst="rect">
            <a:avLst/>
          </a:prstGeom>
          <a:solidFill>
            <a:srgbClr val="758396"/>
          </a:solidFill>
          <a:ln>
            <a:solidFill>
              <a:srgbClr val="758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14382" y="5248655"/>
            <a:ext cx="4023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758396"/>
                </a:solidFill>
                <a:latin typeface="Menlo"/>
                <a:ea typeface="Menlo"/>
                <a:cs typeface="Menlo"/>
              </a:rPr>
              <a:t>2024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322100" y="5177332"/>
            <a:ext cx="32918" cy="32918"/>
          </a:xfrm>
          <a:prstGeom prst="rect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137391" y="5248655"/>
            <a:ext cx="4023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758396"/>
                </a:solidFill>
                <a:latin typeface="Menlo"/>
                <a:ea typeface="Menlo"/>
                <a:cs typeface="Menlo"/>
              </a:rPr>
              <a:t>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663440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1832" y="4663440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43584" y="4663440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45336" y="4663440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47088" y="4663440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48839" y="4663440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50591" y="4663440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52344" y="4663440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54096" y="4663440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7" y="4764024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764024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44752" y="4764024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46504" y="4764024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48256" y="4764024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50008" y="4764024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51760" y="4764024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3511" y="4764024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" y="4864607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2415" y="4864607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4168" y="4864607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45920" y="4864607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47672" y="4864607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49424" y="4864607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51176" y="4864607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52928" y="4864607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54680" y="4864607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96519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1832" y="496519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43584" y="496519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45336" y="496519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847088" y="496519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48839" y="496519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50591" y="496519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52344" y="496519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54096" y="496519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1247" y="5065776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3000" y="5065776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444752" y="5065776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746504" y="5065776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048256" y="5065776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50008" y="5065776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651760" y="5065776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953511" y="5065776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40664" y="5166359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42415" y="5166359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344168" y="5166359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645920" y="5166359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947672" y="5166359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249424" y="5166359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551176" y="5166359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852928" y="5166359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154680" y="5166359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0080" y="5266944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41832" y="5266944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243584" y="5266944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545336" y="5266944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847088" y="5266944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148839" y="5266944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450591" y="5266944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752344" y="5266944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054096" y="5266944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2064" y="2926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D8A9C"/>
                </a:solidFill>
                <a:latin typeface="Menlo"/>
                <a:ea typeface="Menlo"/>
                <a:cs typeface="Menlo"/>
              </a:rPr>
              <a:t>RESULT / TOP LINE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32520" y="29260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D8A9C"/>
                </a:solidFill>
                <a:latin typeface="Menlo"/>
                <a:ea typeface="Menlo"/>
                <a:cs typeface="Menlo"/>
              </a:rPr>
              <a:t>VOL. TEST · 03 / 10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12064" y="6364224"/>
            <a:ext cx="11173968" cy="0"/>
          </a:xfrm>
          <a:prstGeom prst="line">
            <a:avLst/>
          </a:prstGeom>
          <a:ln w="4445">
            <a:solidFill>
              <a:srgbClr val="7D8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12064" y="6455664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7D8A9C"/>
                </a:solidFill>
                <a:latin typeface="Helvetica Neue"/>
                <a:ea typeface="Helvetica Neue"/>
                <a:cs typeface="Helvetica Neue"/>
              </a:rPr>
              <a:t>数据来源：SEC companyfacts、Apple FY2021-FY2025 10-K；金额单位除特别说明外为十亿美元。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1040" y="6455664"/>
            <a:ext cx="3364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7D8A9C"/>
                </a:solidFill>
                <a:latin typeface="Helvetica Neue"/>
                <a:ea typeface="Helvetica Neue"/>
                <a:cs typeface="Helvetica Neue"/>
              </a:rPr>
              <a:t>仅供学术交流与 skill 测试使用，不构成投资建议。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713232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27083"/>
                </a:solidFill>
                <a:latin typeface="Menlo"/>
                <a:ea typeface="Menlo"/>
                <a:cs typeface="Menlo"/>
              </a:rPr>
              <a:t>RESULT / TOP LINE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2064" y="932688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收入创五年新高，净利润恢复到 1120 亿美元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1664208"/>
            <a:ext cx="8869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7083"/>
                </a:solidFill>
                <a:latin typeface="Helvetica Neue"/>
                <a:ea typeface="Helvetica Neue"/>
                <a:cs typeface="Helvetica Neue"/>
              </a:rPr>
              <a:t>FY2025 收入同比增长 6.4%，净利润同比增长 19.5%，恢复强度明显高于 FY2024。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27080" y="786384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27083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2064" y="2212848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30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416.2B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2971800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FY2025 Revenue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154680" y="2971800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BC844F"/>
                </a:solidFill>
                <a:latin typeface="Menlo"/>
                <a:ea typeface="Menlo"/>
                <a:cs typeface="Menlo"/>
              </a:rPr>
              <a:t>+6.4% YoY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2064" y="3474720"/>
            <a:ext cx="34747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293E5B"/>
                </a:solidFill>
                <a:latin typeface="Times New Roman"/>
                <a:ea typeface="Songti SC"/>
                <a:cs typeface="Times New Roman"/>
              </a:rPr>
              <a:t>112.0B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" y="4041648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FY2025 Net Income / +19.5% YoY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4645152" y="4425696"/>
            <a:ext cx="2788919" cy="0"/>
          </a:xfrm>
          <a:prstGeom prst="line">
            <a:avLst/>
          </a:prstGeom>
          <a:ln w="5715">
            <a:solidFill>
              <a:srgbClr val="C7C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4806909" y="2737752"/>
            <a:ext cx="234269" cy="1687943"/>
          </a:xfrm>
          <a:prstGeom prst="rect">
            <a:avLst/>
          </a:prstGeom>
          <a:solidFill>
            <a:srgbClr val="D4B69A"/>
          </a:solidFill>
          <a:ln>
            <a:solidFill>
              <a:srgbClr val="D4B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688037" y="2573160"/>
            <a:ext cx="472013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366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752045" y="4498848"/>
            <a:ext cx="34399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21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64693" y="2606197"/>
            <a:ext cx="234269" cy="1819498"/>
          </a:xfrm>
          <a:prstGeom prst="rect">
            <a:avLst/>
          </a:prstGeom>
          <a:solidFill>
            <a:srgbClr val="D4B69A"/>
          </a:solidFill>
          <a:ln>
            <a:solidFill>
              <a:srgbClr val="D4B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245821" y="2441605"/>
            <a:ext cx="472013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394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09829" y="4498848"/>
            <a:ext cx="34399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22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22477" y="2657151"/>
            <a:ext cx="234269" cy="1768544"/>
          </a:xfrm>
          <a:prstGeom prst="rect">
            <a:avLst/>
          </a:prstGeom>
          <a:solidFill>
            <a:srgbClr val="D4B69A"/>
          </a:solidFill>
          <a:ln>
            <a:solidFill>
              <a:srgbClr val="D4B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803605" y="2492559"/>
            <a:ext cx="472013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383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867613" y="4498848"/>
            <a:ext cx="34399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23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80261" y="2621391"/>
            <a:ext cx="234269" cy="1804304"/>
          </a:xfrm>
          <a:prstGeom prst="rect">
            <a:avLst/>
          </a:prstGeom>
          <a:solidFill>
            <a:srgbClr val="D4B69A"/>
          </a:solidFill>
          <a:ln>
            <a:solidFill>
              <a:srgbClr val="D4B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361389" y="2456799"/>
            <a:ext cx="472013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391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25397" y="4498848"/>
            <a:ext cx="34399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24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038045" y="2505456"/>
            <a:ext cx="234269" cy="1920239"/>
          </a:xfrm>
          <a:prstGeom prst="rect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919173" y="2340864"/>
            <a:ext cx="472013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416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83181" y="4498848"/>
            <a:ext cx="34399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25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45152" y="2157984"/>
            <a:ext cx="2788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REVENUE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790688" y="2157984"/>
            <a:ext cx="3337560" cy="2633472"/>
          </a:xfrm>
          <a:prstGeom prst="rect">
            <a:avLst/>
          </a:prstGeom>
          <a:solidFill>
            <a:srgbClr val="F6F7F7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>
            <a:off x="8119871" y="2505456"/>
            <a:ext cx="2734057" cy="0"/>
          </a:xfrm>
          <a:prstGeom prst="line">
            <a:avLst/>
          </a:prstGeom>
          <a:ln w="31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119871" y="3133343"/>
            <a:ext cx="2734057" cy="0"/>
          </a:xfrm>
          <a:prstGeom prst="line">
            <a:avLst/>
          </a:prstGeom>
          <a:ln w="31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119871" y="3761232"/>
            <a:ext cx="2734057" cy="0"/>
          </a:xfrm>
          <a:prstGeom prst="line">
            <a:avLst/>
          </a:prstGeom>
          <a:ln w="31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119871" y="4389120"/>
            <a:ext cx="2734057" cy="0"/>
          </a:xfrm>
          <a:prstGeom prst="line">
            <a:avLst/>
          </a:prstGeom>
          <a:ln w="31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119871" y="2957481"/>
            <a:ext cx="683515" cy="91905"/>
          </a:xfrm>
          <a:prstGeom prst="line">
            <a:avLst/>
          </a:prstGeom>
          <a:ln w="15875">
            <a:solidFill>
              <a:srgbClr val="699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8803386" y="2957481"/>
            <a:ext cx="683513" cy="50375"/>
          </a:xfrm>
          <a:prstGeom prst="line">
            <a:avLst/>
          </a:prstGeom>
          <a:ln w="15875">
            <a:solidFill>
              <a:srgbClr val="699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86899" y="3007856"/>
            <a:ext cx="683514" cy="58465"/>
          </a:xfrm>
          <a:prstGeom prst="line">
            <a:avLst/>
          </a:prstGeom>
          <a:ln w="15875">
            <a:solidFill>
              <a:srgbClr val="699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70413" y="2738492"/>
            <a:ext cx="683515" cy="327829"/>
          </a:xfrm>
          <a:prstGeom prst="line">
            <a:avLst/>
          </a:prstGeom>
          <a:ln w="15875">
            <a:solidFill>
              <a:srgbClr val="699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8078723" y="3008238"/>
            <a:ext cx="82296" cy="82296"/>
          </a:xfrm>
          <a:prstGeom prst="ellipse">
            <a:avLst/>
          </a:prstGeom>
          <a:solidFill>
            <a:srgbClr val="699287"/>
          </a:solidFill>
          <a:ln>
            <a:solidFill>
              <a:srgbClr val="699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762238" y="2916333"/>
            <a:ext cx="82296" cy="82296"/>
          </a:xfrm>
          <a:prstGeom prst="ellipse">
            <a:avLst/>
          </a:prstGeom>
          <a:solidFill>
            <a:srgbClr val="699287"/>
          </a:solidFill>
          <a:ln>
            <a:solidFill>
              <a:srgbClr val="699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9445751" y="2966708"/>
            <a:ext cx="82296" cy="82296"/>
          </a:xfrm>
          <a:prstGeom prst="ellipse">
            <a:avLst/>
          </a:prstGeom>
          <a:solidFill>
            <a:srgbClr val="699287"/>
          </a:solidFill>
          <a:ln>
            <a:solidFill>
              <a:srgbClr val="699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0129265" y="3025173"/>
            <a:ext cx="82296" cy="82296"/>
          </a:xfrm>
          <a:prstGeom prst="ellipse">
            <a:avLst/>
          </a:prstGeom>
          <a:solidFill>
            <a:srgbClr val="699287"/>
          </a:solidFill>
          <a:ln>
            <a:solidFill>
              <a:srgbClr val="699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0812780" y="2697344"/>
            <a:ext cx="82296" cy="82296"/>
          </a:xfrm>
          <a:prstGeom prst="ellipse">
            <a:avLst/>
          </a:prstGeom>
          <a:solidFill>
            <a:srgbClr val="699287"/>
          </a:solidFill>
          <a:ln>
            <a:solidFill>
              <a:srgbClr val="699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762488" y="2464172"/>
            <a:ext cx="6949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0A1F3D"/>
                </a:solidFill>
                <a:latin typeface="Menlo"/>
                <a:ea typeface="Menlo"/>
                <a:cs typeface="Menlo"/>
              </a:rPr>
              <a:t>112.0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119871" y="4599432"/>
            <a:ext cx="109728" cy="32004"/>
          </a:xfrm>
          <a:prstGeom prst="rect">
            <a:avLst/>
          </a:prstGeom>
          <a:solidFill>
            <a:srgbClr val="699287"/>
          </a:solidFill>
          <a:ln>
            <a:solidFill>
              <a:srgbClr val="699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284463" y="4553712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Net income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8119871" y="4283602"/>
            <a:ext cx="683515" cy="10264"/>
          </a:xfrm>
          <a:prstGeom prst="line">
            <a:avLst/>
          </a:prstGeom>
          <a:ln w="15875">
            <a:solidFill>
              <a:srgbClr val="AE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8803386" y="4293866"/>
            <a:ext cx="683513" cy="61"/>
          </a:xfrm>
          <a:prstGeom prst="line">
            <a:avLst/>
          </a:prstGeom>
          <a:ln w="15875">
            <a:solidFill>
              <a:srgbClr val="AE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9486899" y="4293927"/>
            <a:ext cx="683514" cy="23950"/>
          </a:xfrm>
          <a:prstGeom prst="line">
            <a:avLst/>
          </a:prstGeom>
          <a:ln w="15875">
            <a:solidFill>
              <a:srgbClr val="AE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10170413" y="4265066"/>
            <a:ext cx="683515" cy="52811"/>
          </a:xfrm>
          <a:prstGeom prst="line">
            <a:avLst/>
          </a:prstGeom>
          <a:ln w="15875">
            <a:solidFill>
              <a:srgbClr val="AE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8078723" y="4242454"/>
            <a:ext cx="82296" cy="82296"/>
          </a:xfrm>
          <a:prstGeom prst="ellipse">
            <a:avLst/>
          </a:prstGeom>
          <a:solidFill>
            <a:srgbClr val="AE2F44"/>
          </a:solidFill>
          <a:ln>
            <a:solidFill>
              <a:srgbClr val="AE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762238" y="4252718"/>
            <a:ext cx="82296" cy="82296"/>
          </a:xfrm>
          <a:prstGeom prst="ellipse">
            <a:avLst/>
          </a:prstGeom>
          <a:solidFill>
            <a:srgbClr val="AE2F44"/>
          </a:solidFill>
          <a:ln>
            <a:solidFill>
              <a:srgbClr val="AE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445751" y="4252779"/>
            <a:ext cx="82296" cy="82296"/>
          </a:xfrm>
          <a:prstGeom prst="ellipse">
            <a:avLst/>
          </a:prstGeom>
          <a:solidFill>
            <a:srgbClr val="AE2F44"/>
          </a:solidFill>
          <a:ln>
            <a:solidFill>
              <a:srgbClr val="AE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0129265" y="4276729"/>
            <a:ext cx="82296" cy="82296"/>
          </a:xfrm>
          <a:prstGeom prst="ellipse">
            <a:avLst/>
          </a:prstGeom>
          <a:solidFill>
            <a:srgbClr val="AE2F44"/>
          </a:solidFill>
          <a:ln>
            <a:solidFill>
              <a:srgbClr val="AE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0812780" y="4223918"/>
            <a:ext cx="82296" cy="82296"/>
          </a:xfrm>
          <a:prstGeom prst="ellipse">
            <a:avLst/>
          </a:prstGeom>
          <a:solidFill>
            <a:srgbClr val="AE2F44"/>
          </a:solidFill>
          <a:ln>
            <a:solidFill>
              <a:srgbClr val="AE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762488" y="3990746"/>
            <a:ext cx="6949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0A1F3D"/>
                </a:solidFill>
                <a:latin typeface="Menlo"/>
                <a:ea typeface="Menlo"/>
                <a:cs typeface="Menlo"/>
              </a:rPr>
              <a:t>26.9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628632" y="4599432"/>
            <a:ext cx="109728" cy="32004"/>
          </a:xfrm>
          <a:prstGeom prst="rect">
            <a:avLst/>
          </a:prstGeom>
          <a:solidFill>
            <a:srgbClr val="AE2F44"/>
          </a:solidFill>
          <a:ln>
            <a:solidFill>
              <a:srgbClr val="AE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793224" y="4553712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Net margin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010144" y="4334256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21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693658" y="4334256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22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377172" y="4334256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23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060686" y="4334256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24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744200" y="4334256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25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663440" y="5074920"/>
            <a:ext cx="32004" cy="585216"/>
          </a:xfrm>
          <a:prstGeom prst="rect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809744" y="5093207"/>
            <a:ext cx="6263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读图结论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809744" y="5431536"/>
            <a:ext cx="626364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27083"/>
                </a:solidFill>
                <a:latin typeface="Helvetica Neue"/>
                <a:ea typeface="Helvetica Neue"/>
                <a:cs typeface="Helvetica Neue"/>
              </a:rPr>
              <a:t>2023 年收入回落后，2024-2025 连续恢复；FY2025 净利润增速高于收入增速，说明利润率与费用纪律共同放大了恢复。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6035040" cy="5669280"/>
          </a:xfrm>
          <a:prstGeom prst="ellipse">
            <a:avLst/>
          </a:prstGeom>
          <a:noFill/>
          <a:ln w="12700">
            <a:solidFill>
              <a:srgbClr val="3D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949440" y="-1280160"/>
            <a:ext cx="6492240" cy="5852160"/>
          </a:xfrm>
          <a:prstGeom prst="ellipse">
            <a:avLst/>
          </a:prstGeom>
          <a:noFill/>
          <a:ln w="10160">
            <a:solidFill>
              <a:srgbClr val="3D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23360" y="3017520"/>
            <a:ext cx="8046720" cy="5303520"/>
          </a:xfrm>
          <a:prstGeom prst="ellipse">
            <a:avLst/>
          </a:prstGeom>
          <a:noFill/>
          <a:ln w="8890">
            <a:solidFill>
              <a:srgbClr val="3D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114800"/>
            <a:ext cx="4937760" cy="3474720"/>
          </a:xfrm>
          <a:prstGeom prst="ellipse">
            <a:avLst/>
          </a:prstGeom>
          <a:noFill/>
          <a:ln w="6985">
            <a:solidFill>
              <a:srgbClr val="3D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18120" y="320040"/>
            <a:ext cx="2926080" cy="2377440"/>
          </a:xfrm>
          <a:prstGeom prst="ellipse">
            <a:avLst/>
          </a:prstGeom>
          <a:noFill/>
          <a:ln w="6985">
            <a:solidFill>
              <a:srgbClr val="6C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82712" y="418795"/>
            <a:ext cx="2926080" cy="2377440"/>
          </a:xfrm>
          <a:prstGeom prst="ellipse">
            <a:avLst/>
          </a:prstGeom>
          <a:noFill/>
          <a:ln w="6985">
            <a:solidFill>
              <a:srgbClr val="6C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65592" y="528523"/>
            <a:ext cx="2926080" cy="2377440"/>
          </a:xfrm>
          <a:prstGeom prst="ellipse">
            <a:avLst/>
          </a:prstGeom>
          <a:noFill/>
          <a:ln w="6985">
            <a:solidFill>
              <a:srgbClr val="6C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926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894A2"/>
                </a:solidFill>
                <a:latin typeface="Menlo"/>
                <a:ea typeface="Menlo"/>
                <a:cs typeface="Menlo"/>
              </a:rPr>
              <a:t>PRODUCT / SERVICE MIX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9260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894A2"/>
                </a:solidFill>
                <a:latin typeface="Menlo"/>
                <a:ea typeface="Menlo"/>
                <a:cs typeface="Menlo"/>
              </a:rPr>
              <a:t>VOL. TEST · 04 / 10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2064" y="6364224"/>
            <a:ext cx="11173968" cy="0"/>
          </a:xfrm>
          <a:prstGeom prst="line">
            <a:avLst/>
          </a:prstGeom>
          <a:ln w="4445">
            <a:solidFill>
              <a:srgbClr val="8894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2064" y="6455664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8894A2"/>
                </a:solidFill>
                <a:latin typeface="Helvetica Neue"/>
                <a:ea typeface="Helvetica Neue"/>
                <a:cs typeface="Helvetica Neue"/>
              </a:rPr>
              <a:t>数据来源：SEC companyfacts、Apple FY2021-FY2025 10-K；金额单位除特别说明外为十亿美元。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6455664"/>
            <a:ext cx="3364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8894A2"/>
                </a:solidFill>
                <a:latin typeface="Helvetica Neue"/>
                <a:ea typeface="Helvetica Neue"/>
                <a:cs typeface="Helvetica Neue"/>
              </a:rPr>
              <a:t>仅供学术交流与 skill 测试使用，不构成投资建议。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713232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99A2AF"/>
                </a:solidFill>
                <a:latin typeface="Menlo"/>
                <a:ea typeface="Menlo"/>
                <a:cs typeface="Menlo"/>
              </a:rPr>
              <a:t>PRODUCT / SERVICE MIX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932688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1F3F5"/>
                </a:solidFill>
                <a:latin typeface="Times New Roman"/>
                <a:ea typeface="Songti SC"/>
                <a:cs typeface="Times New Roman"/>
              </a:rPr>
              <a:t>iPhone 仍是收入中枢，Services 是最稳定的第二曲线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664208"/>
            <a:ext cx="8869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99A2AF"/>
                </a:solidFill>
                <a:latin typeface="Helvetica Neue"/>
                <a:ea typeface="Helvetica Neue"/>
                <a:cs typeface="Helvetica Neue"/>
              </a:rPr>
              <a:t>FY2025 iPhone 收入约 2096 亿美元，Services 收入约 1092 亿美元并同比增长 13.5%。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786384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9A2AF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331720"/>
            <a:ext cx="5397152" cy="713232"/>
          </a:xfrm>
          <a:prstGeom prst="rect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423160"/>
            <a:ext cx="5232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FCFCF9"/>
                </a:solidFill>
                <a:latin typeface="Menlo"/>
                <a:ea typeface="Menlo"/>
                <a:cs typeface="Menlo"/>
              </a:rPr>
              <a:t>iPhone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642615"/>
            <a:ext cx="5232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CFCF9"/>
                </a:solidFill>
                <a:latin typeface="Times New Roman"/>
                <a:ea typeface="Songti SC"/>
                <a:cs typeface="Times New Roman"/>
              </a:rPr>
              <a:t>209.6B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55520" y="2331720"/>
            <a:ext cx="2810981" cy="713232"/>
          </a:xfrm>
          <a:prstGeom prst="rect">
            <a:avLst/>
          </a:prstGeom>
          <a:solidFill>
            <a:srgbClr val="699287"/>
          </a:solidFill>
          <a:ln>
            <a:solidFill>
              <a:srgbClr val="699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6960" y="2423160"/>
            <a:ext cx="264638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FCFCF9"/>
                </a:solidFill>
                <a:latin typeface="Menlo"/>
                <a:ea typeface="Menlo"/>
                <a:cs typeface="Menlo"/>
              </a:rPr>
              <a:t>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6960" y="2642615"/>
            <a:ext cx="264638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CFCF9"/>
                </a:solidFill>
                <a:latin typeface="Times New Roman"/>
                <a:ea typeface="Songti SC"/>
                <a:cs typeface="Times New Roman"/>
              </a:rPr>
              <a:t>109.2B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6502" y="2331720"/>
            <a:ext cx="868031" cy="713232"/>
          </a:xfrm>
          <a:prstGeom prst="rect">
            <a:avLst/>
          </a:prstGeom>
          <a:solidFill>
            <a:srgbClr val="667487"/>
          </a:solidFill>
          <a:ln>
            <a:solidFill>
              <a:srgbClr val="66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34533" y="2331720"/>
            <a:ext cx="721634" cy="713232"/>
          </a:xfrm>
          <a:prstGeom prst="rect">
            <a:avLst/>
          </a:prstGeom>
          <a:solidFill>
            <a:srgbClr val="4F5F74"/>
          </a:solidFill>
          <a:ln>
            <a:solidFill>
              <a:srgbClr val="4F5F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56168" y="2331720"/>
            <a:ext cx="918967" cy="713232"/>
          </a:xfrm>
          <a:prstGeom prst="rect">
            <a:avLst/>
          </a:prstGeom>
          <a:solidFill>
            <a:srgbClr val="AE2F44"/>
          </a:solidFill>
          <a:ln>
            <a:solidFill>
              <a:srgbClr val="AE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2075687"/>
            <a:ext cx="3291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FY2025 PRODUCT / SERVICE MIX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12096" y="2075687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Total 416.2B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" y="3191256"/>
            <a:ext cx="10716768" cy="0"/>
          </a:xfrm>
          <a:prstGeom prst="line">
            <a:avLst/>
          </a:prstGeom>
          <a:ln w="4445">
            <a:solidFill>
              <a:srgbClr val="8994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3264408"/>
            <a:ext cx="107167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8994A2"/>
                </a:solidFill>
                <a:latin typeface="Helvetica Neue"/>
                <a:ea typeface="Helvetica Neue"/>
                <a:cs typeface="Helvetica Neue"/>
              </a:rPr>
              <a:t>构成条为原生 PowerPoint shape，可直接选中编辑颜色、宽度和标签。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520440"/>
            <a:ext cx="107167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F1F3F5"/>
                </a:solidFill>
                <a:latin typeface="Times New Roman"/>
                <a:ea typeface="Songti SC"/>
                <a:cs typeface="Times New Roman"/>
              </a:rPr>
              <a:t>Services 增长带来更高质量的收入，但 iPhone 仍承担超过一半收入。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" y="3886200"/>
            <a:ext cx="4480560" cy="1417320"/>
          </a:xfrm>
          <a:prstGeom prst="rect">
            <a:avLst/>
          </a:prstGeom>
          <a:solidFill>
            <a:srgbClr val="182C48"/>
          </a:solidFill>
          <a:ln w="7620">
            <a:solidFill>
              <a:srgbClr val="3D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005840" y="4233672"/>
            <a:ext cx="3877056" cy="0"/>
          </a:xfrm>
          <a:prstGeom prst="line">
            <a:avLst/>
          </a:prstGeom>
          <a:ln w="3175">
            <a:solidFill>
              <a:srgbClr val="3D4E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05840" y="4456176"/>
            <a:ext cx="3877056" cy="0"/>
          </a:xfrm>
          <a:prstGeom prst="line">
            <a:avLst/>
          </a:prstGeom>
          <a:ln w="3175">
            <a:solidFill>
              <a:srgbClr val="3D4E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05840" y="4678680"/>
            <a:ext cx="3877056" cy="0"/>
          </a:xfrm>
          <a:prstGeom prst="line">
            <a:avLst/>
          </a:prstGeom>
          <a:ln w="3175">
            <a:solidFill>
              <a:srgbClr val="3D4E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05840" y="4901184"/>
            <a:ext cx="3877056" cy="0"/>
          </a:xfrm>
          <a:prstGeom prst="line">
            <a:avLst/>
          </a:prstGeom>
          <a:ln w="3175">
            <a:solidFill>
              <a:srgbClr val="3D4E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005840" y="4292376"/>
            <a:ext cx="969264" cy="54679"/>
          </a:xfrm>
          <a:prstGeom prst="line">
            <a:avLst/>
          </a:prstGeom>
          <a:ln w="15875">
            <a:solidFill>
              <a:srgbClr val="BC84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975104" y="4292376"/>
            <a:ext cx="969264" cy="19848"/>
          </a:xfrm>
          <a:prstGeom prst="line">
            <a:avLst/>
          </a:prstGeom>
          <a:ln w="15875">
            <a:solidFill>
              <a:srgbClr val="BC84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944368" y="4309796"/>
            <a:ext cx="969264" cy="2428"/>
          </a:xfrm>
          <a:prstGeom prst="line">
            <a:avLst/>
          </a:prstGeom>
          <a:ln w="15875">
            <a:solidFill>
              <a:srgbClr val="BC84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3913632" y="4275802"/>
            <a:ext cx="969264" cy="33994"/>
          </a:xfrm>
          <a:prstGeom prst="line">
            <a:avLst/>
          </a:prstGeom>
          <a:ln w="15875">
            <a:solidFill>
              <a:srgbClr val="BC84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964692" y="4305907"/>
            <a:ext cx="82296" cy="82296"/>
          </a:xfrm>
          <a:prstGeom prst="ellipse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933956" y="4251228"/>
            <a:ext cx="82296" cy="82296"/>
          </a:xfrm>
          <a:prstGeom prst="ellipse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03220" y="4271076"/>
            <a:ext cx="82296" cy="82296"/>
          </a:xfrm>
          <a:prstGeom prst="ellipse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872484" y="4268648"/>
            <a:ext cx="82296" cy="82296"/>
          </a:xfrm>
          <a:prstGeom prst="ellipse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41748" y="4234654"/>
            <a:ext cx="82296" cy="82296"/>
          </a:xfrm>
          <a:prstGeom prst="ellipse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91456" y="4001482"/>
            <a:ext cx="6949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1F3F5"/>
                </a:solidFill>
                <a:latin typeface="Menlo"/>
                <a:ea typeface="Menlo"/>
                <a:cs typeface="Menlo"/>
              </a:rPr>
              <a:t>209.6B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5840" y="5111496"/>
            <a:ext cx="109728" cy="32004"/>
          </a:xfrm>
          <a:prstGeom prst="rect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70432" y="5065776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iPhone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1005840" y="4807614"/>
            <a:ext cx="969264" cy="39258"/>
          </a:xfrm>
          <a:prstGeom prst="line">
            <a:avLst/>
          </a:prstGeom>
          <a:ln w="15875">
            <a:solidFill>
              <a:srgbClr val="699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1975104" y="4779009"/>
            <a:ext cx="969264" cy="28605"/>
          </a:xfrm>
          <a:prstGeom prst="line">
            <a:avLst/>
          </a:prstGeom>
          <a:ln w="15875">
            <a:solidFill>
              <a:srgbClr val="699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944368" y="4734633"/>
            <a:ext cx="969264" cy="44376"/>
          </a:xfrm>
          <a:prstGeom prst="line">
            <a:avLst/>
          </a:prstGeom>
          <a:ln w="15875">
            <a:solidFill>
              <a:srgbClr val="699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913632" y="4682086"/>
            <a:ext cx="969264" cy="52547"/>
          </a:xfrm>
          <a:prstGeom prst="line">
            <a:avLst/>
          </a:prstGeom>
          <a:ln w="15875">
            <a:solidFill>
              <a:srgbClr val="699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964692" y="4805724"/>
            <a:ext cx="82296" cy="82296"/>
          </a:xfrm>
          <a:prstGeom prst="ellipse">
            <a:avLst/>
          </a:prstGeom>
          <a:solidFill>
            <a:srgbClr val="699287"/>
          </a:solidFill>
          <a:ln>
            <a:solidFill>
              <a:srgbClr val="699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933956" y="4766466"/>
            <a:ext cx="82296" cy="82296"/>
          </a:xfrm>
          <a:prstGeom prst="ellipse">
            <a:avLst/>
          </a:prstGeom>
          <a:solidFill>
            <a:srgbClr val="699287"/>
          </a:solidFill>
          <a:ln>
            <a:solidFill>
              <a:srgbClr val="699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903220" y="4737861"/>
            <a:ext cx="82296" cy="82296"/>
          </a:xfrm>
          <a:prstGeom prst="ellipse">
            <a:avLst/>
          </a:prstGeom>
          <a:solidFill>
            <a:srgbClr val="699287"/>
          </a:solidFill>
          <a:ln>
            <a:solidFill>
              <a:srgbClr val="699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872484" y="4693485"/>
            <a:ext cx="82296" cy="82296"/>
          </a:xfrm>
          <a:prstGeom prst="ellipse">
            <a:avLst/>
          </a:prstGeom>
          <a:solidFill>
            <a:srgbClr val="699287"/>
          </a:solidFill>
          <a:ln>
            <a:solidFill>
              <a:srgbClr val="699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841748" y="4640938"/>
            <a:ext cx="82296" cy="82296"/>
          </a:xfrm>
          <a:prstGeom prst="ellipse">
            <a:avLst/>
          </a:prstGeom>
          <a:solidFill>
            <a:srgbClr val="699287"/>
          </a:solidFill>
          <a:ln>
            <a:solidFill>
              <a:srgbClr val="699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91456" y="4407766"/>
            <a:ext cx="6949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1F3F5"/>
                </a:solidFill>
                <a:latin typeface="Menlo"/>
                <a:ea typeface="Menlo"/>
                <a:cs typeface="Menlo"/>
              </a:rPr>
              <a:t>109.2B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14600" y="5111496"/>
            <a:ext cx="109728" cy="32004"/>
          </a:xfrm>
          <a:prstGeom prst="rect">
            <a:avLst/>
          </a:prstGeom>
          <a:solidFill>
            <a:srgbClr val="699287"/>
          </a:solidFill>
          <a:ln>
            <a:solidFill>
              <a:srgbClr val="699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79192" y="5065776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Services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6112" y="4846320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21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65376" y="4846320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22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34640" y="4846320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23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03904" y="4846320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24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73168" y="4846320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25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50992" y="3877056"/>
            <a:ext cx="32004" cy="1097280"/>
          </a:xfrm>
          <a:prstGeom prst="rect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97296" y="3895344"/>
            <a:ext cx="2304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1F3F5"/>
                </a:solidFill>
                <a:latin typeface="Times New Roman"/>
                <a:ea typeface="Songti SC"/>
                <a:cs typeface="Times New Roman"/>
              </a:rPr>
              <a:t>结构含义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97296" y="4233672"/>
            <a:ext cx="230428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99A2AF"/>
                </a:solidFill>
                <a:latin typeface="Helvetica Neue"/>
                <a:ea typeface="Helvetica Neue"/>
                <a:cs typeface="Helvetica Neue"/>
              </a:rPr>
              <a:t>Services 不是收入占比最高的业务，却是毛利率最强、增长最稳定的质量来源。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85632" y="3877056"/>
            <a:ext cx="32004" cy="1097280"/>
          </a:xfrm>
          <a:prstGeom prst="rect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31936" y="3895344"/>
            <a:ext cx="23042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1F3F5"/>
                </a:solidFill>
                <a:latin typeface="Times New Roman"/>
                <a:ea typeface="Songti SC"/>
                <a:cs typeface="Times New Roman"/>
              </a:rPr>
              <a:t>风险含义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31936" y="4233672"/>
            <a:ext cx="230428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99A2AF"/>
                </a:solidFill>
                <a:latin typeface="Helvetica Neue"/>
                <a:ea typeface="Helvetica Neue"/>
                <a:cs typeface="Helvetica Neue"/>
              </a:rPr>
              <a:t>iPhone 仍决定总收入中枢，硬件周期与区域需求会继续影响恢复斜率。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6035040" cy="5669280"/>
          </a:xfrm>
          <a:prstGeom prst="ellipse">
            <a:avLst/>
          </a:prstGeom>
          <a:noFill/>
          <a:ln w="12700">
            <a:solidFill>
              <a:srgbClr val="D3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949440" y="-1280160"/>
            <a:ext cx="6492240" cy="5852160"/>
          </a:xfrm>
          <a:prstGeom prst="ellipse">
            <a:avLst/>
          </a:prstGeom>
          <a:noFill/>
          <a:ln w="10160">
            <a:solidFill>
              <a:srgbClr val="D3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23360" y="3017520"/>
            <a:ext cx="8046720" cy="5303520"/>
          </a:xfrm>
          <a:prstGeom prst="ellipse">
            <a:avLst/>
          </a:prstGeom>
          <a:noFill/>
          <a:ln w="8890">
            <a:solidFill>
              <a:srgbClr val="D3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114800"/>
            <a:ext cx="4937760" cy="3474720"/>
          </a:xfrm>
          <a:prstGeom prst="ellipse">
            <a:avLst/>
          </a:prstGeom>
          <a:noFill/>
          <a:ln w="6985">
            <a:solidFill>
              <a:srgbClr val="D3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18120" y="320040"/>
            <a:ext cx="2926080" cy="2377440"/>
          </a:xfrm>
          <a:prstGeom prst="ellipse">
            <a:avLst/>
          </a:prstGeom>
          <a:noFill/>
          <a:ln w="6985">
            <a:solidFill>
              <a:srgbClr val="DBC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82712" y="418795"/>
            <a:ext cx="2926080" cy="2377440"/>
          </a:xfrm>
          <a:prstGeom prst="ellipse">
            <a:avLst/>
          </a:prstGeom>
          <a:noFill/>
          <a:ln w="6985">
            <a:solidFill>
              <a:srgbClr val="DBC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65592" y="528523"/>
            <a:ext cx="2926080" cy="2377440"/>
          </a:xfrm>
          <a:prstGeom prst="ellipse">
            <a:avLst/>
          </a:prstGeom>
          <a:noFill/>
          <a:ln w="6985">
            <a:solidFill>
              <a:srgbClr val="DBC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926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D8A9C"/>
                </a:solidFill>
                <a:latin typeface="Menlo"/>
                <a:ea typeface="Menlo"/>
                <a:cs typeface="Menlo"/>
              </a:rPr>
              <a:t>MARGIN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9260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D8A9C"/>
                </a:solidFill>
                <a:latin typeface="Menlo"/>
                <a:ea typeface="Menlo"/>
                <a:cs typeface="Menlo"/>
              </a:rPr>
              <a:t>VOL. TEST · 05 / 10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2064" y="6364224"/>
            <a:ext cx="11173968" cy="0"/>
          </a:xfrm>
          <a:prstGeom prst="line">
            <a:avLst/>
          </a:prstGeom>
          <a:ln w="4445">
            <a:solidFill>
              <a:srgbClr val="7D8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2064" y="6455664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7D8A9C"/>
                </a:solidFill>
                <a:latin typeface="Helvetica Neue"/>
                <a:ea typeface="Helvetica Neue"/>
                <a:cs typeface="Helvetica Neue"/>
              </a:rPr>
              <a:t>数据来源：SEC companyfacts、Apple FY2021-FY2025 10-K；金额单位除特别说明外为十亿美元。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6455664"/>
            <a:ext cx="3364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7D8A9C"/>
                </a:solidFill>
                <a:latin typeface="Helvetica Neue"/>
                <a:ea typeface="Helvetica Neue"/>
                <a:cs typeface="Helvetica Neue"/>
              </a:rPr>
              <a:t>仅供学术交流与 skill 测试使用，不构成投资建议。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713232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27083"/>
                </a:solidFill>
                <a:latin typeface="Menlo"/>
                <a:ea typeface="Menlo"/>
                <a:cs typeface="Menlo"/>
              </a:rPr>
              <a:t>MARGIN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932688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Services 的 75.4% 毛利率继续抬升整体质量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664208"/>
            <a:ext cx="8869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7083"/>
                </a:solidFill>
                <a:latin typeface="Helvetica Neue"/>
                <a:ea typeface="Helvetica Neue"/>
                <a:cs typeface="Helvetica Neue"/>
              </a:rPr>
              <a:t>Services 毛利率比 Products 高约 38.6pct，综合毛利率五年提升 5.1pct。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786384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27083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103120"/>
            <a:ext cx="5715000" cy="2999232"/>
          </a:xfrm>
          <a:prstGeom prst="rect">
            <a:avLst/>
          </a:prstGeom>
          <a:solidFill>
            <a:srgbClr val="F6F7F7"/>
          </a:solidFill>
          <a:ln w="762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987552" y="2450591"/>
            <a:ext cx="5111496" cy="0"/>
          </a:xfrm>
          <a:prstGeom prst="line">
            <a:avLst/>
          </a:prstGeom>
          <a:ln w="31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7552" y="3200399"/>
            <a:ext cx="5111496" cy="0"/>
          </a:xfrm>
          <a:prstGeom prst="line">
            <a:avLst/>
          </a:prstGeom>
          <a:ln w="31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87552" y="3950207"/>
            <a:ext cx="5111496" cy="0"/>
          </a:xfrm>
          <a:prstGeom prst="line">
            <a:avLst/>
          </a:prstGeom>
          <a:ln w="31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87552" y="4700016"/>
            <a:ext cx="5111496" cy="0"/>
          </a:xfrm>
          <a:prstGeom prst="line">
            <a:avLst/>
          </a:prstGeom>
          <a:ln w="317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87552" y="2823996"/>
            <a:ext cx="1277874" cy="89977"/>
          </a:xfrm>
          <a:prstGeom prst="line">
            <a:avLst/>
          </a:prstGeom>
          <a:ln w="15875">
            <a:solidFill>
              <a:srgbClr val="699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65426" y="2823996"/>
            <a:ext cx="1277874" cy="40490"/>
          </a:xfrm>
          <a:prstGeom prst="line">
            <a:avLst/>
          </a:prstGeom>
          <a:ln w="15875">
            <a:solidFill>
              <a:srgbClr val="699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543300" y="2725021"/>
            <a:ext cx="1277874" cy="139465"/>
          </a:xfrm>
          <a:prstGeom prst="line">
            <a:avLst/>
          </a:prstGeom>
          <a:ln w="15875">
            <a:solidFill>
              <a:srgbClr val="699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821174" y="2657539"/>
            <a:ext cx="1277874" cy="67482"/>
          </a:xfrm>
          <a:prstGeom prst="line">
            <a:avLst/>
          </a:prstGeom>
          <a:ln w="15875">
            <a:solidFill>
              <a:srgbClr val="6992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46404" y="2872825"/>
            <a:ext cx="82296" cy="82296"/>
          </a:xfrm>
          <a:prstGeom prst="ellipse">
            <a:avLst/>
          </a:prstGeom>
          <a:solidFill>
            <a:srgbClr val="699287"/>
          </a:solidFill>
          <a:ln>
            <a:solidFill>
              <a:srgbClr val="699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224278" y="2782848"/>
            <a:ext cx="82296" cy="82296"/>
          </a:xfrm>
          <a:prstGeom prst="ellipse">
            <a:avLst/>
          </a:prstGeom>
          <a:solidFill>
            <a:srgbClr val="699287"/>
          </a:solidFill>
          <a:ln>
            <a:solidFill>
              <a:srgbClr val="699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502152" y="2823338"/>
            <a:ext cx="82296" cy="82296"/>
          </a:xfrm>
          <a:prstGeom prst="ellipse">
            <a:avLst/>
          </a:prstGeom>
          <a:solidFill>
            <a:srgbClr val="699287"/>
          </a:solidFill>
          <a:ln>
            <a:solidFill>
              <a:srgbClr val="699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780026" y="2683873"/>
            <a:ext cx="82296" cy="82296"/>
          </a:xfrm>
          <a:prstGeom prst="ellipse">
            <a:avLst/>
          </a:prstGeom>
          <a:solidFill>
            <a:srgbClr val="699287"/>
          </a:solidFill>
          <a:ln>
            <a:solidFill>
              <a:srgbClr val="699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057900" y="2616391"/>
            <a:ext cx="82296" cy="82296"/>
          </a:xfrm>
          <a:prstGeom prst="ellipse">
            <a:avLst/>
          </a:prstGeom>
          <a:solidFill>
            <a:srgbClr val="699287"/>
          </a:solidFill>
          <a:ln>
            <a:solidFill>
              <a:srgbClr val="699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07608" y="2383219"/>
            <a:ext cx="6949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0A1F3D"/>
                </a:solidFill>
                <a:latin typeface="Menlo"/>
                <a:ea typeface="Menlo"/>
                <a:cs typeface="Menlo"/>
              </a:rPr>
              <a:t>75.4%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7552" y="4910328"/>
            <a:ext cx="109728" cy="32004"/>
          </a:xfrm>
          <a:prstGeom prst="rect">
            <a:avLst/>
          </a:prstGeom>
          <a:solidFill>
            <a:srgbClr val="699287"/>
          </a:solidFill>
          <a:ln>
            <a:solidFill>
              <a:srgbClr val="699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52144" y="4864608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Services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987552" y="4416588"/>
            <a:ext cx="1277874" cy="44989"/>
          </a:xfrm>
          <a:prstGeom prst="line">
            <a:avLst/>
          </a:prstGeom>
          <a:ln w="15875">
            <a:solidFill>
              <a:srgbClr val="BC84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265426" y="4407590"/>
            <a:ext cx="1277874" cy="8998"/>
          </a:xfrm>
          <a:prstGeom prst="line">
            <a:avLst/>
          </a:prstGeom>
          <a:ln w="15875">
            <a:solidFill>
              <a:srgbClr val="BC84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543300" y="4376098"/>
            <a:ext cx="1277874" cy="31492"/>
          </a:xfrm>
          <a:prstGeom prst="line">
            <a:avLst/>
          </a:prstGeom>
          <a:ln w="15875">
            <a:solidFill>
              <a:srgbClr val="BC84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821174" y="4376098"/>
            <a:ext cx="1277874" cy="17996"/>
          </a:xfrm>
          <a:prstGeom prst="line">
            <a:avLst/>
          </a:prstGeom>
          <a:ln w="15875">
            <a:solidFill>
              <a:srgbClr val="BC84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946404" y="4420429"/>
            <a:ext cx="82296" cy="82296"/>
          </a:xfrm>
          <a:prstGeom prst="ellipse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224278" y="4375440"/>
            <a:ext cx="82296" cy="82296"/>
          </a:xfrm>
          <a:prstGeom prst="ellipse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502152" y="4366442"/>
            <a:ext cx="82296" cy="82296"/>
          </a:xfrm>
          <a:prstGeom prst="ellipse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780026" y="4334950"/>
            <a:ext cx="82296" cy="82296"/>
          </a:xfrm>
          <a:prstGeom prst="ellipse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057900" y="4352946"/>
            <a:ext cx="82296" cy="82296"/>
          </a:xfrm>
          <a:prstGeom prst="ellipse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07608" y="4119774"/>
            <a:ext cx="6949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0A1F3D"/>
                </a:solidFill>
                <a:latin typeface="Menlo"/>
                <a:ea typeface="Menlo"/>
                <a:cs typeface="Menlo"/>
              </a:rPr>
              <a:t>36.8%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96312" y="4910328"/>
            <a:ext cx="109728" cy="32004"/>
          </a:xfrm>
          <a:prstGeom prst="rect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60904" y="4864608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Products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987552" y="4101669"/>
            <a:ext cx="1277874" cy="67482"/>
          </a:xfrm>
          <a:prstGeom prst="line">
            <a:avLst/>
          </a:prstGeom>
          <a:ln w="15875">
            <a:solidFill>
              <a:srgbClr val="AE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265426" y="4065678"/>
            <a:ext cx="1277874" cy="35991"/>
          </a:xfrm>
          <a:prstGeom prst="line">
            <a:avLst/>
          </a:prstGeom>
          <a:ln w="15875">
            <a:solidFill>
              <a:srgbClr val="AE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543300" y="3971202"/>
            <a:ext cx="1277874" cy="94476"/>
          </a:xfrm>
          <a:prstGeom prst="line">
            <a:avLst/>
          </a:prstGeom>
          <a:ln w="15875">
            <a:solidFill>
              <a:srgbClr val="AE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821174" y="3939710"/>
            <a:ext cx="1277874" cy="31492"/>
          </a:xfrm>
          <a:prstGeom prst="line">
            <a:avLst/>
          </a:prstGeom>
          <a:ln w="15875">
            <a:solidFill>
              <a:srgbClr val="AE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46404" y="4128003"/>
            <a:ext cx="82296" cy="82296"/>
          </a:xfrm>
          <a:prstGeom prst="ellipse">
            <a:avLst/>
          </a:prstGeom>
          <a:solidFill>
            <a:srgbClr val="AE2F44"/>
          </a:solidFill>
          <a:ln>
            <a:solidFill>
              <a:srgbClr val="AE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224278" y="4060521"/>
            <a:ext cx="82296" cy="82296"/>
          </a:xfrm>
          <a:prstGeom prst="ellipse">
            <a:avLst/>
          </a:prstGeom>
          <a:solidFill>
            <a:srgbClr val="AE2F44"/>
          </a:solidFill>
          <a:ln>
            <a:solidFill>
              <a:srgbClr val="AE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502152" y="4024530"/>
            <a:ext cx="82296" cy="82296"/>
          </a:xfrm>
          <a:prstGeom prst="ellipse">
            <a:avLst/>
          </a:prstGeom>
          <a:solidFill>
            <a:srgbClr val="AE2F44"/>
          </a:solidFill>
          <a:ln>
            <a:solidFill>
              <a:srgbClr val="AE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780026" y="3930054"/>
            <a:ext cx="82296" cy="82296"/>
          </a:xfrm>
          <a:prstGeom prst="ellipse">
            <a:avLst/>
          </a:prstGeom>
          <a:solidFill>
            <a:srgbClr val="AE2F44"/>
          </a:solidFill>
          <a:ln>
            <a:solidFill>
              <a:srgbClr val="AE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57900" y="3898562"/>
            <a:ext cx="82296" cy="82296"/>
          </a:xfrm>
          <a:prstGeom prst="ellipse">
            <a:avLst/>
          </a:prstGeom>
          <a:solidFill>
            <a:srgbClr val="AE2F44"/>
          </a:solidFill>
          <a:ln>
            <a:solidFill>
              <a:srgbClr val="AE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07608" y="3665390"/>
            <a:ext cx="6949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0A1F3D"/>
                </a:solidFill>
                <a:latin typeface="Menlo"/>
                <a:ea typeface="Menlo"/>
                <a:cs typeface="Menlo"/>
              </a:rPr>
              <a:t>46.9%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05072" y="4910328"/>
            <a:ext cx="109728" cy="32004"/>
          </a:xfrm>
          <a:prstGeom prst="rect">
            <a:avLst/>
          </a:prstGeom>
          <a:solidFill>
            <a:srgbClr val="AE2F44"/>
          </a:solidFill>
          <a:ln>
            <a:solidFill>
              <a:srgbClr val="AE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69663" y="4864608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Total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7824" y="4645152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21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55698" y="4645152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22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33572" y="4645152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23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11446" y="4645152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89320" y="4645152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76288" y="2157984"/>
            <a:ext cx="19202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75.4%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49440" y="2697480"/>
            <a:ext cx="2103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Services gross margin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53728" y="2157984"/>
            <a:ext cx="148132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93E5B"/>
                </a:solidFill>
                <a:latin typeface="Times New Roman"/>
                <a:ea typeface="Songti SC"/>
                <a:cs typeface="Times New Roman"/>
              </a:rPr>
              <a:t>36.8%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08592" y="2697480"/>
            <a:ext cx="1920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Products gross margin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8887968" y="2212848"/>
            <a:ext cx="0" cy="804672"/>
          </a:xfrm>
          <a:prstGeom prst="line">
            <a:avLst/>
          </a:prstGeom>
          <a:ln w="6985">
            <a:solidFill>
              <a:srgbClr val="C3C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6967728" y="3438144"/>
            <a:ext cx="32004" cy="749808"/>
          </a:xfrm>
          <a:prstGeom prst="rect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14032" y="3456432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机制解释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14032" y="3794759"/>
            <a:ext cx="3749039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27083"/>
                </a:solidFill>
                <a:latin typeface="Helvetica Neue"/>
                <a:ea typeface="Helvetica Neue"/>
                <a:cs typeface="Helvetica Neue"/>
              </a:rPr>
              <a:t>当 Services 占比继续提升，综合毛利率获得结构性支撑；这不是价格单点，而是生态、订阅和平台分成共同形成的质量改善。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967728" y="4443984"/>
            <a:ext cx="32004" cy="640080"/>
          </a:xfrm>
          <a:prstGeom prst="rect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14032" y="4462272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费用侧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14032" y="480060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27083"/>
                </a:solidFill>
                <a:latin typeface="Helvetica Neue"/>
                <a:ea typeface="Helvetica Neue"/>
                <a:cs typeface="Helvetica Neue"/>
              </a:rPr>
              <a:t>R&amp;D ratio 从 FY2021 的 6.0% 提升到 FY2025 的 8.3%，说明 Apple 仍在用研发强度换下一轮产品周期。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D8A9C"/>
                </a:solidFill>
                <a:latin typeface="Menlo"/>
                <a:ea typeface="Menlo"/>
                <a:cs typeface="Menlo"/>
              </a:rPr>
              <a:t>GEOGRAPHY /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29260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D8A9C"/>
                </a:solidFill>
                <a:latin typeface="Menlo"/>
                <a:ea typeface="Menlo"/>
                <a:cs typeface="Menlo"/>
              </a:rPr>
              <a:t>VOL. TEST · 06 / 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2064" y="6364224"/>
            <a:ext cx="11173968" cy="0"/>
          </a:xfrm>
          <a:prstGeom prst="line">
            <a:avLst/>
          </a:prstGeom>
          <a:ln w="4445">
            <a:solidFill>
              <a:srgbClr val="7D8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12064" y="6455664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7D8A9C"/>
                </a:solidFill>
                <a:latin typeface="Helvetica Neue"/>
                <a:ea typeface="Helvetica Neue"/>
                <a:cs typeface="Helvetica Neue"/>
              </a:rPr>
              <a:t>数据来源：SEC companyfacts、Apple FY2021-FY2025 10-K；金额单位除特别说明外为十亿美元。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55664"/>
            <a:ext cx="3364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7D8A9C"/>
                </a:solidFill>
                <a:latin typeface="Helvetica Neue"/>
                <a:ea typeface="Helvetica Neue"/>
                <a:cs typeface="Helvetica Neue"/>
              </a:rPr>
              <a:t>仅供学术交流与 skill 测试使用，不构成投资建议。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13232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27083"/>
                </a:solidFill>
                <a:latin typeface="Menlo"/>
                <a:ea typeface="Menlo"/>
                <a:cs typeface="Menlo"/>
              </a:rPr>
              <a:t>GEOGRAPHY /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932688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美欧日及亚太扩张，大中华区仍是结构性压力点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64208"/>
            <a:ext cx="8869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7083"/>
                </a:solidFill>
                <a:latin typeface="Helvetica Neue"/>
                <a:ea typeface="Helvetica Neue"/>
                <a:cs typeface="Helvetica Neue"/>
              </a:rPr>
              <a:t>FY2025 Greater China 收入同比下降 3.8%，其他主要地区均为正增长。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786384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27083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38527"/>
            <a:ext cx="10058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REGION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7128" y="1938527"/>
            <a:ext cx="15544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FY2025 NET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25896" y="1938527"/>
            <a:ext cx="6858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YOY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2682849"/>
            <a:ext cx="6053328" cy="0"/>
          </a:xfrm>
          <a:prstGeom prst="line">
            <a:avLst/>
          </a:prstGeom>
          <a:ln w="3175">
            <a:solidFill>
              <a:srgbClr val="D5D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219456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A1F3D"/>
                </a:solidFill>
                <a:latin typeface="Helvetica Neue"/>
                <a:ea typeface="Helvetica Neue"/>
                <a:cs typeface="Helvetica Neue"/>
              </a:rPr>
              <a:t>Americas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67128" y="2212848"/>
            <a:ext cx="2807208" cy="182880"/>
          </a:xfrm>
          <a:prstGeom prst="rect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3792" y="2176272"/>
            <a:ext cx="69494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178.4B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6" y="2176272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BC844F"/>
                </a:solidFill>
                <a:latin typeface="Menlo"/>
                <a:ea typeface="Menlo"/>
                <a:cs typeface="Menlo"/>
              </a:rPr>
              <a:t>+6.8%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3290011"/>
            <a:ext cx="6053328" cy="0"/>
          </a:xfrm>
          <a:prstGeom prst="line">
            <a:avLst/>
          </a:prstGeom>
          <a:ln w="3175">
            <a:solidFill>
              <a:srgbClr val="D5D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2801721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A1F3D"/>
                </a:solidFill>
                <a:latin typeface="Helvetica Neue"/>
                <a:ea typeface="Helvetica Neue"/>
                <a:cs typeface="Helvetica Neue"/>
              </a:rPr>
              <a:t>Europe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67128" y="2820009"/>
            <a:ext cx="1747601" cy="182880"/>
          </a:xfrm>
          <a:prstGeom prst="rect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3792" y="2783433"/>
            <a:ext cx="69494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111.0B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0176" y="2783433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BC844F"/>
                </a:solidFill>
                <a:latin typeface="Menlo"/>
                <a:ea typeface="Menlo"/>
                <a:cs typeface="Menlo"/>
              </a:rPr>
              <a:t>+9.6%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3897172"/>
            <a:ext cx="6053328" cy="0"/>
          </a:xfrm>
          <a:prstGeom prst="line">
            <a:avLst/>
          </a:prstGeom>
          <a:ln w="3175">
            <a:solidFill>
              <a:srgbClr val="D5D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408883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0A1F3D"/>
                </a:solidFill>
                <a:latin typeface="Helvetica Neue"/>
                <a:ea typeface="Helvetica Neue"/>
                <a:cs typeface="Helvetica Neue"/>
              </a:rPr>
              <a:t>Greater China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67128" y="3427171"/>
            <a:ext cx="1013269" cy="182880"/>
          </a:xfrm>
          <a:prstGeom prst="rect">
            <a:avLst/>
          </a:prstGeom>
          <a:solidFill>
            <a:srgbClr val="AE2F44"/>
          </a:solidFill>
          <a:ln>
            <a:solidFill>
              <a:srgbClr val="AE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93792" y="3390595"/>
            <a:ext cx="69494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64.4B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0176" y="3390595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AE2F44"/>
                </a:solidFill>
                <a:latin typeface="Menlo"/>
                <a:ea typeface="Menlo"/>
                <a:cs typeface="Menlo"/>
              </a:rPr>
              <a:t>-3.8%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58368" y="4504334"/>
            <a:ext cx="6053328" cy="0"/>
          </a:xfrm>
          <a:prstGeom prst="line">
            <a:avLst/>
          </a:prstGeom>
          <a:ln w="3175">
            <a:solidFill>
              <a:srgbClr val="D5D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4016044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A1F3D"/>
                </a:solidFill>
                <a:latin typeface="Helvetica Neue"/>
                <a:ea typeface="Helvetica Neue"/>
                <a:cs typeface="Helvetica Neue"/>
              </a:rPr>
              <a:t>Rest of Asia Pacific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7128" y="4034332"/>
            <a:ext cx="530362" cy="182880"/>
          </a:xfrm>
          <a:prstGeom prst="rect">
            <a:avLst/>
          </a:prstGeom>
          <a:solidFill>
            <a:srgbClr val="699287"/>
          </a:solidFill>
          <a:ln>
            <a:solidFill>
              <a:srgbClr val="699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93792" y="3997756"/>
            <a:ext cx="69494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33.7B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0176" y="399775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699287"/>
                </a:solidFill>
                <a:latin typeface="Menlo"/>
                <a:ea typeface="Menlo"/>
                <a:cs typeface="Menlo"/>
              </a:rPr>
              <a:t>+9.9%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" y="5111495"/>
            <a:ext cx="6053328" cy="0"/>
          </a:xfrm>
          <a:prstGeom prst="line">
            <a:avLst/>
          </a:prstGeom>
          <a:ln w="3175">
            <a:solidFill>
              <a:srgbClr val="D5DA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8368" y="4623206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A1F3D"/>
                </a:solidFill>
                <a:latin typeface="Helvetica Neue"/>
                <a:ea typeface="Helvetica Neue"/>
                <a:cs typeface="Helvetica Neue"/>
              </a:rPr>
              <a:t>Japan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67128" y="4641494"/>
            <a:ext cx="451774" cy="182880"/>
          </a:xfrm>
          <a:prstGeom prst="rect">
            <a:avLst/>
          </a:prstGeom>
          <a:solidFill>
            <a:srgbClr val="699287"/>
          </a:solidFill>
          <a:ln>
            <a:solidFill>
              <a:srgbClr val="699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93792" y="4604918"/>
            <a:ext cx="69494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26F82"/>
                </a:solidFill>
                <a:latin typeface="Menlo"/>
                <a:ea typeface="Menlo"/>
                <a:cs typeface="Menlo"/>
              </a:rPr>
              <a:t>28.7B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0176" y="4604918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 i="0">
                <a:solidFill>
                  <a:srgbClr val="699287"/>
                </a:solidFill>
                <a:latin typeface="Menlo"/>
                <a:ea typeface="Menlo"/>
                <a:cs typeface="Menlo"/>
              </a:rPr>
              <a:t>+14.6%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88352" y="2212848"/>
            <a:ext cx="3383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AE2F44"/>
                </a:solidFill>
                <a:latin typeface="Times New Roman"/>
                <a:ea typeface="Songti SC"/>
                <a:cs typeface="Times New Roman"/>
              </a:rPr>
              <a:t>Greater China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61504" y="2651760"/>
            <a:ext cx="36118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293E5B"/>
                </a:solidFill>
                <a:latin typeface="Helvetica Neue"/>
                <a:ea typeface="Helvetica Neue"/>
                <a:cs typeface="Helvetica Neue"/>
              </a:rPr>
              <a:t>不是规模不重要，而是 FY2023-FY2025 连续没有恢复到 FY2022 高点。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9792" y="3529584"/>
            <a:ext cx="32004" cy="658368"/>
          </a:xfrm>
          <a:prstGeom prst="rect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26096" y="3547872"/>
            <a:ext cx="33101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正向支撑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6096" y="3886200"/>
            <a:ext cx="331012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27083"/>
                </a:solidFill>
                <a:latin typeface="Helvetica Neue"/>
                <a:ea typeface="Helvetica Neue"/>
                <a:cs typeface="Helvetica Neue"/>
              </a:rPr>
              <a:t>Americas 与 Europe 是 FY2025 增量主轴，日本和 Rest of Asia Pacific 也同步回升。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79792" y="4462272"/>
            <a:ext cx="32004" cy="658368"/>
          </a:xfrm>
          <a:prstGeom prst="rect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26096" y="4480559"/>
            <a:ext cx="331012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风险变量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6096" y="4818888"/>
            <a:ext cx="331012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27083"/>
                </a:solidFill>
                <a:latin typeface="Helvetica Neue"/>
                <a:ea typeface="Helvetica Neue"/>
                <a:cs typeface="Helvetica Neue"/>
              </a:rPr>
              <a:t>竞争、渠道、宏观消费和监管都可能放大区域波动，需单独跟踪。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6035040" cy="5669280"/>
          </a:xfrm>
          <a:prstGeom prst="ellipse">
            <a:avLst/>
          </a:prstGeom>
          <a:noFill/>
          <a:ln w="12700">
            <a:solidFill>
              <a:srgbClr val="3D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949440" y="-1280160"/>
            <a:ext cx="6492240" cy="5852160"/>
          </a:xfrm>
          <a:prstGeom prst="ellipse">
            <a:avLst/>
          </a:prstGeom>
          <a:noFill/>
          <a:ln w="10160">
            <a:solidFill>
              <a:srgbClr val="3D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23360" y="3017520"/>
            <a:ext cx="8046720" cy="5303520"/>
          </a:xfrm>
          <a:prstGeom prst="ellipse">
            <a:avLst/>
          </a:prstGeom>
          <a:noFill/>
          <a:ln w="8890">
            <a:solidFill>
              <a:srgbClr val="3D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114800"/>
            <a:ext cx="4937760" cy="3474720"/>
          </a:xfrm>
          <a:prstGeom prst="ellipse">
            <a:avLst/>
          </a:prstGeom>
          <a:noFill/>
          <a:ln w="6985">
            <a:solidFill>
              <a:srgbClr val="3D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18120" y="320040"/>
            <a:ext cx="2926080" cy="2377440"/>
          </a:xfrm>
          <a:prstGeom prst="ellipse">
            <a:avLst/>
          </a:prstGeom>
          <a:noFill/>
          <a:ln w="6985">
            <a:solidFill>
              <a:srgbClr val="6C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82712" y="418795"/>
            <a:ext cx="2926080" cy="2377440"/>
          </a:xfrm>
          <a:prstGeom prst="ellipse">
            <a:avLst/>
          </a:prstGeom>
          <a:noFill/>
          <a:ln w="6985">
            <a:solidFill>
              <a:srgbClr val="6C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65592" y="528523"/>
            <a:ext cx="2926080" cy="2377440"/>
          </a:xfrm>
          <a:prstGeom prst="ellipse">
            <a:avLst/>
          </a:prstGeom>
          <a:noFill/>
          <a:ln w="6985">
            <a:solidFill>
              <a:srgbClr val="6C5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926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894A2"/>
                </a:solidFill>
                <a:latin typeface="Menlo"/>
                <a:ea typeface="Menlo"/>
                <a:cs typeface="Menlo"/>
              </a:rPr>
              <a:t>CASH MACHINE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9260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8894A2"/>
                </a:solidFill>
                <a:latin typeface="Menlo"/>
                <a:ea typeface="Menlo"/>
                <a:cs typeface="Menlo"/>
              </a:rPr>
              <a:t>VOL. TEST · 07 / 10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2064" y="6364224"/>
            <a:ext cx="11173968" cy="0"/>
          </a:xfrm>
          <a:prstGeom prst="line">
            <a:avLst/>
          </a:prstGeom>
          <a:ln w="4445">
            <a:solidFill>
              <a:srgbClr val="8894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2064" y="6455664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8894A2"/>
                </a:solidFill>
                <a:latin typeface="Helvetica Neue"/>
                <a:ea typeface="Helvetica Neue"/>
                <a:cs typeface="Helvetica Neue"/>
              </a:rPr>
              <a:t>数据来源：SEC companyfacts、Apple FY2021-FY2025 10-K；金额单位除特别说明外为十亿美元。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6455664"/>
            <a:ext cx="3364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8894A2"/>
                </a:solidFill>
                <a:latin typeface="Helvetica Neue"/>
                <a:ea typeface="Helvetica Neue"/>
                <a:cs typeface="Helvetica Neue"/>
              </a:rPr>
              <a:t>仅供学术交流与 skill 测试使用，不构成投资建议。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713232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99A2AF"/>
                </a:solidFill>
                <a:latin typeface="Menlo"/>
                <a:ea typeface="Menlo"/>
                <a:cs typeface="Menlo"/>
              </a:rPr>
              <a:t>CASH MACHINE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932688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1F3F5"/>
                </a:solidFill>
                <a:latin typeface="Times New Roman"/>
                <a:ea typeface="Songti SC"/>
                <a:cs typeface="Times New Roman"/>
              </a:rPr>
              <a:t>自由现金流仍厚，资本回报强度没有明显退场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664208"/>
            <a:ext cx="8869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99A2AF"/>
                </a:solidFill>
                <a:latin typeface="Helvetica Neue"/>
                <a:ea typeface="Helvetica Neue"/>
                <a:cs typeface="Helvetica Neue"/>
              </a:rPr>
              <a:t>FY2025 自由现金流约 987.7 亿美元，回购与分红合计约 1061.3 亿美元。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786384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9A2AF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2121408"/>
            <a:ext cx="33832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>
                <a:solidFill>
                  <a:srgbClr val="F1F3F5"/>
                </a:solidFill>
                <a:latin typeface="Times New Roman"/>
                <a:ea typeface="Songti SC"/>
                <a:cs typeface="Times New Roman"/>
              </a:rPr>
              <a:t>98.8B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889504"/>
            <a:ext cx="2468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9EAB"/>
                </a:solidFill>
                <a:latin typeface="Menlo"/>
                <a:ea typeface="Menlo"/>
                <a:cs typeface="Menlo"/>
              </a:rPr>
              <a:t>FY2025 Free Cash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3438144"/>
            <a:ext cx="338328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BC844F"/>
                </a:solidFill>
                <a:latin typeface="Times New Roman"/>
                <a:ea typeface="Songti SC"/>
                <a:cs typeface="Times New Roman"/>
              </a:rPr>
              <a:t>106.1B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05072"/>
            <a:ext cx="24688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959EAB"/>
                </a:solidFill>
                <a:latin typeface="Menlo"/>
                <a:ea typeface="Menlo"/>
                <a:cs typeface="Menlo"/>
              </a:rPr>
              <a:t>Buybacks + Dividends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07408" y="4242816"/>
            <a:ext cx="2962656" cy="0"/>
          </a:xfrm>
          <a:prstGeom prst="line">
            <a:avLst/>
          </a:prstGeom>
          <a:ln w="5715">
            <a:solidFill>
              <a:srgbClr val="4152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579242" y="2839470"/>
            <a:ext cx="248863" cy="1403345"/>
          </a:xfrm>
          <a:prstGeom prst="rect">
            <a:avLst/>
          </a:prstGeom>
          <a:solidFill>
            <a:srgbClr val="3E5E66"/>
          </a:solidFill>
          <a:ln>
            <a:solidFill>
              <a:srgbClr val="3E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0370" y="2674878"/>
            <a:ext cx="48660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93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4378" y="4315968"/>
            <a:ext cx="358591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71773" y="2560320"/>
            <a:ext cx="248863" cy="1682496"/>
          </a:xfrm>
          <a:prstGeom prst="rect">
            <a:avLst/>
          </a:prstGeom>
          <a:solidFill>
            <a:srgbClr val="3E5E66"/>
          </a:solidFill>
          <a:ln>
            <a:solidFill>
              <a:srgbClr val="3E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52901" y="2395727"/>
            <a:ext cx="48660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111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16909" y="4315968"/>
            <a:ext cx="358591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22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4304" y="2739359"/>
            <a:ext cx="248863" cy="1503456"/>
          </a:xfrm>
          <a:prstGeom prst="rect">
            <a:avLst/>
          </a:prstGeom>
          <a:solidFill>
            <a:srgbClr val="3E5E66"/>
          </a:solidFill>
          <a:ln>
            <a:solidFill>
              <a:srgbClr val="3E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45432" y="2574767"/>
            <a:ext cx="48660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09440" y="4315968"/>
            <a:ext cx="358591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23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6835" y="2600116"/>
            <a:ext cx="248863" cy="1642699"/>
          </a:xfrm>
          <a:prstGeom prst="rect">
            <a:avLst/>
          </a:prstGeom>
          <a:solidFill>
            <a:srgbClr val="3E5E66"/>
          </a:solidFill>
          <a:ln>
            <a:solidFill>
              <a:srgbClr val="3E5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7963" y="2435524"/>
            <a:ext cx="48660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109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1971" y="4315968"/>
            <a:ext cx="358591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24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366" y="2751694"/>
            <a:ext cx="248863" cy="1491121"/>
          </a:xfrm>
          <a:prstGeom prst="rect">
            <a:avLst/>
          </a:prstGeom>
          <a:solidFill>
            <a:srgbClr val="699287"/>
          </a:solidFill>
          <a:ln>
            <a:solidFill>
              <a:srgbClr val="699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30494" y="2587102"/>
            <a:ext cx="48660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99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94502" y="4315968"/>
            <a:ext cx="358591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07408" y="2212848"/>
            <a:ext cx="29626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FREE CASH FLOW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99248" y="2212848"/>
            <a:ext cx="3310128" cy="2395728"/>
          </a:xfrm>
          <a:prstGeom prst="rect">
            <a:avLst/>
          </a:prstGeom>
          <a:solidFill>
            <a:srgbClr val="182C48"/>
          </a:solidFill>
          <a:ln w="7620">
            <a:solidFill>
              <a:srgbClr val="3D4E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8028431" y="2560320"/>
            <a:ext cx="2706624" cy="0"/>
          </a:xfrm>
          <a:prstGeom prst="line">
            <a:avLst/>
          </a:prstGeom>
          <a:ln w="3175">
            <a:solidFill>
              <a:srgbClr val="3D4E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028431" y="3108960"/>
            <a:ext cx="2706624" cy="0"/>
          </a:xfrm>
          <a:prstGeom prst="line">
            <a:avLst/>
          </a:prstGeom>
          <a:ln w="3175">
            <a:solidFill>
              <a:srgbClr val="3D4E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028431" y="3657600"/>
            <a:ext cx="2706624" cy="0"/>
          </a:xfrm>
          <a:prstGeom prst="line">
            <a:avLst/>
          </a:prstGeom>
          <a:ln w="3175">
            <a:solidFill>
              <a:srgbClr val="3D4E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028431" y="4206240"/>
            <a:ext cx="2706624" cy="0"/>
          </a:xfrm>
          <a:prstGeom prst="line">
            <a:avLst/>
          </a:prstGeom>
          <a:ln w="3175">
            <a:solidFill>
              <a:srgbClr val="3D4E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028431" y="2746690"/>
            <a:ext cx="676657" cy="65923"/>
          </a:xfrm>
          <a:prstGeom prst="line">
            <a:avLst/>
          </a:prstGeom>
          <a:ln w="15875">
            <a:solidFill>
              <a:srgbClr val="BC84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705088" y="2746690"/>
            <a:ext cx="676656" cy="202153"/>
          </a:xfrm>
          <a:prstGeom prst="line">
            <a:avLst/>
          </a:prstGeom>
          <a:ln w="15875">
            <a:solidFill>
              <a:srgbClr val="BC84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381744" y="2643776"/>
            <a:ext cx="676656" cy="305067"/>
          </a:xfrm>
          <a:prstGeom prst="line">
            <a:avLst/>
          </a:prstGeom>
          <a:ln w="15875">
            <a:solidFill>
              <a:srgbClr val="BC84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058400" y="2643776"/>
            <a:ext cx="676655" cy="70186"/>
          </a:xfrm>
          <a:prstGeom prst="line">
            <a:avLst/>
          </a:prstGeom>
          <a:ln w="15875">
            <a:solidFill>
              <a:srgbClr val="BC84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7987283" y="2771465"/>
            <a:ext cx="82296" cy="82296"/>
          </a:xfrm>
          <a:prstGeom prst="ellipse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663940" y="2705542"/>
            <a:ext cx="82296" cy="82296"/>
          </a:xfrm>
          <a:prstGeom prst="ellipse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340596" y="2907695"/>
            <a:ext cx="82296" cy="82296"/>
          </a:xfrm>
          <a:prstGeom prst="ellipse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017252" y="2602628"/>
            <a:ext cx="82296" cy="82296"/>
          </a:xfrm>
          <a:prstGeom prst="ellipse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693907" y="2672814"/>
            <a:ext cx="82296" cy="82296"/>
          </a:xfrm>
          <a:prstGeom prst="ellipse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43615" y="2439642"/>
            <a:ext cx="6949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1F3F5"/>
                </a:solidFill>
                <a:latin typeface="Menlo"/>
                <a:ea typeface="Menlo"/>
                <a:cs typeface="Menlo"/>
              </a:rPr>
              <a:t>106.1B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28431" y="4416552"/>
            <a:ext cx="109728" cy="32004"/>
          </a:xfrm>
          <a:prstGeom prst="rect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93023" y="4370832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Capital return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028431" y="3412785"/>
            <a:ext cx="676657" cy="290323"/>
          </a:xfrm>
          <a:prstGeom prst="line">
            <a:avLst/>
          </a:prstGeom>
          <a:ln w="15875">
            <a:solidFill>
              <a:srgbClr val="AE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705088" y="3668959"/>
            <a:ext cx="676656" cy="34149"/>
          </a:xfrm>
          <a:prstGeom prst="line">
            <a:avLst/>
          </a:prstGeom>
          <a:ln w="15875">
            <a:solidFill>
              <a:srgbClr val="AE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381744" y="3668959"/>
            <a:ext cx="676656" cy="17152"/>
          </a:xfrm>
          <a:prstGeom prst="line">
            <a:avLst/>
          </a:prstGeom>
          <a:ln w="15875">
            <a:solidFill>
              <a:srgbClr val="AE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058400" y="3686111"/>
            <a:ext cx="676655" cy="281678"/>
          </a:xfrm>
          <a:prstGeom prst="line">
            <a:avLst/>
          </a:prstGeom>
          <a:ln w="15875">
            <a:solidFill>
              <a:srgbClr val="AE2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7987283" y="3371637"/>
            <a:ext cx="82296" cy="82296"/>
          </a:xfrm>
          <a:prstGeom prst="ellipse">
            <a:avLst/>
          </a:prstGeom>
          <a:solidFill>
            <a:srgbClr val="AE2F44"/>
          </a:solidFill>
          <a:ln>
            <a:solidFill>
              <a:srgbClr val="AE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663940" y="3661960"/>
            <a:ext cx="82296" cy="82296"/>
          </a:xfrm>
          <a:prstGeom prst="ellipse">
            <a:avLst/>
          </a:prstGeom>
          <a:solidFill>
            <a:srgbClr val="AE2F44"/>
          </a:solidFill>
          <a:ln>
            <a:solidFill>
              <a:srgbClr val="AE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340596" y="3627811"/>
            <a:ext cx="82296" cy="82296"/>
          </a:xfrm>
          <a:prstGeom prst="ellipse">
            <a:avLst/>
          </a:prstGeom>
          <a:solidFill>
            <a:srgbClr val="AE2F44"/>
          </a:solidFill>
          <a:ln>
            <a:solidFill>
              <a:srgbClr val="AE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017252" y="3644963"/>
            <a:ext cx="82296" cy="82296"/>
          </a:xfrm>
          <a:prstGeom prst="ellipse">
            <a:avLst/>
          </a:prstGeom>
          <a:solidFill>
            <a:srgbClr val="AE2F44"/>
          </a:solidFill>
          <a:ln>
            <a:solidFill>
              <a:srgbClr val="AE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693907" y="3926641"/>
            <a:ext cx="82296" cy="82296"/>
          </a:xfrm>
          <a:prstGeom prst="ellipse">
            <a:avLst/>
          </a:prstGeom>
          <a:solidFill>
            <a:srgbClr val="AE2F44"/>
          </a:solidFill>
          <a:ln>
            <a:solidFill>
              <a:srgbClr val="AE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643615" y="3693469"/>
            <a:ext cx="6949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F1F3F5"/>
                </a:solidFill>
                <a:latin typeface="Menlo"/>
                <a:ea typeface="Menlo"/>
                <a:cs typeface="Menlo"/>
              </a:rPr>
              <a:t>33.8B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37192" y="4416552"/>
            <a:ext cx="109728" cy="32004"/>
          </a:xfrm>
          <a:prstGeom prst="rect">
            <a:avLst/>
          </a:prstGeom>
          <a:solidFill>
            <a:srgbClr val="AE2F44"/>
          </a:solidFill>
          <a:ln>
            <a:solidFill>
              <a:srgbClr val="AE2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01784" y="4370832"/>
            <a:ext cx="11430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Net cash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18704" y="4151376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21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95360" y="4151376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72016" y="4151376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23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48672" y="4151376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24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25328" y="4151376"/>
            <a:ext cx="21945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0" i="0">
                <a:solidFill>
                  <a:srgbClr val="8994A2"/>
                </a:solidFill>
                <a:latin typeface="Menlo"/>
                <a:ea typeface="Menlo"/>
                <a:cs typeface="Menlo"/>
              </a:rPr>
              <a:t>25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34840" y="4956048"/>
            <a:ext cx="32004" cy="566928"/>
          </a:xfrm>
          <a:prstGeom prst="rect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81144" y="4974336"/>
            <a:ext cx="6382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1F3F5"/>
                </a:solidFill>
                <a:latin typeface="Times New Roman"/>
                <a:ea typeface="Songti SC"/>
                <a:cs typeface="Times New Roman"/>
              </a:rPr>
              <a:t>资本配置口径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81144" y="5312664"/>
            <a:ext cx="638251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99A2AF"/>
                </a:solidFill>
                <a:latin typeface="Helvetica Neue"/>
                <a:ea typeface="Helvetica Neue"/>
                <a:cs typeface="Helvetica Neue"/>
              </a:rPr>
              <a:t>资本回报 = buybacks + dividends；净现金 = cash &amp; marketable securities - total debt。FY2025 净现金仍为正，但较 FY2021 明显收敛。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015984" y="107899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90304" y="107899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64624" y="107899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38944" y="107899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13263" y="107899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87584" y="107899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98863" y="11704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73184" y="11704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47504" y="11704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21824" y="11704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96144" y="11704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07424" y="12618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81744" y="12618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56063" y="12618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30384" y="12618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04704" y="12618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15984" y="13533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90304" y="13533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64624" y="13533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38944" y="13533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113263" y="13533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87584" y="13533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98863" y="144475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73184" y="144475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47504" y="144475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21824" y="144475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296144" y="144475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07424" y="153619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81744" y="153619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56063" y="153619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30384" y="153619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04704" y="153619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15984" y="16276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90304" y="16276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64624" y="16276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38944" y="16276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13263" y="16276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387584" y="16276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98863" y="17190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473184" y="17190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747504" y="17190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021824" y="17190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296144" y="17190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07424" y="18105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81744" y="18105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56063" y="18105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30384" y="18105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204704" y="18105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15984" y="190195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290304" y="190195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564624" y="190195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838944" y="190195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113263" y="190195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387584" y="190195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98863" y="1993391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73184" y="1993391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747504" y="1993391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021824" y="1993391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296144" y="1993391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107424" y="20848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381744" y="20848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656063" y="20848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930384" y="20848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204704" y="20848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15984" y="21762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290304" y="21762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564624" y="21762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838944" y="21762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113263" y="21762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387584" y="21762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98863" y="22677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473184" y="22677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747504" y="22677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021824" y="22677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296144" y="22677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107424" y="235915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381744" y="235915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656063" y="235915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930384" y="235915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204704" y="235915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015984" y="2450591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290304" y="2450591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564624" y="2450591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838944" y="2450591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113263" y="2450591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387584" y="2450591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198863" y="25420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473184" y="25420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747504" y="25420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0021824" y="25420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0296144" y="25420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107424" y="26334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381744" y="26334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656063" y="26334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930384" y="26334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204704" y="26334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015984" y="27249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290304" y="27249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564624" y="27249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838944" y="27249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113263" y="27249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387584" y="27249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98863" y="281635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473184" y="281635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747504" y="281635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021824" y="281635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296144" y="281635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107424" y="2907791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381744" y="2907791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56063" y="2907791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930384" y="2907791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204704" y="2907791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015984" y="29992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290304" y="29992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564624" y="29992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38944" y="29992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113263" y="29992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387584" y="299923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198863" y="30906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473184" y="30906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747504" y="30906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021824" y="30906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296144" y="309067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107424" y="31821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381744" y="31821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656063" y="31821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930384" y="31821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204704" y="3182112"/>
            <a:ext cx="13716" cy="13716"/>
          </a:xfrm>
          <a:prstGeom prst="rect">
            <a:avLst/>
          </a:prstGeom>
          <a:solidFill>
            <a:srgbClr val="CCD1D8"/>
          </a:solidFill>
          <a:ln>
            <a:solidFill>
              <a:srgbClr val="CCD1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12064" y="2926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D8A9C"/>
                </a:solidFill>
                <a:latin typeface="Menlo"/>
                <a:ea typeface="Menlo"/>
                <a:cs typeface="Menlo"/>
              </a:rPr>
              <a:t>DATA PIPELINE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732520" y="29260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D8A9C"/>
                </a:solidFill>
                <a:latin typeface="Menlo"/>
                <a:ea typeface="Menlo"/>
                <a:cs typeface="Menlo"/>
              </a:rPr>
              <a:t>VOL. TEST · 08 / 10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512064" y="6364224"/>
            <a:ext cx="11173968" cy="0"/>
          </a:xfrm>
          <a:prstGeom prst="line">
            <a:avLst/>
          </a:prstGeom>
          <a:ln w="4445">
            <a:solidFill>
              <a:srgbClr val="7D8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512064" y="6455664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7D8A9C"/>
                </a:solidFill>
                <a:latin typeface="Helvetica Neue"/>
                <a:ea typeface="Helvetica Neue"/>
                <a:cs typeface="Helvetica Neue"/>
              </a:rPr>
              <a:t>数据来源：SEC companyfacts、Apple FY2021-FY2025 10-K；金额单位除特别说明外为十亿美元。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321040" y="6455664"/>
            <a:ext cx="3364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7D8A9C"/>
                </a:solidFill>
                <a:latin typeface="Helvetica Neue"/>
                <a:ea typeface="Helvetica Neue"/>
                <a:cs typeface="Helvetica Neue"/>
              </a:rPr>
              <a:t>仅供学术交流与 skill 测试使用，不构成投资建议。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66928" y="713232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27083"/>
                </a:solidFill>
                <a:latin typeface="Menlo"/>
                <a:ea typeface="Menlo"/>
                <a:cs typeface="Menlo"/>
              </a:rPr>
              <a:t>DATA PIPELINE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12064" y="932688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从 SEC 原始披露到页面判断，数据链路必须可复跑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48640" y="1664208"/>
            <a:ext cx="8869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7083"/>
                </a:solidFill>
                <a:latin typeface="Helvetica Neue"/>
                <a:ea typeface="Helvetica Neue"/>
                <a:cs typeface="Helvetica Neue"/>
              </a:rPr>
              <a:t>本页只参考 apple-financial-report-review 的数据管线，不参考旧 PPT 的具体视觉表现。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927080" y="786384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27083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58368" y="2359152"/>
            <a:ext cx="1627632" cy="932688"/>
          </a:xfrm>
          <a:prstGeom prst="rect">
            <a:avLst/>
          </a:prstGeom>
          <a:solidFill>
            <a:srgbClr val="0A1F3D"/>
          </a:solidFill>
          <a:ln w="6350">
            <a:solidFill>
              <a:srgbClr val="C7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49808" y="2450592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844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49808" y="2688336"/>
            <a:ext cx="1444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1F3F5"/>
                </a:solidFill>
                <a:latin typeface="Times New Roman"/>
                <a:ea typeface="Songti SC"/>
                <a:cs typeface="Times New Roman"/>
              </a:rPr>
              <a:t>SEC APIs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49808" y="2980944"/>
            <a:ext cx="1444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ACB3BE"/>
                </a:solidFill>
                <a:latin typeface="Helvetica Neue"/>
                <a:ea typeface="Helvetica Neue"/>
                <a:cs typeface="Helvetica Neue"/>
              </a:rPr>
              <a:t>companyfacts / submissions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2322576" y="2825496"/>
            <a:ext cx="128016" cy="0"/>
          </a:xfrm>
          <a:prstGeom prst="line">
            <a:avLst/>
          </a:prstGeom>
          <a:ln w="10160">
            <a:solidFill>
              <a:srgbClr val="BC84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ectangle 143"/>
          <p:cNvSpPr/>
          <p:nvPr/>
        </p:nvSpPr>
        <p:spPr>
          <a:xfrm>
            <a:off x="2487168" y="2359152"/>
            <a:ext cx="1627632" cy="932688"/>
          </a:xfrm>
          <a:prstGeom prst="rect">
            <a:avLst/>
          </a:prstGeom>
          <a:solidFill>
            <a:srgbClr val="FCFCF9"/>
          </a:solidFill>
          <a:ln w="6350">
            <a:solidFill>
              <a:srgbClr val="C7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578608" y="2450592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844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578608" y="2688336"/>
            <a:ext cx="1444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10-K HTML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578608" y="2980944"/>
            <a:ext cx="1444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36175"/>
                </a:solidFill>
                <a:latin typeface="Helvetica Neue"/>
                <a:ea typeface="Helvetica Neue"/>
                <a:cs typeface="Helvetica Neue"/>
              </a:rPr>
              <a:t>FY2021-FY2025 annual reports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4151376" y="2825496"/>
            <a:ext cx="128016" cy="0"/>
          </a:xfrm>
          <a:prstGeom prst="line">
            <a:avLst/>
          </a:prstGeom>
          <a:ln w="10160">
            <a:solidFill>
              <a:srgbClr val="BC84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ctangle 148"/>
          <p:cNvSpPr/>
          <p:nvPr/>
        </p:nvSpPr>
        <p:spPr>
          <a:xfrm>
            <a:off x="4315968" y="2359152"/>
            <a:ext cx="1627632" cy="932688"/>
          </a:xfrm>
          <a:prstGeom prst="rect">
            <a:avLst/>
          </a:prstGeom>
          <a:solidFill>
            <a:srgbClr val="FCFCF9"/>
          </a:solidFill>
          <a:ln w="6350">
            <a:solidFill>
              <a:srgbClr val="C7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407407" y="2450592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C844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407407" y="2688336"/>
            <a:ext cx="1444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Extract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407407" y="2980944"/>
            <a:ext cx="1444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36175"/>
                </a:solidFill>
                <a:latin typeface="Helvetica Neue"/>
                <a:ea typeface="Helvetica Neue"/>
                <a:cs typeface="Helvetica Neue"/>
              </a:rPr>
              <a:t>segment tables + xbrl fields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5980176" y="2825496"/>
            <a:ext cx="128016" cy="0"/>
          </a:xfrm>
          <a:prstGeom prst="line">
            <a:avLst/>
          </a:prstGeom>
          <a:ln w="10160">
            <a:solidFill>
              <a:srgbClr val="BC84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ectangle 153"/>
          <p:cNvSpPr/>
          <p:nvPr/>
        </p:nvSpPr>
        <p:spPr>
          <a:xfrm>
            <a:off x="6144768" y="2359152"/>
            <a:ext cx="1627632" cy="932688"/>
          </a:xfrm>
          <a:prstGeom prst="rect">
            <a:avLst/>
          </a:prstGeom>
          <a:solidFill>
            <a:srgbClr val="FCFCF9"/>
          </a:solidFill>
          <a:ln w="6350">
            <a:solidFill>
              <a:srgbClr val="C7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236207" y="2450592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99287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236207" y="2688336"/>
            <a:ext cx="1444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Processed CSV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236207" y="2980944"/>
            <a:ext cx="1444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36175"/>
                </a:solidFill>
                <a:latin typeface="Helvetica Neue"/>
                <a:ea typeface="Helvetica Neue"/>
                <a:cs typeface="Helvetica Neue"/>
              </a:rPr>
              <a:t>financials / products / regions / margins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7808975" y="2825496"/>
            <a:ext cx="128017" cy="0"/>
          </a:xfrm>
          <a:prstGeom prst="line">
            <a:avLst/>
          </a:prstGeom>
          <a:ln w="10160">
            <a:solidFill>
              <a:srgbClr val="BC84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ctangle 158"/>
          <p:cNvSpPr/>
          <p:nvPr/>
        </p:nvSpPr>
        <p:spPr>
          <a:xfrm>
            <a:off x="7973568" y="2359152"/>
            <a:ext cx="1627632" cy="932688"/>
          </a:xfrm>
          <a:prstGeom prst="rect">
            <a:avLst/>
          </a:prstGeom>
          <a:solidFill>
            <a:srgbClr val="FCFCF9"/>
          </a:solidFill>
          <a:ln w="6350">
            <a:solidFill>
              <a:srgbClr val="C7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065008" y="2450592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99287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065008" y="2688336"/>
            <a:ext cx="1444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Narrative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065008" y="2980944"/>
            <a:ext cx="1444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536175"/>
                </a:solidFill>
                <a:latin typeface="Helvetica Neue"/>
                <a:ea typeface="Helvetica Neue"/>
                <a:cs typeface="Helvetica Neue"/>
              </a:rPr>
              <a:t>brief + slide contracts + asset slots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9637776" y="2825496"/>
            <a:ext cx="128016" cy="0"/>
          </a:xfrm>
          <a:prstGeom prst="line">
            <a:avLst/>
          </a:prstGeom>
          <a:ln w="10160">
            <a:solidFill>
              <a:srgbClr val="BC84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Rectangle 163"/>
          <p:cNvSpPr/>
          <p:nvPr/>
        </p:nvSpPr>
        <p:spPr>
          <a:xfrm>
            <a:off x="9802368" y="2359152"/>
            <a:ext cx="1627632" cy="932688"/>
          </a:xfrm>
          <a:prstGeom prst="rect">
            <a:avLst/>
          </a:prstGeom>
          <a:solidFill>
            <a:srgbClr val="0A1F3D"/>
          </a:solidFill>
          <a:ln w="6350">
            <a:solidFill>
              <a:srgbClr val="C7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9893808" y="2450592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99287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893808" y="2688336"/>
            <a:ext cx="1444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1F3F5"/>
                </a:solidFill>
                <a:latin typeface="Times New Roman"/>
                <a:ea typeface="Songti SC"/>
                <a:cs typeface="Times New Roman"/>
              </a:rPr>
              <a:t>Native PPTX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893808" y="2980944"/>
            <a:ext cx="14447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ACB3BE"/>
                </a:solidFill>
                <a:latin typeface="Helvetica Neue"/>
                <a:ea typeface="Helvetica Neue"/>
                <a:cs typeface="Helvetica Neue"/>
              </a:rPr>
              <a:t>editable shapes + tables + validation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13232" y="4069080"/>
            <a:ext cx="32004" cy="749808"/>
          </a:xfrm>
          <a:prstGeom prst="rect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859536" y="4087368"/>
            <a:ext cx="47091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正确地失败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59536" y="4425696"/>
            <a:ext cx="4709159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27083"/>
                </a:solidFill>
                <a:latin typeface="Helvetica Neue"/>
                <a:ea typeface="Helvetica Neue"/>
                <a:cs typeface="Helvetica Neue"/>
              </a:rPr>
              <a:t>数据管线只复用本地已有 CSV 与来源记录。若数据文件缺失、字段缺失或导出失败，脚本应直接暴露错误，不用占位数字伪装成功。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126480" y="4069080"/>
            <a:ext cx="32004" cy="749808"/>
          </a:xfrm>
          <a:prstGeom prst="rect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272784" y="4087368"/>
            <a:ext cx="47091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风格迁移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272784" y="4425696"/>
            <a:ext cx="4709159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27083"/>
                </a:solidFill>
                <a:latin typeface="Helvetica Neue"/>
                <a:ea typeface="Helvetica Neue"/>
                <a:cs typeface="Helvetica Neue"/>
              </a:rPr>
              <a:t>HTML 中的 WebGL 背景被替换为 PowerPoint 原生椭圆、线条与点阵；页面内容仍保持可编辑和可结构检查。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914400"/>
            <a:ext cx="6035040" cy="5669280"/>
          </a:xfrm>
          <a:prstGeom prst="ellipse">
            <a:avLst/>
          </a:prstGeom>
          <a:noFill/>
          <a:ln w="12700">
            <a:solidFill>
              <a:srgbClr val="D3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949440" y="-1280160"/>
            <a:ext cx="6492240" cy="5852160"/>
          </a:xfrm>
          <a:prstGeom prst="ellipse">
            <a:avLst/>
          </a:prstGeom>
          <a:noFill/>
          <a:ln w="10160">
            <a:solidFill>
              <a:srgbClr val="D3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23360" y="3017520"/>
            <a:ext cx="8046720" cy="5303520"/>
          </a:xfrm>
          <a:prstGeom prst="ellipse">
            <a:avLst/>
          </a:prstGeom>
          <a:noFill/>
          <a:ln w="8890">
            <a:solidFill>
              <a:srgbClr val="D3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4114800"/>
            <a:ext cx="4937760" cy="3474720"/>
          </a:xfrm>
          <a:prstGeom prst="ellipse">
            <a:avLst/>
          </a:prstGeom>
          <a:noFill/>
          <a:ln w="6985">
            <a:solidFill>
              <a:srgbClr val="D3D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18120" y="320040"/>
            <a:ext cx="2926080" cy="2377440"/>
          </a:xfrm>
          <a:prstGeom prst="ellipse">
            <a:avLst/>
          </a:prstGeom>
          <a:noFill/>
          <a:ln w="6985">
            <a:solidFill>
              <a:srgbClr val="DBC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82712" y="418795"/>
            <a:ext cx="2926080" cy="2377440"/>
          </a:xfrm>
          <a:prstGeom prst="ellipse">
            <a:avLst/>
          </a:prstGeom>
          <a:noFill/>
          <a:ln w="6985">
            <a:solidFill>
              <a:srgbClr val="DBC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65592" y="528523"/>
            <a:ext cx="2926080" cy="2377440"/>
          </a:xfrm>
          <a:prstGeom prst="ellipse">
            <a:avLst/>
          </a:prstGeom>
          <a:noFill/>
          <a:ln w="6985">
            <a:solidFill>
              <a:srgbClr val="DBC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2926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D8A9C"/>
                </a:solidFill>
                <a:latin typeface="Menlo"/>
                <a:ea typeface="Menlo"/>
                <a:cs typeface="Menlo"/>
              </a:rPr>
              <a:t>NEXT VARIABLES / AFTER FY2025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9260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D8A9C"/>
                </a:solidFill>
                <a:latin typeface="Menlo"/>
                <a:ea typeface="Menlo"/>
                <a:cs typeface="Menlo"/>
              </a:rPr>
              <a:t>WATCHLIST · 09 / 10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2064" y="6364224"/>
            <a:ext cx="11173968" cy="0"/>
          </a:xfrm>
          <a:prstGeom prst="line">
            <a:avLst/>
          </a:prstGeom>
          <a:ln w="4445">
            <a:solidFill>
              <a:srgbClr val="7D8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12064" y="6455664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7D8A9C"/>
                </a:solidFill>
                <a:latin typeface="Helvetica Neue"/>
                <a:ea typeface="Helvetica Neue"/>
                <a:cs typeface="Helvetica Neue"/>
              </a:rPr>
              <a:t>数据来源：SEC companyfacts、Apple FY2021-FY2025 10-K；金额单位除特别说明外为十亿美元。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6455664"/>
            <a:ext cx="3364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7D8A9C"/>
                </a:solidFill>
                <a:latin typeface="Helvetica Neue"/>
                <a:ea typeface="Helvetica Neue"/>
                <a:cs typeface="Helvetica Neue"/>
              </a:rPr>
              <a:t>仅供学术交流与 skill 测试使用，不构成投资建议。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868680"/>
            <a:ext cx="475488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1847088"/>
            <a:ext cx="65836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3E5B"/>
                </a:solidFill>
                <a:latin typeface="Times New Roman"/>
                <a:ea typeface="Songti SC"/>
                <a:cs typeface="Times New Roman"/>
              </a:rPr>
              <a:t>财务质量已经修复，再加速要看 AI 终端、服务生态与区域竞争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926080"/>
            <a:ext cx="3182112" cy="1554480"/>
          </a:xfrm>
          <a:prstGeom prst="rect">
            <a:avLst/>
          </a:prstGeom>
          <a:solidFill>
            <a:srgbClr val="FCFCF9"/>
          </a:solidFill>
          <a:ln w="6350">
            <a:solidFill>
              <a:srgbClr val="C7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090672"/>
            <a:ext cx="4937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C844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493008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AI 终端换机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3877056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93E5B"/>
                </a:solidFill>
                <a:latin typeface="Helvetica Neue"/>
                <a:ea typeface="Helvetica Neue"/>
                <a:cs typeface="Helvetica Neue"/>
              </a:rPr>
              <a:t>是否能把 AI 功能转化为硬件换机理由，而不是只停留在软件层体验。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98264" y="2926080"/>
            <a:ext cx="3182112" cy="1554480"/>
          </a:xfrm>
          <a:prstGeom prst="rect">
            <a:avLst/>
          </a:prstGeom>
          <a:solidFill>
            <a:srgbClr val="FCFCF9"/>
          </a:solidFill>
          <a:ln w="6350">
            <a:solidFill>
              <a:srgbClr val="C7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3090672"/>
            <a:ext cx="4937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99287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3493008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Services monetization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3877056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93E5B"/>
                </a:solidFill>
                <a:latin typeface="Helvetica Neue"/>
                <a:ea typeface="Helvetica Neue"/>
                <a:cs typeface="Helvetica Neue"/>
              </a:rPr>
              <a:t>高毛利 Services 能否继续增长，同时处理 App Store、订阅和监管压力。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83296" y="2926080"/>
            <a:ext cx="3182112" cy="1554480"/>
          </a:xfrm>
          <a:prstGeom prst="rect">
            <a:avLst/>
          </a:prstGeom>
          <a:solidFill>
            <a:srgbClr val="FCFCF9"/>
          </a:solidFill>
          <a:ln w="6350">
            <a:solidFill>
              <a:srgbClr val="C7CD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090672"/>
            <a:ext cx="4937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E2F4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493008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区域竞争与监管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877056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93E5B"/>
                </a:solidFill>
                <a:latin typeface="Helvetica Neue"/>
                <a:ea typeface="Helvetica Neue"/>
                <a:cs typeface="Helvetica Neue"/>
              </a:rPr>
              <a:t>Greater China、欧盟监管、供应链与汇率共同决定增长质量和风险折价。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5472" y="1115568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BC844F"/>
                </a:solidFill>
                <a:latin typeface="Times New Roman"/>
                <a:ea typeface="Songti SC"/>
                <a:cs typeface="Times New Roman"/>
              </a:rPr>
              <a:t>Research frame, not rating.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92608"/>
            <a:ext cx="4937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D8A9C"/>
                </a:solidFill>
                <a:latin typeface="Menlo"/>
                <a:ea typeface="Menlo"/>
                <a:cs typeface="Menlo"/>
              </a:rPr>
              <a:t>SOURCES /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29260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D8A9C"/>
                </a:solidFill>
                <a:latin typeface="Menlo"/>
                <a:ea typeface="Menlo"/>
                <a:cs typeface="Menlo"/>
              </a:rPr>
              <a:t>VOL. TEST · 10 / 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12064" y="6364224"/>
            <a:ext cx="11173968" cy="0"/>
          </a:xfrm>
          <a:prstGeom prst="line">
            <a:avLst/>
          </a:prstGeom>
          <a:ln w="4445">
            <a:solidFill>
              <a:srgbClr val="7D8A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12064" y="6455664"/>
            <a:ext cx="7132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7D8A9C"/>
                </a:solidFill>
                <a:latin typeface="Helvetica Neue"/>
                <a:ea typeface="Helvetica Neue"/>
                <a:cs typeface="Helvetica Neue"/>
              </a:rPr>
              <a:t>数据来源：SEC companyfacts、Apple FY2021-FY2025 10-K；金额单位除特别说明外为十亿美元。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6455664"/>
            <a:ext cx="33649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i="0">
                <a:solidFill>
                  <a:srgbClr val="7D8A9C"/>
                </a:solidFill>
                <a:latin typeface="Helvetica Neue"/>
                <a:ea typeface="Helvetica Neue"/>
                <a:cs typeface="Helvetica Neue"/>
              </a:rPr>
              <a:t>仅供学术交流与 skill 测试使用，不构成投资建议。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13232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627083"/>
                </a:solidFill>
                <a:latin typeface="Menlo"/>
                <a:ea typeface="Menlo"/>
                <a:cs typeface="Menlo"/>
              </a:rPr>
              <a:t>SOURCES /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932688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来源、口径与风险声明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64208"/>
            <a:ext cx="8869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7083"/>
                </a:solidFill>
                <a:latin typeface="Helvetica Neue"/>
                <a:ea typeface="Helvetica Neue"/>
                <a:cs typeface="Helvetica Neue"/>
              </a:rPr>
              <a:t>本材料仅供学术交流和 skill 测试使用，不构成投资建议。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786384"/>
            <a:ext cx="658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27083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84831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已下载 10-K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2359152"/>
          <a:ext cx="4736591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050"/>
                <a:gridCol w="1989368"/>
                <a:gridCol w="1705173"/>
              </a:tblGrid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 i="0">
                          <a:solidFill>
                            <a:srgbClr val="F1F3F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FY</a:t>
                      </a:r>
                    </a:p>
                  </a:txBody>
                  <a:tcPr anchor="ctr"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 i="0">
                          <a:solidFill>
                            <a:srgbClr val="F1F3F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Filed</a:t>
                      </a:r>
                    </a:p>
                  </a:txBody>
                  <a:tcPr anchor="ctr"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 i="0">
                          <a:solidFill>
                            <a:srgbClr val="F1F3F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Accession</a:t>
                      </a:r>
                    </a:p>
                  </a:txBody>
                  <a:tcPr anchor="ctr">
                    <a:solidFill>
                      <a:srgbClr val="0A1F3D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FY2025</a:t>
                      </a:r>
                    </a:p>
                  </a:txBody>
                  <a:tcPr anchor="ctr">
                    <a:solidFill>
                      <a:srgbClr val="FCFC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2025-10-31</a:t>
                      </a:r>
                    </a:p>
                  </a:txBody>
                  <a:tcPr anchor="ctr">
                    <a:solidFill>
                      <a:srgbClr val="FCFC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0000320193-25-000079</a:t>
                      </a:r>
                    </a:p>
                  </a:txBody>
                  <a:tcPr anchor="ctr">
                    <a:solidFill>
                      <a:srgbClr val="FCFCF9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FY2024</a:t>
                      </a:r>
                    </a:p>
                  </a:txBody>
                  <a:tcPr anchor="ctr"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2024-11-01</a:t>
                      </a:r>
                    </a:p>
                  </a:txBody>
                  <a:tcPr anchor="ctr"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0000320193-24-000123</a:t>
                      </a:r>
                    </a:p>
                  </a:txBody>
                  <a:tcPr anchor="ctr">
                    <a:solidFill>
                      <a:srgbClr val="ECEFF2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FY2023</a:t>
                      </a:r>
                    </a:p>
                  </a:txBody>
                  <a:tcPr anchor="ctr">
                    <a:solidFill>
                      <a:srgbClr val="FCFC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2023-11-03</a:t>
                      </a:r>
                    </a:p>
                  </a:txBody>
                  <a:tcPr anchor="ctr">
                    <a:solidFill>
                      <a:srgbClr val="FCFC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0000320193-23-000106</a:t>
                      </a:r>
                    </a:p>
                  </a:txBody>
                  <a:tcPr anchor="ctr">
                    <a:solidFill>
                      <a:srgbClr val="FCFCF9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FY2022</a:t>
                      </a:r>
                    </a:p>
                  </a:txBody>
                  <a:tcPr anchor="ctr"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2022-10-28</a:t>
                      </a:r>
                    </a:p>
                  </a:txBody>
                  <a:tcPr anchor="ctr"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0000320193-22-000108</a:t>
                      </a:r>
                    </a:p>
                  </a:txBody>
                  <a:tcPr anchor="ctr">
                    <a:solidFill>
                      <a:srgbClr val="ECEFF2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FY2021</a:t>
                      </a:r>
                    </a:p>
                  </a:txBody>
                  <a:tcPr anchor="ctr">
                    <a:solidFill>
                      <a:srgbClr val="FCFC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2021-10-29</a:t>
                      </a:r>
                    </a:p>
                  </a:txBody>
                  <a:tcPr anchor="ctr">
                    <a:solidFill>
                      <a:srgbClr val="FCFC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0000320193-21-000105</a:t>
                      </a:r>
                    </a:p>
                  </a:txBody>
                  <a:tcPr anchor="ctr">
                    <a:solidFill>
                      <a:srgbClr val="FCFCF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989320" y="2084831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风险矩阵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89320" y="2359152"/>
          <a:ext cx="521207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657"/>
                <a:gridCol w="2189073"/>
                <a:gridCol w="1876348"/>
              </a:tblGrid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 i="0">
                          <a:solidFill>
                            <a:srgbClr val="F1F3F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类型</a:t>
                      </a:r>
                    </a:p>
                  </a:txBody>
                  <a:tcPr anchor="ctr"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 i="0">
                          <a:solidFill>
                            <a:srgbClr val="F1F3F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说明</a:t>
                      </a:r>
                    </a:p>
                  </a:txBody>
                  <a:tcPr anchor="ctr"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20" b="1" i="0">
                          <a:solidFill>
                            <a:srgbClr val="F1F3F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口径</a:t>
                      </a:r>
                    </a:p>
                  </a:txBody>
                  <a:tcPr anchor="ctr">
                    <a:solidFill>
                      <a:srgbClr val="0A1F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经营</a:t>
                      </a:r>
                    </a:p>
                  </a:txBody>
                  <a:tcPr anchor="ctr">
                    <a:solidFill>
                      <a:srgbClr val="FCFC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产品创新节奏、硬件换机周期、Services 增速与生态抽成变化</a:t>
                      </a:r>
                    </a:p>
                  </a:txBody>
                  <a:tcPr anchor="ctr">
                    <a:solidFill>
                      <a:srgbClr val="FCFC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需持续跟踪</a:t>
                      </a:r>
                    </a:p>
                  </a:txBody>
                  <a:tcPr anchor="ctr">
                    <a:solidFill>
                      <a:srgbClr val="FCFC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区域</a:t>
                      </a:r>
                    </a:p>
                  </a:txBody>
                  <a:tcPr anchor="ctr"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Greater China 需求、竞争格局、渠道库存与宏观消费</a:t>
                      </a:r>
                    </a:p>
                  </a:txBody>
                  <a:tcPr anchor="ctr"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需持续跟踪</a:t>
                      </a:r>
                    </a:p>
                  </a:txBody>
                  <a:tcPr anchor="ctr">
                    <a:solidFill>
                      <a:srgbClr val="ECEF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监管</a:t>
                      </a:r>
                    </a:p>
                  </a:txBody>
                  <a:tcPr anchor="ctr">
                    <a:solidFill>
                      <a:srgbClr val="FCFC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 Store、数据隐私、反垄断、税务与跨境业务约束</a:t>
                      </a:r>
                    </a:p>
                  </a:txBody>
                  <a:tcPr anchor="ctr">
                    <a:solidFill>
                      <a:srgbClr val="FCFC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需持续跟踪</a:t>
                      </a:r>
                    </a:p>
                  </a:txBody>
                  <a:tcPr anchor="ctr">
                    <a:solidFill>
                      <a:srgbClr val="FCFC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财务</a:t>
                      </a:r>
                    </a:p>
                  </a:txBody>
                  <a:tcPr anchor="ctr"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汇率、资本回报节奏、利率、供应链成本和市场估值波动</a:t>
                      </a:r>
                    </a:p>
                  </a:txBody>
                  <a:tcPr anchor="ctr">
                    <a:solidFill>
                      <a:srgbClr val="ECEF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0" i="0">
                          <a:solidFill>
                            <a:srgbClr val="0A1F3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需持续跟踪</a:t>
                      </a:r>
                    </a:p>
                  </a:txBody>
                  <a:tcPr anchor="ctr">
                    <a:solidFill>
                      <a:srgbClr val="ECEFF2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58368" y="4370832"/>
            <a:ext cx="32004" cy="749808"/>
          </a:xfrm>
          <a:prstGeom prst="rect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38912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数据边界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727448"/>
            <a:ext cx="457200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27083"/>
                </a:solidFill>
                <a:latin typeface="Helvetica Neue"/>
                <a:ea typeface="Helvetica Neue"/>
                <a:cs typeface="Helvetica Neue"/>
              </a:rPr>
              <a:t>核心三表数据来自 SEC companyfacts；产品线、地区与毛利率来自 Apple 10-K HTML 表格抽取。金额默认单位为十亿美元。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4370832"/>
            <a:ext cx="32004" cy="749808"/>
          </a:xfrm>
          <a:prstGeom prst="rect">
            <a:avLst/>
          </a:prstGeom>
          <a:solidFill>
            <a:srgbClr val="BC844F"/>
          </a:solidFill>
          <a:ln>
            <a:solidFill>
              <a:srgbClr val="BC8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5624" y="438912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A1F3D"/>
                </a:solidFill>
                <a:latin typeface="Times New Roman"/>
                <a:ea typeface="Songti SC"/>
                <a:cs typeface="Times New Roman"/>
              </a:rPr>
              <a:t>免责声明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5624" y="4727448"/>
            <a:ext cx="502920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27083"/>
                </a:solidFill>
                <a:latin typeface="Helvetica Neue"/>
                <a:ea typeface="Helvetica Neue"/>
                <a:cs typeface="Helvetica Neue"/>
              </a:rPr>
              <a:t>本 deck 是原生 PPTX 构建与视觉风格迁移测试，不代表任何组织机构，机构和个人的观点和立场，不构成投资建议、评级或目标价。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ns1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10</Slides>
  <Notes>0</Notes>
  <HiddenSlides>0</HiddenSlides>
  <MMClips>0</MMClips>
  <ScaleCrop>false</ScaleCrop>
  <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HeadingPairs>
  <TitlesOfParts>
    <ns1:vector size="1" baseType="lpstr">
      <ns1:lpstr>Office Theme</ns1:lpstr>
    </ns1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