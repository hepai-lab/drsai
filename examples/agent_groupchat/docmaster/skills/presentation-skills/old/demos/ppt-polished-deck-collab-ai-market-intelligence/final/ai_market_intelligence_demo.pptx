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Compute + Models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118</c:v>
                </c:pt>
                <c:pt idx="2">
                  <c:v>146</c:v>
                </c:pt>
                <c:pt idx="3">
                  <c:v>182</c:v>
                </c:pt>
                <c:pt idx="4">
                  <c:v>218</c:v>
                </c:pt>
                <c:pt idx="5">
                  <c:v>246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Tools + Orchestration</c:v>
                </c:pt>
              </c:strCache>
            </c:strRef>
          </c:tx>
          <c:spPr>
            <a:solidFill>
              <a:srgbClr val="0D9488"/>
            </a:solidFill>
            <a:ln>
              <a:solidFill>
                <a:srgbClr val="0D948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46</c:v>
                </c:pt>
                <c:pt idx="2">
                  <c:v>74</c:v>
                </c:pt>
                <c:pt idx="3">
                  <c:v>112</c:v>
                </c:pt>
                <c:pt idx="4">
                  <c:v>156</c:v>
                </c:pt>
                <c:pt idx="5">
                  <c:v>205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Applications + Services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35</c:v>
                </c:pt>
                <c:pt idx="1">
                  <c:v>61</c:v>
                </c:pt>
                <c:pt idx="2">
                  <c:v>100</c:v>
                </c:pt>
                <c:pt idx="3">
                  <c:v>196</c:v>
                </c:pt>
                <c:pt idx="4">
                  <c:v>316</c:v>
                </c:pt>
                <c:pt idx="5">
                  <c:v>439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7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Infra + Models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2026E</c:v>
                </c:pt>
                <c:pt idx="2">
                  <c:v>2028E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0.39</c:v>
                </c:pt>
                <c:pt idx="2">
                  <c:v>0.24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Tools + Control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2026E</c:v>
                </c:pt>
                <c:pt idx="2">
                  <c:v>2028E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0.27</c:v>
                </c:pt>
                <c:pt idx="2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Apps + Services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2026E</c:v>
                </c:pt>
                <c:pt idx="2">
                  <c:v>2028E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0.18</c:v>
                </c:pt>
                <c:pt idx="1">
                  <c:v>0.34</c:v>
                </c:pt>
                <c:pt idx="2">
                  <c:v>0.56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39466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5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AI value capture is moving from foundation-model capex to workflow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Capital still scales the supply stack, but durable profit pools shift toward workflow owners.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0" y="859536"/>
            <a:ext cx="1115568" cy="20116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Executive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6400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542"/>
                </a:solidFill>
                <a:latin typeface="Aptos"/>
              </a:defRPr>
            </a:pPr>
            <a:r>
              <a:t>The next AI winners will monetize workflows, not just model access.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800" b="0">
                <a:solidFill>
                  <a:srgbClr val="172542"/>
                </a:solidFill>
                <a:latin typeface="Aptos"/>
              </a:defRPr>
            </a:pPr>
            <a:r>
              <a:t>Supply-side capex remains necessary, but durable profit pools accrue where inference, domain data, governance and distribution reinforce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79792" y="1426464"/>
            <a:ext cx="6437376" cy="5084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479792" y="1097280"/>
            <a:ext cx="2192731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Where value is moving</a:t>
            </a:r>
          </a:p>
        </p:txBody>
      </p:sp>
      <p:pic>
        <p:nvPicPr>
          <p:cNvPr id="9" name="Picture 8" descr="hero_ai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9" y="1862050"/>
            <a:ext cx="6217920" cy="39568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19" y="6217919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3738D"/>
                </a:solidFill>
              </a:defRPr>
            </a:pPr>
            <a:r>
              <a:t>Generated locally inside the workspace to cover the image-hero route.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44368"/>
            <a:ext cx="296265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090672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8720" y="3072384"/>
            <a:ext cx="2322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Revenue CAGR (2023-2028E)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64992"/>
            <a:ext cx="26426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72542"/>
                </a:solidFill>
                <a:latin typeface="Aptos"/>
              </a:defRPr>
            </a:pPr>
            <a:r>
              <a:t>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67328"/>
            <a:ext cx="26426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Revenue scales from $155B to $890B.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2944368"/>
            <a:ext cx="296265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B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3" y="3090672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7679" y="3072384"/>
            <a:ext cx="2322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Downstream EBIT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3" y="3364992"/>
            <a:ext cx="26426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72542"/>
                </a:solidFill>
                <a:latin typeface="Aptos"/>
              </a:defRPr>
            </a:pPr>
            <a:r>
              <a:t>56%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3767328"/>
            <a:ext cx="26426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Most profit lands in apps and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72000"/>
            <a:ext cx="296265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718304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8720" y="4700016"/>
            <a:ext cx="2322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Inference Cost Decline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992624"/>
            <a:ext cx="26426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72542"/>
                </a:solidFill>
                <a:latin typeface="Aptos"/>
              </a:defRPr>
            </a:pPr>
            <a:r>
              <a:t>68%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394960"/>
            <a:ext cx="26426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Cheaper inference unlocks more workflows.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22191" y="4572000"/>
            <a:ext cx="296265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ircles-rel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783" y="4718304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97679" y="4700016"/>
            <a:ext cx="2322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Budget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3" y="4992624"/>
            <a:ext cx="26426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72542"/>
                </a:solidFill>
                <a:latin typeface="Aptos"/>
              </a:defRPr>
            </a:pPr>
            <a:r>
              <a:t>61%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5394960"/>
            <a:ext cx="26426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Five workflows absorb most 2026 buying intent.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Illustrative market view for skill demo only. Data is fabricated but internally consistent.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Revenue scales fast, while profit pools migrate downstream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The sector keeps growing, but the best economics migrate from model supply to application monetization.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527280" y="859536"/>
            <a:ext cx="1389888" cy="20116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2638"/>
                </a:solidFill>
                <a:latin typeface="Aptos"/>
              </a:defRPr>
            </a:pPr>
            <a:r>
              <a:t>Market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6510528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1133856"/>
            <a:ext cx="2595067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Revenue by stack layer,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572768"/>
          <a:ext cx="6291072" cy="26334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479792" y="1463040"/>
            <a:ext cx="643737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479792" y="1133856"/>
            <a:ext cx="3641140" cy="2926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EBIT pool migration, % of industry EBIT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589519" y="1572768"/>
          <a:ext cx="6217920" cy="26334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13232" y="4590288"/>
            <a:ext cx="3931920" cy="1389888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719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-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7365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144" y="4700016"/>
            <a:ext cx="3383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Revenue CAGR 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974336"/>
            <a:ext cx="36576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Revenue expands around 6x as pilots turn into funded programs.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590288"/>
            <a:ext cx="3931920" cy="1389888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62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4736592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76672" y="4700016"/>
            <a:ext cx="3383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Apps/services EBIT share 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4974336"/>
            <a:ext cx="36576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Profit shifts toward recurring workflow software and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4590288"/>
            <a:ext cx="3931920" cy="1389888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8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4736592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0" y="4700016"/>
            <a:ext cx="3383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Cost curves unlock new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4974336"/>
            <a:ext cx="36576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Cheaper inference lets more workflows clear ROI.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Editable native charts are used intentionally here to preserve post-handoff data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Enterprise demand is broad, but monetization concentrates in budget-rich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The early revenue pool is driven by a narrow set of workflows with budget authority and clear ROI owners.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65608" y="859536"/>
            <a:ext cx="1051560" cy="20116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2638"/>
                </a:solidFill>
                <a:latin typeface="Aptos"/>
              </a:defRPr>
            </a:pPr>
            <a:r>
              <a:t>Demand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6510528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9C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1133856"/>
            <a:ext cx="3802075" cy="2926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2026 enterprise AI budget by workflow, $B</a:t>
            </a:r>
          </a:p>
        </p:txBody>
      </p:sp>
      <p:pic>
        <p:nvPicPr>
          <p:cNvPr id="8" name="Picture 7" descr="enterprise_budget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600" y="1572768"/>
            <a:ext cx="5359790" cy="2322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968496"/>
            <a:ext cx="62910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3738D"/>
                </a:solidFill>
              </a:defRPr>
            </a:pPr>
            <a:r>
              <a:t>Budget authority is concentrated in workflows with labor substitution or risk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9792" y="1463040"/>
            <a:ext cx="643737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08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479792" y="1133856"/>
            <a:ext cx="3802075" cy="2926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Adoption intensity by sector and use case</a:t>
            </a:r>
          </a:p>
        </p:txBody>
      </p:sp>
      <p:pic>
        <p:nvPicPr>
          <p:cNvPr id="12" name="Picture 11" descr="sector_adop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584" y="1572768"/>
            <a:ext cx="5359790" cy="2322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19" y="396849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3738D"/>
                </a:solidFill>
              </a:defRPr>
            </a:pPr>
            <a:r>
              <a:t>Adoption is broad, but the monetization path differs sharply by sector and workflow owner.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828032"/>
            <a:ext cx="1320393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6E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13232" y="4498848"/>
            <a:ext cx="2514600" cy="2926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Why spending concentrates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37760"/>
            <a:ext cx="1271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1. Budget-rich functions buy first: support, software delivery, risk and sales productivity have clear owners and measurable ROI.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2. Cross-functional use cases adopt broadly, but broad adoption does not automatically create a monetization wedge.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3. This is why the winning product is usually a workflow package with integration, guardrails and change management baked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This page uses Python figure assets to preserve information density that would be awkward in native Office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Control points sit where model capability, proprietary data and distribution create feedback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The winning layer is the one that compounds model access with enterprise data, governance and user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454128" y="859536"/>
            <a:ext cx="1463040" cy="2011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Control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08176"/>
            <a:ext cx="9564624" cy="5568696"/>
          </a:xfrm>
          <a:prstGeom prst="rect">
            <a:avLst/>
          </a:prstGeom>
          <a:solidFill>
            <a:srgbClr val="FFFFFF"/>
          </a:solidFill>
          <a:ln w="1270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1078992"/>
            <a:ext cx="2353665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AI industry control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3888" y="1408176"/>
            <a:ext cx="3383280" cy="5568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533888" y="1078992"/>
            <a:ext cx="2192731" cy="29260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Economic implications</a:t>
            </a:r>
          </a:p>
        </p:txBody>
      </p:sp>
      <p:pic>
        <p:nvPicPr>
          <p:cNvPr id="10" name="Picture 9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1719072"/>
            <a:ext cx="237744" cy="237744"/>
          </a:xfrm>
          <a:prstGeom prst="rect">
            <a:avLst/>
          </a:prstGeom>
        </p:spPr>
      </p:pic>
      <p:pic>
        <p:nvPicPr>
          <p:cNvPr id="11" name="Picture 10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1719072"/>
            <a:ext cx="237744" cy="237744"/>
          </a:xfrm>
          <a:prstGeom prst="rect">
            <a:avLst/>
          </a:prstGeom>
        </p:spPr>
      </p:pic>
      <p:pic>
        <p:nvPicPr>
          <p:cNvPr id="12" name="Picture 11" descr="circles-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719072"/>
            <a:ext cx="237744" cy="237744"/>
          </a:xfrm>
          <a:prstGeom prst="rect">
            <a:avLst/>
          </a:prstGeom>
        </p:spPr>
      </p:pic>
      <p:pic>
        <p:nvPicPr>
          <p:cNvPr id="13" name="Picture 12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719072"/>
            <a:ext cx="237744" cy="237744"/>
          </a:xfrm>
          <a:prstGeom prst="rect">
            <a:avLst/>
          </a:prstGeom>
        </p:spPr>
      </p:pic>
      <p:pic>
        <p:nvPicPr>
          <p:cNvPr id="14" name="Picture 13" descr="presen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3" y="1719072"/>
            <a:ext cx="237744" cy="237744"/>
          </a:xfrm>
          <a:prstGeom prst="rect">
            <a:avLst/>
          </a:prstGeom>
        </p:spPr>
      </p:pic>
      <p:sp>
        <p:nvSpPr>
          <p:cNvPr id="15" name="Compute Fabric"/>
          <p:cNvSpPr/>
          <p:nvPr/>
        </p:nvSpPr>
        <p:spPr>
          <a:xfrm>
            <a:off x="1005840" y="2011680"/>
            <a:ext cx="1261872" cy="768096"/>
          </a:xfrm>
          <a:prstGeom prst="roundRect">
            <a:avLst/>
          </a:prstGeom>
          <a:solidFill>
            <a:srgbClr val="D8E3FB"/>
          </a:solidFill>
          <a:ln w="15875">
            <a:solidFill>
              <a:srgbClr val="628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Compute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Fabric</a:t>
            </a:r>
          </a:p>
        </p:txBody>
      </p:sp>
      <p:sp>
        <p:nvSpPr>
          <p:cNvPr id="16" name="Foundation Models"/>
          <p:cNvSpPr/>
          <p:nvPr/>
        </p:nvSpPr>
        <p:spPr>
          <a:xfrm>
            <a:off x="2724912" y="2011680"/>
            <a:ext cx="1316736" cy="768096"/>
          </a:xfrm>
          <a:prstGeom prst="roundRect">
            <a:avLst/>
          </a:prstGeom>
          <a:solidFill>
            <a:srgbClr val="D3ECEA"/>
          </a:solidFill>
          <a:ln w="15875">
            <a:solidFill>
              <a:srgbClr val="51B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Foundation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7" name="Agent Control Layer"/>
          <p:cNvSpPr/>
          <p:nvPr/>
        </p:nvSpPr>
        <p:spPr>
          <a:xfrm>
            <a:off x="4526280" y="2011680"/>
            <a:ext cx="1463040" cy="768096"/>
          </a:xfrm>
          <a:prstGeom prst="roundRect">
            <a:avLst/>
          </a:prstGeom>
          <a:solidFill>
            <a:srgbClr val="E7DCFC"/>
          </a:solidFill>
          <a:ln w="15875">
            <a:solidFill>
              <a:srgbClr val="A17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Agent Control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Layer</a:t>
            </a:r>
          </a:p>
        </p:txBody>
      </p:sp>
      <p:sp>
        <p:nvSpPr>
          <p:cNvPr id="18" name="Vertical Workflow Apps"/>
          <p:cNvSpPr/>
          <p:nvPr/>
        </p:nvSpPr>
        <p:spPr>
          <a:xfrm>
            <a:off x="6400800" y="2011680"/>
            <a:ext cx="1499616" cy="768096"/>
          </a:xfrm>
          <a:prstGeom prst="roundRect">
            <a:avLst/>
          </a:prstGeom>
          <a:solidFill>
            <a:srgbClr val="FDEED3"/>
          </a:solidFill>
          <a:ln w="15875">
            <a:solidFill>
              <a:srgbClr val="F8B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Vertical Workflow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Apps</a:t>
            </a:r>
          </a:p>
        </p:txBody>
      </p:sp>
      <p:sp>
        <p:nvSpPr>
          <p:cNvPr id="19" name="Enterprise Distribution"/>
          <p:cNvSpPr/>
          <p:nvPr/>
        </p:nvSpPr>
        <p:spPr>
          <a:xfrm>
            <a:off x="8211312" y="2011680"/>
            <a:ext cx="1389888" cy="768096"/>
          </a:xfrm>
          <a:prstGeom prst="roundRect">
            <a:avLst/>
          </a:prstGeom>
          <a:solidFill>
            <a:srgbClr val="FADBE2"/>
          </a:solidFill>
          <a:ln w="15875">
            <a:solidFill>
              <a:srgbClr val="E95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Enterprise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Distribution</a:t>
            </a:r>
          </a:p>
        </p:txBody>
      </p:sp>
      <p:sp>
        <p:nvSpPr>
          <p:cNvPr id="20" name="Proprietary Data"/>
          <p:cNvSpPr/>
          <p:nvPr/>
        </p:nvSpPr>
        <p:spPr>
          <a:xfrm>
            <a:off x="4041648" y="3913632"/>
            <a:ext cx="1554480" cy="621792"/>
          </a:xfrm>
          <a:prstGeom prst="roundRect">
            <a:avLst/>
          </a:prstGeom>
          <a:solidFill>
            <a:srgbClr val="E9EFFD"/>
          </a:solidFill>
          <a:ln w="15875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Proprietary Data</a:t>
            </a:r>
          </a:p>
        </p:txBody>
      </p:sp>
      <p:sp>
        <p:nvSpPr>
          <p:cNvPr id="21" name="Safety Governance"/>
          <p:cNvSpPr/>
          <p:nvPr/>
        </p:nvSpPr>
        <p:spPr>
          <a:xfrm>
            <a:off x="6053328" y="3913632"/>
            <a:ext cx="1572768" cy="621792"/>
          </a:xfrm>
          <a:prstGeom prst="roundRect">
            <a:avLst/>
          </a:prstGeom>
          <a:solidFill>
            <a:srgbClr val="DCF0EA"/>
          </a:solidFill>
          <a:ln w="15875">
            <a:solidFill>
              <a:srgbClr val="64B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Safety &amp; Governance</a:t>
            </a:r>
          </a:p>
        </p:txBody>
      </p:sp>
      <p:sp>
        <p:nvSpPr>
          <p:cNvPr id="22" name="Implementation Services"/>
          <p:cNvSpPr/>
          <p:nvPr/>
        </p:nvSpPr>
        <p:spPr>
          <a:xfrm>
            <a:off x="2615184" y="4956048"/>
            <a:ext cx="1737360" cy="621792"/>
          </a:xfrm>
          <a:prstGeom prst="roundRect">
            <a:avLst/>
          </a:prstGeom>
          <a:solidFill>
            <a:srgbClr val="FEF3E2"/>
          </a:solidFill>
          <a:ln w="15875">
            <a:solidFill>
              <a:srgbClr val="F9C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Implementation Services</a:t>
            </a:r>
          </a:p>
        </p:txBody>
      </p:sp>
      <p:sp>
        <p:nvSpPr>
          <p:cNvPr id="23" name="User Feedback Telemetry"/>
          <p:cNvSpPr/>
          <p:nvPr/>
        </p:nvSpPr>
        <p:spPr>
          <a:xfrm>
            <a:off x="7516368" y="4956048"/>
            <a:ext cx="1792224" cy="676656"/>
          </a:xfrm>
          <a:prstGeom prst="roundRect">
            <a:avLst/>
          </a:prstGeom>
          <a:solidFill>
            <a:srgbClr val="EFE7FD"/>
          </a:solidFill>
          <a:ln w="15875">
            <a:solidFill>
              <a:srgbClr val="B3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User Feedback</a:t>
            </a:r>
          </a:p>
          <a:p>
            <a:pPr algn="ctr">
              <a:defRPr sz="1250" b="1">
                <a:solidFill>
                  <a:srgbClr val="192638"/>
                </a:solidFill>
                <a:latin typeface="Aptos"/>
              </a:defRPr>
            </a:pPr>
            <a:r>
              <a:t>Telemetry</a:t>
            </a:r>
          </a:p>
        </p:txBody>
      </p:sp>
      <p:cxnSp>
        <p:nvCxnSpPr>
          <p:cNvPr id="24" name="Connector 23"/>
          <p:cNvCxnSpPr>
            <a:stCxn id="15" idx="3"/>
            <a:endCxn id="16" idx="1"/>
          </p:cNvCxnSpPr>
          <p:nvPr/>
        </p:nvCxnSpPr>
        <p:spPr>
          <a:xfrm flipV="1">
            <a:off x="2267712" y="2395728"/>
            <a:ext cx="457200" cy="0"/>
          </a:xfrm>
          <a:prstGeom prst="bentConnector3">
            <a:avLst/>
          </a:prstGeom>
          <a:ln w="1968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6" idx="3"/>
            <a:endCxn id="17" idx="1"/>
          </p:cNvCxnSpPr>
          <p:nvPr/>
        </p:nvCxnSpPr>
        <p:spPr>
          <a:xfrm flipV="1">
            <a:off x="4041648" y="2395728"/>
            <a:ext cx="484632" cy="0"/>
          </a:xfrm>
          <a:prstGeom prst="bentConnector3">
            <a:avLst/>
          </a:prstGeom>
          <a:ln w="1968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7" idx="3"/>
            <a:endCxn id="18" idx="1"/>
          </p:cNvCxnSpPr>
          <p:nvPr/>
        </p:nvCxnSpPr>
        <p:spPr>
          <a:xfrm flipV="1">
            <a:off x="5989320" y="2395728"/>
            <a:ext cx="411480" cy="0"/>
          </a:xfrm>
          <a:prstGeom prst="bentConnector3">
            <a:avLst/>
          </a:prstGeom>
          <a:ln w="1968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8" idx="3"/>
            <a:endCxn id="19" idx="1"/>
          </p:cNvCxnSpPr>
          <p:nvPr/>
        </p:nvCxnSpPr>
        <p:spPr>
          <a:xfrm flipV="1">
            <a:off x="7900416" y="2395728"/>
            <a:ext cx="310896" cy="0"/>
          </a:xfrm>
          <a:prstGeom prst="bentConnector3">
            <a:avLst/>
          </a:prstGeom>
          <a:ln w="1968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20" idx="0"/>
            <a:endCxn id="17" idx="2"/>
          </p:cNvCxnSpPr>
          <p:nvPr/>
        </p:nvCxnSpPr>
        <p:spPr>
          <a:xfrm flipV="1">
            <a:off x="4818888" y="2779776"/>
            <a:ext cx="438912" cy="1133856"/>
          </a:xfrm>
          <a:prstGeom prst="bentConnector3">
            <a:avLst/>
          </a:prstGeom>
          <a:ln w="1968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0" idx="3"/>
            <a:endCxn id="18" idx="2"/>
          </p:cNvCxnSpPr>
          <p:nvPr/>
        </p:nvCxnSpPr>
        <p:spPr>
          <a:xfrm flipV="1">
            <a:off x="5596128" y="2779776"/>
            <a:ext cx="1554480" cy="1444752"/>
          </a:xfrm>
          <a:prstGeom prst="bentConnector3">
            <a:avLst/>
          </a:prstGeom>
          <a:ln w="19685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1" idx="1"/>
            <a:endCxn id="17" idx="2"/>
          </p:cNvCxnSpPr>
          <p:nvPr/>
        </p:nvCxnSpPr>
        <p:spPr>
          <a:xfrm flipH="1" flipV="1">
            <a:off x="5257800" y="2779776"/>
            <a:ext cx="795528" cy="1444752"/>
          </a:xfrm>
          <a:prstGeom prst="bentConnector3">
            <a:avLst/>
          </a:prstGeom>
          <a:ln w="19685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1" idx="0"/>
            <a:endCxn id="19" idx="2"/>
          </p:cNvCxnSpPr>
          <p:nvPr/>
        </p:nvCxnSpPr>
        <p:spPr>
          <a:xfrm flipV="1">
            <a:off x="6839712" y="2779776"/>
            <a:ext cx="2066544" cy="1133856"/>
          </a:xfrm>
          <a:prstGeom prst="bentConnector3">
            <a:avLst/>
          </a:prstGeom>
          <a:ln w="19685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2" idx="0"/>
            <a:endCxn id="18" idx="2"/>
          </p:cNvCxnSpPr>
          <p:nvPr/>
        </p:nvCxnSpPr>
        <p:spPr>
          <a:xfrm flipV="1">
            <a:off x="3483864" y="2779776"/>
            <a:ext cx="3666744" cy="2176272"/>
          </a:xfrm>
          <a:prstGeom prst="bentConnector3">
            <a:avLst/>
          </a:prstGeom>
          <a:ln w="1968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23" idx="0"/>
            <a:endCxn id="16" idx="2"/>
          </p:cNvCxnSpPr>
          <p:nvPr/>
        </p:nvCxnSpPr>
        <p:spPr>
          <a:xfrm flipH="1" flipV="1">
            <a:off x="3383280" y="2779776"/>
            <a:ext cx="5029200" cy="2176272"/>
          </a:xfrm>
          <a:prstGeom prst="bentConnector3">
            <a:avLst/>
          </a:prstGeom>
          <a:ln w="19685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9" idx="2"/>
            <a:endCxn id="23" idx="0"/>
          </p:cNvCxnSpPr>
          <p:nvPr/>
        </p:nvCxnSpPr>
        <p:spPr>
          <a:xfrm flipH="1">
            <a:off x="8412480" y="2779776"/>
            <a:ext cx="493776" cy="2176272"/>
          </a:xfrm>
          <a:prstGeom prst="bentConnector3">
            <a:avLst/>
          </a:prstGeom>
          <a:ln w="19685">
            <a:solidFill>
              <a:srgbClr val="E11D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698480" y="1591056"/>
            <a:ext cx="28346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1. Models stay essential, but control economics sit one layer downstream where products orchestrate tools, policies and data.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2. Proprietary data and governance make workflows sticky; distribution and user telemetry keep improving the product after sale.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3. Integrators monetize deployment, but the compounding moat usually belongs to the product layer that owns the feedback loop.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98480" y="3840480"/>
            <a:ext cx="27980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9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art-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207" y="3977640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064240" y="3968496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Capital stays upstream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98480" y="4681728"/>
            <a:ext cx="27980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7" y="4818888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064240" y="4809744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Profit shifts downstream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98480" y="5522976"/>
            <a:ext cx="27980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B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hield-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8207" y="5660136"/>
            <a:ext cx="201168" cy="20116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064240" y="565099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Moat compounds in 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This page intentionally uses real glued connectors so the diagram remains maintainable after handoff.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The best risk-adjusted play is a domain-focused agent stack, not another general model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Domain agent stacks win because they pair software economics with differentiated data and workflow embedment.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746736" y="859536"/>
            <a:ext cx="1170432" cy="20116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2638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8961120" cy="5477255"/>
          </a:xfrm>
          <a:prstGeom prst="rect">
            <a:avLst/>
          </a:prstGeom>
          <a:solidFill>
            <a:srgbClr val="FFFFFF"/>
          </a:solidFill>
          <a:ln w="1270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1115568"/>
            <a:ext cx="2031796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Archetype scorecard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618488"/>
            <a:ext cx="2176272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Archetype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18488"/>
            <a:ext cx="932688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0208" y="1618488"/>
            <a:ext cx="932688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2896" y="1618488"/>
            <a:ext cx="859536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Moat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1" y="1618488"/>
            <a:ext cx="1280160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Capital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2592" y="1618488"/>
            <a:ext cx="1353312" cy="475488"/>
          </a:xfrm>
          <a:prstGeom prst="rect">
            <a:avLst/>
          </a:prstGeom>
          <a:solidFill>
            <a:srgbClr val="E5ECFD"/>
          </a:solidFill>
          <a:ln w="1016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2542"/>
                </a:solidFill>
                <a:latin typeface="Aptos"/>
              </a:defRPr>
            </a:pPr>
            <a:r>
              <a:t>Time to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185416"/>
            <a:ext cx="21762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40864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8720" y="229514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Compute Fabric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258568"/>
            <a:ext cx="786384" cy="475488"/>
          </a:xfrm>
          <a:prstGeom prst="roundRect">
            <a:avLst/>
          </a:prstGeom>
          <a:solidFill>
            <a:srgbClr val="E0E7FF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258568"/>
            <a:ext cx="786384" cy="47548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2258568"/>
            <a:ext cx="713231" cy="475488"/>
          </a:xfrm>
          <a:prstGeom prst="roundRect">
            <a:avLst/>
          </a:prstGeom>
          <a:solidFill>
            <a:srgbClr val="E0E7FF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3" y="2258568"/>
            <a:ext cx="1133856" cy="475488"/>
          </a:xfrm>
          <a:prstGeom prst="roundRect">
            <a:avLst/>
          </a:prstGeom>
          <a:solidFill>
            <a:srgbClr val="FEE2E2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5744" y="2258568"/>
            <a:ext cx="1207008" cy="47548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953512"/>
            <a:ext cx="21762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10896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8720" y="306324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Model Labs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90672" y="3026664"/>
            <a:ext cx="786384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026664"/>
            <a:ext cx="786384" cy="47548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6048" y="3026664"/>
            <a:ext cx="713231" cy="475488"/>
          </a:xfrm>
          <a:prstGeom prst="roundRect">
            <a:avLst/>
          </a:prstGeom>
          <a:solidFill>
            <a:srgbClr val="E0E7FF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5583" y="3026664"/>
            <a:ext cx="1133856" cy="475488"/>
          </a:xfrm>
          <a:prstGeom prst="roundRect">
            <a:avLst/>
          </a:prstGeom>
          <a:solidFill>
            <a:srgbClr val="FEE2E2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95744" y="3026664"/>
            <a:ext cx="1207008" cy="47548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3721608"/>
            <a:ext cx="21762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877056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8720" y="383133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Agent Control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0672" y="3794760"/>
            <a:ext cx="786384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3794760"/>
            <a:ext cx="786384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3794760"/>
            <a:ext cx="713231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15583" y="3794760"/>
            <a:ext cx="1133856" cy="475488"/>
          </a:xfrm>
          <a:prstGeom prst="roundRect">
            <a:avLst/>
          </a:prstGeom>
          <a:solidFill>
            <a:srgbClr val="E0E7FF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95744" y="3794760"/>
            <a:ext cx="1207008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489704"/>
            <a:ext cx="2176272" cy="621792"/>
          </a:xfrm>
          <a:prstGeom prst="roundRect">
            <a:avLst/>
          </a:prstGeom>
          <a:solidFill>
            <a:srgbClr val="E2F2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645152"/>
            <a:ext cx="201168" cy="2011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88720" y="459943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Domain Agent Stack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22576" y="4672584"/>
            <a:ext cx="402336" cy="15544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2638"/>
                </a:solidFill>
                <a:latin typeface="Aptos"/>
              </a:defRPr>
            </a:pPr>
            <a:r>
              <a:t>Pick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0672" y="4562856"/>
            <a:ext cx="786384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4562856"/>
            <a:ext cx="786384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6048" y="4562856"/>
            <a:ext cx="713231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15583" y="4562856"/>
            <a:ext cx="1133856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95744" y="4562856"/>
            <a:ext cx="1207008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" y="5257800"/>
            <a:ext cx="21762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13248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5367528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Services Integrator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90672" y="5330952"/>
            <a:ext cx="786384" cy="475488"/>
          </a:xfrm>
          <a:prstGeom prst="roundRect">
            <a:avLst/>
          </a:prstGeom>
          <a:solidFill>
            <a:srgbClr val="E0E7FF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23360" y="5330952"/>
            <a:ext cx="786384" cy="475488"/>
          </a:xfrm>
          <a:prstGeom prst="roundRect">
            <a:avLst/>
          </a:prstGeom>
          <a:solidFill>
            <a:srgbClr val="CCFBF1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56048" y="5330952"/>
            <a:ext cx="713231" cy="47548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15583" y="5330952"/>
            <a:ext cx="1133856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95744" y="5330952"/>
            <a:ext cx="1207008" cy="475488"/>
          </a:xfrm>
          <a:prstGeom prst="roundRect">
            <a:avLst/>
          </a:prstGeom>
          <a:solidFill>
            <a:srgbClr val="BBF7D0"/>
          </a:solidFill>
          <a:ln w="7620">
            <a:solidFill>
              <a:srgbClr val="B9C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54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" y="656539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6880"/>
                </a:solidFill>
                <a:latin typeface="Aptos"/>
              </a:defRPr>
            </a:pPr>
            <a:r>
              <a:t>Score meaning: 5 = strongest strategic position, 1 = structurally weak.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200" b="0">
                <a:solidFill>
                  <a:srgbClr val="596880"/>
                </a:solidFill>
                <a:latin typeface="Aptos"/>
              </a:defRPr>
            </a:pPr>
            <a:r>
              <a:t>Capital Efficiency treats a lighter capital model as more attractive.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30384" y="1444752"/>
            <a:ext cx="39867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6E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930384" y="1115568"/>
            <a:ext cx="1870862" cy="2926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Investment thesis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31552" y="1554480"/>
            <a:ext cx="36027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The best play is a domain-focused agent stack with a narrow wedge, clear budget owner and expansion path into adjacent workflows.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That model captures software-like margin while still benefiting from falling model cost and rising enterprise adoption.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30384" y="3584448"/>
            <a:ext cx="3986784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6E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9930384" y="3255264"/>
            <a:ext cx="2997403" cy="2926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Suggested three-wave entry plan</a:t>
            </a:r>
          </a:p>
        </p:txBody>
      </p:sp>
      <p:pic>
        <p:nvPicPr>
          <p:cNvPr id="61" name="Picture 60" descr="capability_rollout_tim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0111" y="4123944"/>
            <a:ext cx="3767328" cy="188366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040111" y="6510528"/>
            <a:ext cx="3767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3738D"/>
                </a:solidFill>
              </a:defRPr>
            </a:pPr>
            <a:r>
              <a:t>Start with a narrow copilot wedge, then expand into agentic workflow execution and workflow-network adjacencies.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The matrix is intentionally native-shape based, while the rollout path uses a Python figure to preserve density and clarity.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6304"/>
            <a:ext cx="132039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542"/>
                </a:solidFill>
                <a:latin typeface="Aptos"/>
              </a:defRPr>
            </a:pPr>
            <a:r>
              <a:t>One workflow auto-produces a board-ready deck with validation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320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596880"/>
                </a:solidFill>
                <a:latin typeface="Aptos"/>
              </a:defRPr>
            </a:pPr>
            <a:r>
              <a:t>This demo itself is the proof that planning, asset build, PPT generation and validation can be one reproducible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9968" y="770839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96880"/>
                </a:solidFill>
                <a:latin typeface="Aptos"/>
              </a:defRPr>
            </a:pPr>
            <a:r>
              <a:t>S06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618720" y="859536"/>
            <a:ext cx="1298448" cy="20116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Capability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26464"/>
            <a:ext cx="7845552" cy="50657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1097280"/>
            <a:ext cx="2595067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Reproducible deck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814816" y="1426464"/>
            <a:ext cx="5102352" cy="5065776"/>
          </a:xfrm>
          <a:prstGeom prst="rect">
            <a:avLst/>
          </a:prstGeom>
          <a:solidFill>
            <a:srgbClr val="FFFFFF"/>
          </a:solidFill>
          <a:ln w="12700">
            <a:solidFill>
              <a:srgbClr val="6E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814816" y="1097280"/>
            <a:ext cx="2675534" cy="2926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192638"/>
                </a:solidFill>
              </a:defRPr>
            </a:pPr>
            <a:r>
              <a:t>Asset coverage in this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1956816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9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7568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204825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48256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Lock audience and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633472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52344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272491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24912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Set archetype and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310128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8B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340156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401568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Keep inputs stable and traceable.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3986784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-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05656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0160" y="4078224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78224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Generate charts, icons and slides.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663440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B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82312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4754879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754879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Check connectors and previews.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" y="5340096"/>
            <a:ext cx="69677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458968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80160" y="543153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431536"/>
            <a:ext cx="5340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96880"/>
                </a:solidFill>
                <a:latin typeface="Aptos"/>
              </a:defRPr>
            </a:pPr>
            <a:r>
              <a:t>Ship a board-ready workspace.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5797296"/>
            <a:ext cx="735177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542"/>
                </a:solidFill>
                <a:latin typeface="Aptos"/>
              </a:defRPr>
            </a:pPr>
            <a:r>
              <a:t>The value is not just automated slide drawing.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172542"/>
                </a:solidFill>
                <a:latin typeface="Aptos"/>
              </a:defRPr>
            </a:pPr>
            <a:r>
              <a:t>Planning, asset routing, editable build and validation stay preserved in one workspace.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0848" y="1828800"/>
            <a:ext cx="2322576" cy="1115568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739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1938528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54896" y="1911095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Editable layout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194560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Text and shapes remain editable after handoff.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521440" y="1828800"/>
            <a:ext cx="2322576" cy="1115568"/>
          </a:xfrm>
          <a:prstGeom prst="roundRect">
            <a:avLst/>
          </a:prstGeom>
          <a:solidFill>
            <a:srgbClr val="E7F4F3"/>
          </a:solidFill>
          <a:ln w="12700">
            <a:solidFill>
              <a:srgbClr val="64B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art-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1167" y="1938528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905488" y="1911095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Native 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31167" y="2194560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Revenue and EBIT pages stay editable.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70848" y="3163824"/>
            <a:ext cx="2322576" cy="1115568"/>
          </a:xfrm>
          <a:prstGeom prst="roundRect">
            <a:avLst/>
          </a:prstGeom>
          <a:solidFill>
            <a:srgbClr val="F2EBFD"/>
          </a:solidFill>
          <a:ln w="12700">
            <a:solidFill>
              <a:srgbClr val="AB8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ircles-rel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3273552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54896" y="3246120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Connector diagram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529584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The industry map keeps real glued connectors.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521440" y="3163824"/>
            <a:ext cx="2322576" cy="1115568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9C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tack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31167" y="3273552"/>
            <a:ext cx="219456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905488" y="3246120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Python figures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31167" y="3529584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Research figures keep density and clarity.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8" y="4498848"/>
            <a:ext cx="2322576" cy="1115568"/>
          </a:xfrm>
          <a:prstGeom prst="roundRect">
            <a:avLst/>
          </a:prstGeom>
          <a:solidFill>
            <a:srgbClr val="E6F4F0"/>
          </a:solidFill>
          <a:ln w="12700">
            <a:solidFill>
              <a:srgbClr val="5FB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4608576"/>
            <a:ext cx="219456" cy="2194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454896" y="4581144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Validation bundle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4864608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Manifest, previews and connector checks stay together.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521440" y="4498848"/>
            <a:ext cx="2322576" cy="1115568"/>
          </a:xfrm>
          <a:prstGeom prst="roundRect">
            <a:avLst/>
          </a:prstGeom>
          <a:solidFill>
            <a:srgbClr val="FCE8ED"/>
          </a:solidFill>
          <a:ln w="12700">
            <a:solidFill>
              <a:srgbClr val="EC6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31167" y="4608576"/>
            <a:ext cx="219456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905488" y="4581144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2542"/>
                </a:solidFill>
                <a:latin typeface="Aptos"/>
              </a:defRPr>
            </a:pPr>
            <a:r>
              <a:t>Reusable workflow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31167" y="4864608"/>
            <a:ext cx="21214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880"/>
                </a:solidFill>
                <a:latin typeface="Aptos"/>
              </a:defRPr>
            </a:pPr>
            <a:r>
              <a:t>The workspace is built for iteration.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232" y="6784848"/>
            <a:ext cx="2450592" cy="694944"/>
          </a:xfrm>
          <a:prstGeom prst="roundRect">
            <a:avLst/>
          </a:prstGeom>
          <a:solidFill>
            <a:srgbClr val="E5ECFD"/>
          </a:solidFill>
          <a:ln w="12700">
            <a:solidFill>
              <a:srgbClr val="719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6912864"/>
            <a:ext cx="10789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Slides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93391" y="6821424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400" b="1">
                <a:solidFill>
                  <a:srgbClr val="17254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55848" y="6784848"/>
            <a:ext cx="2450592" cy="694944"/>
          </a:xfrm>
          <a:prstGeom prst="roundRect">
            <a:avLst/>
          </a:prstGeom>
          <a:solidFill>
            <a:srgbClr val="E2F2F1"/>
          </a:solidFill>
          <a:ln w="12700">
            <a:solidFill>
              <a:srgbClr val="62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65576" y="6912864"/>
            <a:ext cx="10789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Native charts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36008" y="6821424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400" b="1">
                <a:solidFill>
                  <a:srgbClr val="1725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98464" y="6784848"/>
            <a:ext cx="2450592" cy="694944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F8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08192" y="6912864"/>
            <a:ext cx="10789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Python figs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78624" y="6821424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400" b="1">
                <a:solidFill>
                  <a:srgbClr val="1725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41080" y="6784848"/>
            <a:ext cx="2450592" cy="694944"/>
          </a:xfrm>
          <a:prstGeom prst="roundRect">
            <a:avLst/>
          </a:prstGeom>
          <a:solidFill>
            <a:srgbClr val="EFE7FD"/>
          </a:solidFill>
          <a:ln w="12700">
            <a:solidFill>
              <a:srgbClr val="AA7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50807" y="6912864"/>
            <a:ext cx="10789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Conns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6821424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400" b="1">
                <a:solidFill>
                  <a:srgbClr val="1725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283696" y="6784848"/>
            <a:ext cx="2450592" cy="694944"/>
          </a:xfrm>
          <a:prstGeom prst="roundRect">
            <a:avLst/>
          </a:prstGeom>
          <a:solidFill>
            <a:srgbClr val="FBE4E9"/>
          </a:solidFill>
          <a:ln w="12700">
            <a:solidFill>
              <a:srgbClr val="EC6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393424" y="6912864"/>
            <a:ext cx="10789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96880"/>
                </a:solidFill>
                <a:latin typeface="Aptos"/>
              </a:defRPr>
            </a:pPr>
            <a:r>
              <a:t>Icons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563856" y="6821424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400" b="1">
                <a:solidFill>
                  <a:srgbClr val="17254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7726679"/>
            <a:ext cx="1380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88"/>
                </a:solidFill>
              </a:defRPr>
            </a:pPr>
            <a:r>
              <a:t>This final page turns the demo itself into proof that the skill can deliver both insight and production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