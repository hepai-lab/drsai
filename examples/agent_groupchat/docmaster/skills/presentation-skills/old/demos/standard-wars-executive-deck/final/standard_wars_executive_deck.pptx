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4630400" cy="8229600" type="screen4x3"/>
  <ns0:notesSz cx="6858000" cy="9144000"/>
  <ns0:defaultTextStyle>
    <ns2:defPPr>
      <ns2:defRPr lang="en-US">
        <ns2:latin typeface="Arial"/>
        <ns2:ea typeface="黑体"/>
        <ns2:cs typeface="Arial"/>
      </ns2:defRPr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Arial"/>
        <ns2:ea typeface="黑体"/>
        <ns2:cs typeface="Arial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Arial"/>
        <ns2:ea typeface="黑体"/>
        <ns2:cs typeface="Arial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Arial"/>
        <ns2:ea typeface="黑体"/>
        <ns2:cs typeface="Arial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Arial"/>
        <ns2:ea typeface="黑体"/>
        <ns2:cs typeface="Arial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Arial"/>
        <ns2:ea typeface="黑体"/>
        <ns2:cs typeface="Arial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Arial"/>
        <ns2:ea typeface="黑体"/>
        <ns2:cs typeface="Arial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Arial"/>
        <ns2:ea typeface="黑体"/>
        <ns2:cs typeface="Arial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Arial"/>
        <ns2:ea typeface="黑体"/>
        <ns2:cs typeface="Arial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Arial"/>
        <ns2:ea typeface="黑体"/>
        <ns2:cs typeface="Arial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ns0:chartSpace xmlns:ns0="http://schemas.openxmlformats.org/drawingml/2006/chart" xmlns:ns1="http://schemas.openxmlformats.org/drawingml/2006/main" xmlns:ns2="http://schemas.openxmlformats.org/officeDocument/2006/relationships">
  <ns0:date1904 val="0"/>
  <ns0:style val="10"/>
  <ns0:chart>
    <ns0:autoTitleDeleted val="0"/>
    <ns0:plotArea>
      <ns0:barChart>
        <ns0:barDir val="bar"/>
        <ns0:grouping val="clustered"/>
        <ns0:varyColors val="0"/>
        <ns0:ser>
          <ns0:idx val="0"/>
          <ns0:order val="0"/>
          <ns0:tx>
            <ns0:strRef>
              <ns0:f>Sheet1!$B$1</ns0:f>
              <ns0:strCache>
                <ns0:ptCount val="1"/>
                <ns0:pt idx="0">
                  <ns0:v>Betamax</ns0:v>
                </ns0:pt>
              </ns0:strCache>
            </ns0:strRef>
          </ns0:tx>
          <ns0:spPr>
            <ns1:solidFill>
              <ns1:srgbClr val="C26A3B"/>
            </ns1:solidFill>
            <ns1:ln>
              <ns1:solidFill>
                <ns1:srgbClr val="C26A3B"/>
              </ns1:solidFill>
            </ns1:ln>
          </ns0:spPr>
          <ns0:cat>
            <ns0:strRef>
              <ns0:f>Sheet1!$A$2:$A$5</ns0:f>
              <ns0:strCache>
                <ns0:ptCount val="4"/>
                <ns0:pt idx="0">
                  <ns0:v>峰值规格</ns0:v>
                </ns0:pt>
                <ns0:pt idx="1">
                  <ns0:v>任务匹配</ns0:v>
                </ns0:pt>
                <ns0:pt idx="2">
                  <ns0:v>制造经济性</ns0:v>
                </ns0:pt>
                <ns0:pt idx="3">
                  <ns0:v>联盟速度</ns0:v>
                </ns0:pt>
              </ns0:strCache>
            </ns0:strRef>
          </ns0:cat>
          <ns0:val>
            <ns0:numRef>
              <ns0:f>Sheet1!$B$2:$B$5</ns0:f>
              <ns0:numCache>
                <ns0:formatCode>General</ns0:formatCode>
                <ns0:ptCount val="4"/>
                <ns0:pt idx="0">
                  <ns0:v>5</ns0:v>
                </ns0:pt>
                <ns0:pt idx="1">
                  <ns0:v>2</ns0:v>
                </ns0:pt>
                <ns0:pt idx="2">
                  <ns0:v>2</ns0:v>
                </ns0:pt>
                <ns0:pt idx="3">
                  <ns0:v>2</ns0:v>
                </ns0:pt>
              </ns0:numCache>
            </ns0:numRef>
          </ns0:val>
        </ns0:ser>
        <ns0:ser>
          <ns0:idx val="1"/>
          <ns0:order val="1"/>
          <ns0:tx>
            <ns0:strRef>
              <ns0:f>Sheet1!$C$1</ns0:f>
              <ns0:strCache>
                <ns0:ptCount val="1"/>
                <ns0:pt idx="0">
                  <ns0:v>VHS</ns0:v>
                </ns0:pt>
              </ns0:strCache>
            </ns0:strRef>
          </ns0:tx>
          <ns0:spPr>
            <ns1:solidFill>
              <ns1:srgbClr val="224E91"/>
            </ns1:solidFill>
            <ns1:ln>
              <ns1:solidFill>
                <ns1:srgbClr val="224E91"/>
              </ns1:solidFill>
            </ns1:ln>
          </ns0:spPr>
          <ns0:cat>
            <ns0:strRef>
              <ns0:f>Sheet1!$A$2:$A$5</ns0:f>
              <ns0:strCache>
                <ns0:ptCount val="4"/>
                <ns0:pt idx="0">
                  <ns0:v>峰值规格</ns0:v>
                </ns0:pt>
                <ns0:pt idx="1">
                  <ns0:v>任务匹配</ns0:v>
                </ns0:pt>
                <ns0:pt idx="2">
                  <ns0:v>制造经济性</ns0:v>
                </ns0:pt>
                <ns0:pt idx="3">
                  <ns0:v>联盟速度</ns0:v>
                </ns0:pt>
              </ns0:strCache>
            </ns0:strRef>
          </ns0:cat>
          <ns0:val>
            <ns0:numRef>
              <ns0:f>Sheet1!$C$2:$C$5</ns0:f>
              <ns0:numCache>
                <ns0:formatCode>General</ns0:formatCode>
                <ns0:ptCount val="4"/>
                <ns0:pt idx="0">
                  <ns0:v>3</ns0:v>
                </ns0:pt>
                <ns0:pt idx="1">
                  <ns0:v>5</ns0:v>
                </ns0:pt>
                <ns0:pt idx="2">
                  <ns0:v>5</ns0:v>
                </ns0:pt>
                <ns0:pt idx="3">
                  <ns0:v>5</ns0:v>
                </ns0:pt>
              </ns0:numCache>
            </ns0:numRef>
          </ns0:val>
        </ns0:ser>
        <ns0:dLbls>
          <ns0:numFmt formatCode="0" sourceLinked="0"/>
          <ns0:txPr>
            <ns1:bodyPr/>
            <ns1:lstStyle/>
            <ns1:p>
              <ns1:pPr>
                <ns1:defRPr sz="1200">
                  <ns1:solidFill>
                    <ns1:srgbClr val="394660"/>
                  </ns1:solidFill>
                  <ns1:latin typeface="Arial"/>
                  <ns1:ea typeface="黑体"/>
                  <ns1:cs typeface="Arial"/>
                </ns1:defRPr>
              </ns1:pPr>
            </ns1:p>
          </ns0:txPr>
          <ns0:showLegendKey val="0"/>
          <ns0:showVal val="1"/>
          <ns0:showCatName val="0"/>
          <ns0:showSerName val="0"/>
          <ns0:showPercent val="0"/>
          <ns0:showBubbleSize val="0"/>
          <ns0:showLeaderLines val="1"/>
        </ns0:dLbls>
        <ns0:axId val="-2068027336"/>
        <ns0:axId val="-2113994440"/>
      </ns0:barChart>
      <ns0:catAx>
        <ns0:axId val="-2068027336"/>
        <ns0:scaling>
          <ns0:orientation val="minMax"/>
        </ns0:scaling>
        <ns0:delete val="0"/>
        <ns0:axPos val="l"/>
        <ns0:majorTickMark val="out"/>
        <ns0:minorTickMark val="none"/>
        <ns0:tickLblPos val="nextTo"/>
        <ns0:txPr>
          <ns1:bodyPr/>
          <ns1:lstStyle/>
          <ns1:p>
            <ns1:pPr>
              <ns1:defRPr sz="1200">
                <ns1:solidFill>
                  <ns1:srgbClr val="4A5568"/>
                </ns1:solidFill>
                <ns1:latin typeface="Arial"/>
                <ns1:ea typeface="黑体"/>
                <ns1:cs typeface="Arial"/>
              </ns1:defRPr>
            </ns1:pPr>
          </ns1:p>
        </ns0:txPr>
        <ns0:crossAx val="-2113994440"/>
        <ns0:crosses val="autoZero"/>
        <ns0:auto val="1"/>
        <ns0:lblAlgn val="ctr"/>
        <ns0:lblOffset val="100"/>
        <ns0:noMultiLvlLbl val="0"/>
      </ns0:catAx>
      <ns0:valAx>
        <ns0:axId val="-2113994440"/>
        <ns0:scaling>
          <ns0:max val="5.0"/>
          <ns0:min val="0.0"/>
        </ns0:scaling>
        <ns0:delete val="0"/>
        <ns0:axPos val="b"/>
        <ns0:majorGridlines>
          <ns0:spPr>
            <ns1:ln>
              <ns1:solidFill>
                <ns1:srgbClr val="E2E8F0"/>
              </ns1:solidFill>
            </ns1:ln>
          </ns0:spPr>
        </ns0:majorGridlines>
        <ns0:majorTickMark val="out"/>
        <ns0:minorTickMark val="none"/>
        <ns0:tickLblPos val="nextTo"/>
        <ns0:txPr>
          <ns1:bodyPr/>
          <ns1:lstStyle/>
          <ns1:p>
            <ns1:pPr>
              <ns1:defRPr sz="1200">
                <ns1:solidFill>
                  <ns1:srgbClr val="4A5568"/>
                </ns1:solidFill>
                <ns1:latin typeface="Arial"/>
                <ns1:ea typeface="黑体"/>
                <ns1:cs typeface="Arial"/>
              </ns1:defRPr>
            </ns1:pPr>
          </ns1:p>
        </ns0:txPr>
        <ns0:crossAx val="-2068027336"/>
        <ns0:crosses val="autoZero"/>
        <ns0:majorUnit val="1.0"/>
      </ns0:valAx>
    </ns0:plotArea>
    <ns0:legend>
      <ns0:legendPos val="b"/>
      <ns0:overlay val="0"/>
      <ns0:txPr>
        <ns1:bodyPr/>
        <ns1:lstStyle/>
        <ns1:p>
          <ns1:pPr>
            <ns1:defRPr sz="1100">
              <ns1:solidFill>
                <ns1:srgbClr val="394660"/>
              </ns1:solidFill>
              <ns1:latin typeface="Arial"/>
              <ns1:ea typeface="黑体"/>
              <ns1:cs typeface="Arial"/>
            </ns1:defRPr>
          </ns1:pPr>
        </ns1:p>
      </ns0:txPr>
    </ns0:legend>
    <ns0:dispBlanksAs val="gap"/>
  </ns0:chart>
  <ns0:txPr>
    <ns1:bodyPr/>
    <ns1:lstStyle/>
    <ns1:p>
      <ns1:pPr>
        <ns1:defRPr sz="1800">
          <ns1:latin typeface="Arial"/>
          <ns1:ea typeface="黑体"/>
          <ns1:cs typeface="Arial"/>
        </ns1:defRPr>
      </ns1:pPr>
      <ns1:endParaRPr lang="en-US">
        <ns1:latin typeface="Arial"/>
        <ns1:ea typeface="黑体"/>
        <ns1:cs typeface="Arial"/>
      </ns1:endParaRPr>
    </ns1:p>
  </ns0:txPr>
  <ns0:externalData ns2:id="rId1">
    <ns0:autoUpdate val="0"/>
  </ns0:externalData>
</ns0:chartSpace>
</file>

<file path=ppt/charts/chart2.xml><?xml version="1.0" encoding="utf-8"?>
<ns0:chartSpace xmlns:ns0="http://schemas.openxmlformats.org/drawingml/2006/chart" xmlns:ns1="http://schemas.openxmlformats.org/drawingml/2006/main" xmlns:ns2="http://schemas.openxmlformats.org/officeDocument/2006/relationships">
  <ns0:date1904 val="0"/>
  <ns0:style val="10"/>
  <ns0:chart>
    <ns0:autoTitleDeleted val="0"/>
    <ns0:plotArea>
      <ns0:barChart>
        <ns0:barDir val="bar"/>
        <ns0:grouping val="clustered"/>
        <ns0:varyColors val="0"/>
        <ns0:ser>
          <ns0:idx val="0"/>
          <ns0:order val="0"/>
          <ns0:tx>
            <ns0:strRef>
              <ns0:f>Sheet1!$B$1</ns0:f>
              <ns0:strCache>
                <ns0:ptCount val="1"/>
                <ns0:pt idx="0">
                  <ns0:v>OSI</ns0:v>
                </ns0:pt>
              </ns0:strCache>
            </ns0:strRef>
          </ns0:tx>
          <ns0:spPr>
            <ns1:solidFill>
              <ns1:srgbClr val="C26A3B"/>
            </ns1:solidFill>
            <ns1:ln>
              <ns1:solidFill>
                <ns1:srgbClr val="C26A3B"/>
              </ns1:solidFill>
            </ns1:ln>
          </ns0:spPr>
          <ns0:cat>
            <ns0:strRef>
              <ns0:f>Sheet1!$A$2:$A$5</ns0:f>
              <ns0:strCache>
                <ns0:ptCount val="4"/>
                <ns0:pt idx="0">
                  <ns0:v>完整性</ns0:v>
                </ns0:pt>
                <ns0:pt idx="1">
                  <ns0:v>速度</ns0:v>
                </ns0:pt>
                <ns0:pt idx="2">
                  <ns0:v>成本</ns0:v>
                </ns0:pt>
                <ns0:pt idx="3">
                  <ns0:v>运维</ns0:v>
                </ns0:pt>
              </ns0:strCache>
            </ns0:strRef>
          </ns0:cat>
          <ns0:val>
            <ns0:numRef>
              <ns0:f>Sheet1!$B$2:$B$5</ns0:f>
              <ns0:numCache>
                <ns0:formatCode>General</ns0:formatCode>
                <ns0:ptCount val="4"/>
                <ns0:pt idx="0">
                  <ns0:v>5</ns0:v>
                </ns0:pt>
                <ns0:pt idx="1">
                  <ns0:v>2</ns0:v>
                </ns0:pt>
                <ns0:pt idx="2">
                  <ns0:v>2</ns0:v>
                </ns0:pt>
                <ns0:pt idx="3">
                  <ns0:v>2</ns0:v>
                </ns0:pt>
              </ns0:numCache>
            </ns0:numRef>
          </ns0:val>
        </ns0:ser>
        <ns0:ser>
          <ns0:idx val="1"/>
          <ns0:order val="1"/>
          <ns0:tx>
            <ns0:strRef>
              <ns0:f>Sheet1!$C$1</ns0:f>
              <ns0:strCache>
                <ns0:ptCount val="1"/>
                <ns0:pt idx="0">
                  <ns0:v>TCP/IP</ns0:v>
                </ns0:pt>
              </ns0:strCache>
            </ns0:strRef>
          </ns0:tx>
          <ns0:spPr>
            <ns1:solidFill>
              <ns1:srgbClr val="224E91"/>
            </ns1:solidFill>
            <ns1:ln>
              <ns1:solidFill>
                <ns1:srgbClr val="224E91"/>
              </ns1:solidFill>
            </ns1:ln>
          </ns0:spPr>
          <ns0:cat>
            <ns0:strRef>
              <ns0:f>Sheet1!$A$2:$A$5</ns0:f>
              <ns0:strCache>
                <ns0:ptCount val="4"/>
                <ns0:pt idx="0">
                  <ns0:v>完整性</ns0:v>
                </ns0:pt>
                <ns0:pt idx="1">
                  <ns0:v>速度</ns0:v>
                </ns0:pt>
                <ns0:pt idx="2">
                  <ns0:v>成本</ns0:v>
                </ns0:pt>
                <ns0:pt idx="3">
                  <ns0:v>运维</ns0:v>
                </ns0:pt>
              </ns0:strCache>
            </ns0:strRef>
          </ns0:cat>
          <ns0:val>
            <ns0:numRef>
              <ns0:f>Sheet1!$C$2:$C$5</ns0:f>
              <ns0:numCache>
                <ns0:formatCode>General</ns0:formatCode>
                <ns0:ptCount val="4"/>
                <ns0:pt idx="0">
                  <ns0:v>3</ns0:v>
                </ns0:pt>
                <ns0:pt idx="1">
                  <ns0:v>5</ns0:v>
                </ns0:pt>
                <ns0:pt idx="2">
                  <ns0:v>5</ns0:v>
                </ns0:pt>
                <ns0:pt idx="3">
                  <ns0:v>5</ns0:v>
                </ns0:pt>
              </ns0:numCache>
            </ns0:numRef>
          </ns0:val>
        </ns0:ser>
        <ns0:dLbls>
          <ns0:numFmt formatCode="0" sourceLinked="0"/>
          <ns0:txPr>
            <ns1:bodyPr/>
            <ns1:lstStyle/>
            <ns1:p>
              <ns1:pPr>
                <ns1:defRPr sz="1200">
                  <ns1:solidFill>
                    <ns1:srgbClr val="394660"/>
                  </ns1:solidFill>
                  <ns1:latin typeface="Arial"/>
                  <ns1:ea typeface="黑体"/>
                  <ns1:cs typeface="Arial"/>
                </ns1:defRPr>
              </ns1:pPr>
            </ns1:p>
          </ns0:txPr>
          <ns0:showLegendKey val="0"/>
          <ns0:showVal val="1"/>
          <ns0:showCatName val="0"/>
          <ns0:showSerName val="0"/>
          <ns0:showPercent val="0"/>
          <ns0:showBubbleSize val="0"/>
          <ns0:showLeaderLines val="1"/>
        </ns0:dLbls>
        <ns0:axId val="-2068027336"/>
        <ns0:axId val="-2113994440"/>
      </ns0:barChart>
      <ns0:catAx>
        <ns0:axId val="-2068027336"/>
        <ns0:scaling>
          <ns0:orientation val="minMax"/>
        </ns0:scaling>
        <ns0:delete val="0"/>
        <ns0:axPos val="l"/>
        <ns0:majorTickMark val="out"/>
        <ns0:minorTickMark val="none"/>
        <ns0:tickLblPos val="nextTo"/>
        <ns0:txPr>
          <ns1:bodyPr/>
          <ns1:lstStyle/>
          <ns1:p>
            <ns1:pPr>
              <ns1:defRPr sz="1200">
                <ns1:solidFill>
                  <ns1:srgbClr val="4A5568"/>
                </ns1:solidFill>
                <ns1:latin typeface="Arial"/>
                <ns1:ea typeface="黑体"/>
                <ns1:cs typeface="Arial"/>
              </ns1:defRPr>
            </ns1:pPr>
          </ns1:p>
        </ns0:txPr>
        <ns0:crossAx val="-2113994440"/>
        <ns0:crosses val="autoZero"/>
        <ns0:auto val="1"/>
        <ns0:lblAlgn val="ctr"/>
        <ns0:lblOffset val="100"/>
        <ns0:noMultiLvlLbl val="0"/>
      </ns0:catAx>
      <ns0:valAx>
        <ns0:axId val="-2113994440"/>
        <ns0:scaling>
          <ns0:max val="5.0"/>
          <ns0:min val="0.0"/>
        </ns0:scaling>
        <ns0:delete val="0"/>
        <ns0:axPos val="b"/>
        <ns0:majorGridlines>
          <ns0:spPr>
            <ns1:ln>
              <ns1:solidFill>
                <ns1:srgbClr val="E2E8F0"/>
              </ns1:solidFill>
            </ns1:ln>
          </ns0:spPr>
        </ns0:majorGridlines>
        <ns0:majorTickMark val="out"/>
        <ns0:minorTickMark val="none"/>
        <ns0:tickLblPos val="nextTo"/>
        <ns0:txPr>
          <ns1:bodyPr/>
          <ns1:lstStyle/>
          <ns1:p>
            <ns1:pPr>
              <ns1:defRPr sz="1200">
                <ns1:solidFill>
                  <ns1:srgbClr val="4A5568"/>
                </ns1:solidFill>
                <ns1:latin typeface="Arial"/>
                <ns1:ea typeface="黑体"/>
                <ns1:cs typeface="Arial"/>
              </ns1:defRPr>
            </ns1:pPr>
          </ns1:p>
        </ns0:txPr>
        <ns0:crossAx val="-2068027336"/>
        <ns0:crosses val="autoZero"/>
        <ns0:majorUnit val="1.0"/>
      </ns0:valAx>
    </ns0:plotArea>
    <ns0:dispBlanksAs val="gap"/>
  </ns0:chart>
  <ns0:txPr>
    <ns1:bodyPr/>
    <ns1:lstStyle/>
    <ns1:p>
      <ns1:pPr>
        <ns1:defRPr sz="1800">
          <ns1:latin typeface="Arial"/>
          <ns1:ea typeface="黑体"/>
          <ns1:cs typeface="Arial"/>
        </ns1:defRPr>
      </ns1:pPr>
      <ns1:endParaRPr lang="en-US">
        <ns1:latin typeface="Arial"/>
        <ns1:ea typeface="黑体"/>
        <ns1:cs typeface="Arial"/>
      </ns1:endParaRPr>
    </ns1:p>
  </ns0:txPr>
  <ns0:externalData ns2:id="rId1">
    <ns0:autoUpdate val="0"/>
  </ns0:externalData>
</ns0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ns0:sldLayout xmlns:ns0="http://schemas.openxmlformats.org/presentationml/2006/main" xmlns:ns1="http://schemas.openxmlformats.org/drawingml/2006/main" xmlns:ns2="http://schemas.microsoft.com/office/powerpoint/2010/main" type="title" preserve="1">
  <ns0:cSld name="Title Slide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ctrTitle"/>
          </ns0:nvPr>
        </ns0:nvSpPr>
        <ns0:spPr>
          <ns1:xfrm>
            <ns1:off x="685800" y="2130425"/>
            <ns1:ext cx="7772400" cy="1470025"/>
          </ns1:xfrm>
        </ns0:spPr>
        <ns0:txBody>
          <ns1:bodyPr/>
          <ns1:lstStyle/>
          <ns1:p>
            <ns1:r>
              <ns1:rPr lang="en-US" smtClean="0">
                <ns1:latin typeface="Arial"/>
                <ns1:ea typeface="黑体"/>
                <ns1:cs typeface="Arial"/>
              </ns1:rPr>
              <ns1:t>Click to edit Master title style</ns1:t>
            </ns1:r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3" name="Subtitle 2"/>
          <ns0:cNvSpPr>
            <ns1:spLocks noGrp="1"/>
          </ns0:cNvSpPr>
          <ns0:nvPr>
            <ns0:ph type="subTitle" idx="1"/>
          </ns0:nvPr>
        </ns0:nvSpPr>
        <ns0:spPr>
          <ns1:xfrm>
            <ns1:off x="1371600" y="3886200"/>
            <ns1:ext cx="6400800" cy="1752600"/>
          </ns1:xfrm>
        </ns0:spPr>
        <ns0:txBody>
          <ns1:bodyPr/>
          <ns1:lstStyle>
            <ns1:lvl1pPr marL="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  <ns1:latin typeface="Arial"/>
                <ns1:ea typeface="黑体"/>
                <ns1:cs typeface="Arial"/>
              </ns1:defRPr>
            </ns1:lvl1pPr>
            <ns1:lvl2pPr marL="4572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  <ns1:latin typeface="Arial"/>
                <ns1:ea typeface="黑体"/>
                <ns1:cs typeface="Arial"/>
              </ns1:defRPr>
            </ns1:lvl2pPr>
            <ns1:lvl3pPr marL="9144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  <ns1:latin typeface="Arial"/>
                <ns1:ea typeface="黑体"/>
                <ns1:cs typeface="Arial"/>
              </ns1:defRPr>
            </ns1:lvl3pPr>
            <ns1:lvl4pPr marL="13716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  <ns1:latin typeface="Arial"/>
                <ns1:ea typeface="黑体"/>
                <ns1:cs typeface="Arial"/>
              </ns1:defRPr>
            </ns1:lvl4pPr>
            <ns1:lvl5pPr marL="18288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  <ns1:latin typeface="Arial"/>
                <ns1:ea typeface="黑体"/>
                <ns1:cs typeface="Arial"/>
              </ns1:defRPr>
            </ns1:lvl5pPr>
            <ns1:lvl6pPr marL="22860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  <ns1:latin typeface="Arial"/>
                <ns1:ea typeface="黑体"/>
                <ns1:cs typeface="Arial"/>
              </ns1:defRPr>
            </ns1:lvl6pPr>
            <ns1:lvl7pPr marL="27432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  <ns1:latin typeface="Arial"/>
                <ns1:ea typeface="黑体"/>
                <ns1:cs typeface="Arial"/>
              </ns1:defRPr>
            </ns1:lvl7pPr>
            <ns1:lvl8pPr marL="32004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  <ns1:latin typeface="Arial"/>
                <ns1:ea typeface="黑体"/>
                <ns1:cs typeface="Arial"/>
              </ns1:defRPr>
            </ns1:lvl8pPr>
            <ns1:lvl9pPr marL="36576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  <ns1:latin typeface="Arial"/>
                <ns1:ea typeface="黑体"/>
                <ns1:cs typeface="Arial"/>
              </ns1:defRPr>
            </ns1:lvl9pPr>
          </ns1:lstStyle>
          <ns1:p>
            <ns1:r>
              <ns1:rPr lang="en-US" smtClean="0">
                <ns1:latin typeface="Arial"/>
                <ns1:ea typeface="黑体"/>
                <ns1:cs typeface="Arial"/>
              </ns1:rPr>
              <ns1:t>Click to edit Master subtitle style</ns1:t>
            </ns1:r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>
                <ns1:latin typeface="Arial"/>
                <ns1:ea typeface="黑体"/>
                <ns1:cs typeface="Arial"/>
              </ns1:rPr>
              <ns1:t>1/27/13</ns1:t>
            </ns1:fld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>
                <ns1:latin typeface="Arial"/>
                <ns1:ea typeface="黑体"/>
                <ns1:cs typeface="Arial"/>
              </ns1:rPr>
              <ns1:t>‹#›</ns1:t>
            </ns1:fld>
            <ns1:endParaRPr lang="en-US">
              <ns1:latin typeface="Arial"/>
              <ns1:ea typeface="黑体"/>
              <ns1:cs typeface="Arial"/>
            </ns1:endParaRPr>
          </ns1:p>
        </ns0:txBody>
      </ns0:sp>
    </ns0:spTree>
    <ns0:extLst>
      <ns0:ext uri="{BB962C8B-B14F-4D97-AF65-F5344CB8AC3E}">
        <ns2:creationId val="3168075583"/>
      </ns0:ext>
    </ns0:extLst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xmlns:ns2="http://schemas.microsoft.com/office/powerpoint/2010/main" type="obj" preserve="1">
  <ns0:cSld name="Title and Content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smtClean="0">
                <ns1:latin typeface="Arial"/>
                <ns1:ea typeface="黑体"/>
                <ns1:cs typeface="Arial"/>
              </ns1:rPr>
              <ns1:t>Click to edit Master title style</ns1:t>
            </ns1:r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3" name="Content Placeholder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en-US" smtClean="0">
                <ns1:latin typeface="Arial"/>
                <ns1:ea typeface="黑体"/>
                <ns1:cs typeface="Arial"/>
              </ns1:rPr>
              <ns1:t>Click to edit Master text styles</ns1:t>
            </ns1:r>
          </ns1:p>
          <ns1:p>
            <ns1:pPr lvl="1"/>
            <ns1:r>
              <ns1:rPr lang="en-US" smtClean="0">
                <ns1:latin typeface="Arial"/>
                <ns1:ea typeface="黑体"/>
                <ns1:cs typeface="Arial"/>
              </ns1:rPr>
              <ns1:t>Second level</ns1:t>
            </ns1:r>
          </ns1:p>
          <ns1:p>
            <ns1:pPr lvl="2"/>
            <ns1:r>
              <ns1:rPr lang="en-US" smtClean="0">
                <ns1:latin typeface="Arial"/>
                <ns1:ea typeface="黑体"/>
                <ns1:cs typeface="Arial"/>
              </ns1:rPr>
              <ns1:t>Third level</ns1:t>
            </ns1:r>
          </ns1:p>
          <ns1:p>
            <ns1:pPr lvl="3"/>
            <ns1:r>
              <ns1:rPr lang="en-US" smtClean="0">
                <ns1:latin typeface="Arial"/>
                <ns1:ea typeface="黑体"/>
                <ns1:cs typeface="Arial"/>
              </ns1:rPr>
              <ns1:t>Fourth level</ns1:t>
            </ns1:r>
          </ns1:p>
          <ns1:p>
            <ns1:pPr lvl="4"/>
            <ns1:r>
              <ns1:rPr lang="en-US" smtClean="0">
                <ns1:latin typeface="Arial"/>
                <ns1:ea typeface="黑体"/>
                <ns1:cs typeface="Arial"/>
              </ns1:rPr>
              <ns1:t>Fifth level</ns1:t>
            </ns1:r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>
                <ns1:latin typeface="Arial"/>
                <ns1:ea typeface="黑体"/>
                <ns1:cs typeface="Arial"/>
              </ns1:rPr>
              <ns1:t>1/27/13</ns1:t>
            </ns1:fld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>
                <ns1:latin typeface="Arial"/>
                <ns1:ea typeface="黑体"/>
                <ns1:cs typeface="Arial"/>
              </ns1:rPr>
              <ns1:t>‹#›</ns1:t>
            </ns1:fld>
            <ns1:endParaRPr lang="en-US">
              <ns1:latin typeface="Arial"/>
              <ns1:ea typeface="黑体"/>
              <ns1:cs typeface="Arial"/>
            </ns1:endParaRPr>
          </ns1:p>
        </ns0:txBody>
      </ns0:sp>
    </ns0:spTree>
    <ns0:extLst>
      <ns0:ext uri="{BB962C8B-B14F-4D97-AF65-F5344CB8AC3E}">
        <ns2:creationId val="2614314258"/>
      </ns0:ext>
    </ns0:extLst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xmlns:ns2="http://schemas.microsoft.com/office/powerpoint/2010/main" type="secHead" preserve="1">
  <ns0:cSld name="Section Header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722313" y="4406900"/>
            <ns1:ext cx="7772400" cy="1362075"/>
          </ns1:xfrm>
        </ns0:spPr>
        <ns0:txBody>
          <ns1:bodyPr anchor="t"/>
          <ns1:lstStyle>
            <ns1:lvl1pPr algn="l">
              <ns1:defRPr sz="4000" b="1" cap="all">
                <ns1:latin typeface="Arial"/>
                <ns1:ea typeface="黑体"/>
                <ns1:cs typeface="Arial"/>
              </ns1:defRPr>
            </ns1:lvl1pPr>
          </ns1:lstStyle>
          <ns1:p>
            <ns1:r>
              <ns1:rPr lang="en-US" smtClean="0">
                <ns1:latin typeface="Arial"/>
                <ns1:ea typeface="黑体"/>
                <ns1:cs typeface="Arial"/>
              </ns1:rPr>
              <ns1:t>Click to edit Master title style</ns1:t>
            </ns1:r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3" name="Text Placeholder 2"/>
          <ns0:cNvSpPr>
            <ns1:spLocks noGrp="1"/>
          </ns0:cNvSpPr>
          <ns0:nvPr>
            <ns0:ph type="body" idx="1"/>
          </ns0:nvPr>
        </ns0:nvSpPr>
        <ns0:spPr>
          <ns1:xfrm>
            <ns1:off x="722313" y="2906713"/>
            <ns1:ext cx="7772400" cy="1500187"/>
          </ns1:xfrm>
        </ns0:spPr>
        <ns0:txBody>
          <ns1:bodyPr anchor="b"/>
          <ns1:lstStyle>
            <ns1:lvl1pPr marL="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  <ns1:latin typeface="Arial"/>
                <ns1:ea typeface="黑体"/>
                <ns1:cs typeface="Arial"/>
              </ns1:defRPr>
            </ns1:lvl1pPr>
            <ns1:lvl2pPr marL="4572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  <ns1:latin typeface="Arial"/>
                <ns1:ea typeface="黑体"/>
                <ns1:cs typeface="Arial"/>
              </ns1:defRPr>
            </ns1:lvl2pPr>
            <ns1:lvl3pPr marL="914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  <ns1:latin typeface="Arial"/>
                <ns1:ea typeface="黑体"/>
                <ns1:cs typeface="Arial"/>
              </ns1:defRPr>
            </ns1:lvl3pPr>
            <ns1:lvl4pPr marL="13716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  <ns1:latin typeface="Arial"/>
                <ns1:ea typeface="黑体"/>
                <ns1:cs typeface="Arial"/>
              </ns1:defRPr>
            </ns1:lvl4pPr>
            <ns1:lvl5pPr marL="18288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  <ns1:latin typeface="Arial"/>
                <ns1:ea typeface="黑体"/>
                <ns1:cs typeface="Arial"/>
              </ns1:defRPr>
            </ns1:lvl5pPr>
            <ns1:lvl6pPr marL="22860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  <ns1:latin typeface="Arial"/>
                <ns1:ea typeface="黑体"/>
                <ns1:cs typeface="Arial"/>
              </ns1:defRPr>
            </ns1:lvl6pPr>
            <ns1:lvl7pPr marL="27432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  <ns1:latin typeface="Arial"/>
                <ns1:ea typeface="黑体"/>
                <ns1:cs typeface="Arial"/>
              </ns1:defRPr>
            </ns1:lvl7pPr>
            <ns1:lvl8pPr marL="32004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  <ns1:latin typeface="Arial"/>
                <ns1:ea typeface="黑体"/>
                <ns1:cs typeface="Arial"/>
              </ns1:defRPr>
            </ns1:lvl8pPr>
            <ns1:lvl9pPr marL="36576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  <ns1:latin typeface="Arial"/>
                <ns1:ea typeface="黑体"/>
                <ns1:cs typeface="Arial"/>
              </ns1:defRPr>
            </ns1:lvl9pPr>
          </ns1:lstStyle>
          <ns1:p>
            <ns1:pPr lvl="0"/>
            <ns1:r>
              <ns1:rPr lang="en-US" smtClean="0">
                <ns1:latin typeface="Arial"/>
                <ns1:ea typeface="黑体"/>
                <ns1:cs typeface="Arial"/>
              </ns1:rPr>
              <ns1:t>Click to edit Master text styles</ns1:t>
            </ns1:r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>
                <ns1:latin typeface="Arial"/>
                <ns1:ea typeface="黑体"/>
                <ns1:cs typeface="Arial"/>
              </ns1:rPr>
              <ns1:t>1/27/13</ns1:t>
            </ns1:fld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>
                <ns1:latin typeface="Arial"/>
                <ns1:ea typeface="黑体"/>
                <ns1:cs typeface="Arial"/>
              </ns1:rPr>
              <ns1:t>‹#›</ns1:t>
            </ns1:fld>
            <ns1:endParaRPr lang="en-US">
              <ns1:latin typeface="Arial"/>
              <ns1:ea typeface="黑体"/>
              <ns1:cs typeface="Arial"/>
            </ns1:endParaRPr>
          </ns1:p>
        </ns0:txBody>
      </ns0:sp>
    </ns0:spTree>
    <ns0:extLst>
      <ns0:ext uri="{BB962C8B-B14F-4D97-AF65-F5344CB8AC3E}">
        <ns2:creationId val="960648375"/>
      </ns0:ext>
    </ns0:extLst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xmlns:ns2="http://schemas.microsoft.com/office/powerpoint/2010/main" type="twoObj" preserve="1">
  <ns0:cSld name="Two Content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smtClean="0">
                <ns1:latin typeface="Arial"/>
                <ns1:ea typeface="黑体"/>
                <ns1:cs typeface="Arial"/>
              </ns1:rPr>
              <ns1:t>Click to edit Master title style</ns1:t>
            </ns1:r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3" name="Content Placeholder 2"/>
          <ns0:cNvSpPr>
            <ns1:spLocks noGrp="1"/>
          </ns0:cNvSpPr>
          <ns0:nvPr>
            <ns0:ph sz="half" idx="1"/>
          </ns0:nvPr>
        </ns0:nvSpPr>
        <ns0:spPr>
          <ns1:xfrm>
            <ns1:off x="457200" y="1600200"/>
            <ns1:ext cx="4038600" cy="4525963"/>
          </ns1:xfrm>
        </ns0:spPr>
        <ns0:txBody>
          <ns1:bodyPr/>
          <ns1:lstStyle>
            <ns1:lvl1pPr>
              <ns1:defRPr sz="2800">
                <ns1:latin typeface="Arial"/>
                <ns1:ea typeface="黑体"/>
                <ns1:cs typeface="Arial"/>
              </ns1:defRPr>
            </ns1:lvl1pPr>
            <ns1:lvl2pPr>
              <ns1:defRPr sz="2400">
                <ns1:latin typeface="Arial"/>
                <ns1:ea typeface="黑体"/>
                <ns1:cs typeface="Arial"/>
              </ns1:defRPr>
            </ns1:lvl2pPr>
            <ns1:lvl3pPr>
              <ns1:defRPr sz="2000">
                <ns1:latin typeface="Arial"/>
                <ns1:ea typeface="黑体"/>
                <ns1:cs typeface="Arial"/>
              </ns1:defRPr>
            </ns1:lvl3pPr>
            <ns1:lvl4pPr>
              <ns1:defRPr sz="1800">
                <ns1:latin typeface="Arial"/>
                <ns1:ea typeface="黑体"/>
                <ns1:cs typeface="Arial"/>
              </ns1:defRPr>
            </ns1:lvl4pPr>
            <ns1:lvl5pPr>
              <ns1:defRPr sz="1800">
                <ns1:latin typeface="Arial"/>
                <ns1:ea typeface="黑体"/>
                <ns1:cs typeface="Arial"/>
              </ns1:defRPr>
            </ns1:lvl5pPr>
            <ns1:lvl6pPr>
              <ns1:defRPr sz="1800">
                <ns1:latin typeface="Arial"/>
                <ns1:ea typeface="黑体"/>
                <ns1:cs typeface="Arial"/>
              </ns1:defRPr>
            </ns1:lvl6pPr>
            <ns1:lvl7pPr>
              <ns1:defRPr sz="1800">
                <ns1:latin typeface="Arial"/>
                <ns1:ea typeface="黑体"/>
                <ns1:cs typeface="Arial"/>
              </ns1:defRPr>
            </ns1:lvl7pPr>
            <ns1:lvl8pPr>
              <ns1:defRPr sz="1800">
                <ns1:latin typeface="Arial"/>
                <ns1:ea typeface="黑体"/>
                <ns1:cs typeface="Arial"/>
              </ns1:defRPr>
            </ns1:lvl8pPr>
            <ns1:lvl9pPr>
              <ns1:defRPr sz="1800">
                <ns1:latin typeface="Arial"/>
                <ns1:ea typeface="黑体"/>
                <ns1:cs typeface="Arial"/>
              </ns1:defRPr>
            </ns1:lvl9pPr>
          </ns1:lstStyle>
          <ns1:p>
            <ns1:pPr lvl="0"/>
            <ns1:r>
              <ns1:rPr lang="en-US" smtClean="0">
                <ns1:latin typeface="Arial"/>
                <ns1:ea typeface="黑体"/>
                <ns1:cs typeface="Arial"/>
              </ns1:rPr>
              <ns1:t>Click to edit Master text styles</ns1:t>
            </ns1:r>
          </ns1:p>
          <ns1:p>
            <ns1:pPr lvl="1"/>
            <ns1:r>
              <ns1:rPr lang="en-US" smtClean="0">
                <ns1:latin typeface="Arial"/>
                <ns1:ea typeface="黑体"/>
                <ns1:cs typeface="Arial"/>
              </ns1:rPr>
              <ns1:t>Second level</ns1:t>
            </ns1:r>
          </ns1:p>
          <ns1:p>
            <ns1:pPr lvl="2"/>
            <ns1:r>
              <ns1:rPr lang="en-US" smtClean="0">
                <ns1:latin typeface="Arial"/>
                <ns1:ea typeface="黑体"/>
                <ns1:cs typeface="Arial"/>
              </ns1:rPr>
              <ns1:t>Third level</ns1:t>
            </ns1:r>
          </ns1:p>
          <ns1:p>
            <ns1:pPr lvl="3"/>
            <ns1:r>
              <ns1:rPr lang="en-US" smtClean="0">
                <ns1:latin typeface="Arial"/>
                <ns1:ea typeface="黑体"/>
                <ns1:cs typeface="Arial"/>
              </ns1:rPr>
              <ns1:t>Fourth level</ns1:t>
            </ns1:r>
          </ns1:p>
          <ns1:p>
            <ns1:pPr lvl="4"/>
            <ns1:r>
              <ns1:rPr lang="en-US" smtClean="0">
                <ns1:latin typeface="Arial"/>
                <ns1:ea typeface="黑体"/>
                <ns1:cs typeface="Arial"/>
              </ns1:rPr>
              <ns1:t>Fifth level</ns1:t>
            </ns1:r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4" name="Content Placeholder 3"/>
          <ns0:cNvSpPr>
            <ns1:spLocks noGrp="1"/>
          </ns0:cNvSpPr>
          <ns0:nvPr>
            <ns0:ph sz="half" idx="2"/>
          </ns0:nvPr>
        </ns0:nvSpPr>
        <ns0:spPr>
          <ns1:xfrm>
            <ns1:off x="4648200" y="1600200"/>
            <ns1:ext cx="4038600" cy="4525963"/>
          </ns1:xfrm>
        </ns0:spPr>
        <ns0:txBody>
          <ns1:bodyPr/>
          <ns1:lstStyle>
            <ns1:lvl1pPr>
              <ns1:defRPr sz="2800">
                <ns1:latin typeface="Arial"/>
                <ns1:ea typeface="黑体"/>
                <ns1:cs typeface="Arial"/>
              </ns1:defRPr>
            </ns1:lvl1pPr>
            <ns1:lvl2pPr>
              <ns1:defRPr sz="2400">
                <ns1:latin typeface="Arial"/>
                <ns1:ea typeface="黑体"/>
                <ns1:cs typeface="Arial"/>
              </ns1:defRPr>
            </ns1:lvl2pPr>
            <ns1:lvl3pPr>
              <ns1:defRPr sz="2000">
                <ns1:latin typeface="Arial"/>
                <ns1:ea typeface="黑体"/>
                <ns1:cs typeface="Arial"/>
              </ns1:defRPr>
            </ns1:lvl3pPr>
            <ns1:lvl4pPr>
              <ns1:defRPr sz="1800">
                <ns1:latin typeface="Arial"/>
                <ns1:ea typeface="黑体"/>
                <ns1:cs typeface="Arial"/>
              </ns1:defRPr>
            </ns1:lvl4pPr>
            <ns1:lvl5pPr>
              <ns1:defRPr sz="1800">
                <ns1:latin typeface="Arial"/>
                <ns1:ea typeface="黑体"/>
                <ns1:cs typeface="Arial"/>
              </ns1:defRPr>
            </ns1:lvl5pPr>
            <ns1:lvl6pPr>
              <ns1:defRPr sz="1800">
                <ns1:latin typeface="Arial"/>
                <ns1:ea typeface="黑体"/>
                <ns1:cs typeface="Arial"/>
              </ns1:defRPr>
            </ns1:lvl6pPr>
            <ns1:lvl7pPr>
              <ns1:defRPr sz="1800">
                <ns1:latin typeface="Arial"/>
                <ns1:ea typeface="黑体"/>
                <ns1:cs typeface="Arial"/>
              </ns1:defRPr>
            </ns1:lvl7pPr>
            <ns1:lvl8pPr>
              <ns1:defRPr sz="1800">
                <ns1:latin typeface="Arial"/>
                <ns1:ea typeface="黑体"/>
                <ns1:cs typeface="Arial"/>
              </ns1:defRPr>
            </ns1:lvl8pPr>
            <ns1:lvl9pPr>
              <ns1:defRPr sz="1800">
                <ns1:latin typeface="Arial"/>
                <ns1:ea typeface="黑体"/>
                <ns1:cs typeface="Arial"/>
              </ns1:defRPr>
            </ns1:lvl9pPr>
          </ns1:lstStyle>
          <ns1:p>
            <ns1:pPr lvl="0"/>
            <ns1:r>
              <ns1:rPr lang="en-US" smtClean="0">
                <ns1:latin typeface="Arial"/>
                <ns1:ea typeface="黑体"/>
                <ns1:cs typeface="Arial"/>
              </ns1:rPr>
              <ns1:t>Click to edit Master text styles</ns1:t>
            </ns1:r>
          </ns1:p>
          <ns1:p>
            <ns1:pPr lvl="1"/>
            <ns1:r>
              <ns1:rPr lang="en-US" smtClean="0">
                <ns1:latin typeface="Arial"/>
                <ns1:ea typeface="黑体"/>
                <ns1:cs typeface="Arial"/>
              </ns1:rPr>
              <ns1:t>Second level</ns1:t>
            </ns1:r>
          </ns1:p>
          <ns1:p>
            <ns1:pPr lvl="2"/>
            <ns1:r>
              <ns1:rPr lang="en-US" smtClean="0">
                <ns1:latin typeface="Arial"/>
                <ns1:ea typeface="黑体"/>
                <ns1:cs typeface="Arial"/>
              </ns1:rPr>
              <ns1:t>Third level</ns1:t>
            </ns1:r>
          </ns1:p>
          <ns1:p>
            <ns1:pPr lvl="3"/>
            <ns1:r>
              <ns1:rPr lang="en-US" smtClean="0">
                <ns1:latin typeface="Arial"/>
                <ns1:ea typeface="黑体"/>
                <ns1:cs typeface="Arial"/>
              </ns1:rPr>
              <ns1:t>Fourth level</ns1:t>
            </ns1:r>
          </ns1:p>
          <ns1:p>
            <ns1:pPr lvl="4"/>
            <ns1:r>
              <ns1:rPr lang="en-US" smtClean="0">
                <ns1:latin typeface="Arial"/>
                <ns1:ea typeface="黑体"/>
                <ns1:cs typeface="Arial"/>
              </ns1:rPr>
              <ns1:t>Fifth level</ns1:t>
            </ns1:r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5" name="Date Placeholder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>
                <ns1:latin typeface="Arial"/>
                <ns1:ea typeface="黑体"/>
                <ns1:cs typeface="Arial"/>
              </ns1:rPr>
              <ns1:t>1/27/13</ns1:t>
            </ns1:fld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6" name="Footer Placeholder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7" name="Slide Number Placeholder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>
                <ns1:latin typeface="Arial"/>
                <ns1:ea typeface="黑体"/>
                <ns1:cs typeface="Arial"/>
              </ns1:rPr>
              <ns1:t>‹#›</ns1:t>
            </ns1:fld>
            <ns1:endParaRPr lang="en-US">
              <ns1:latin typeface="Arial"/>
              <ns1:ea typeface="黑体"/>
              <ns1:cs typeface="Arial"/>
            </ns1:endParaRPr>
          </ns1:p>
        </ns0:txBody>
      </ns0:sp>
    </ns0:spTree>
    <ns0:extLst>
      <ns0:ext uri="{BB962C8B-B14F-4D97-AF65-F5344CB8AC3E}">
        <ns2:creationId val="2782244947"/>
      </ns0:ext>
    </ns0:extLst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xmlns:ns2="http://schemas.microsoft.com/office/powerpoint/2010/main" type="twoTxTwoObj" preserve="1">
  <ns0:cSld name="Comparison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>
            <ns1:lvl1pPr>
              <ns1:defRPr>
                <ns1:latin typeface="Arial"/>
                <ns1:ea typeface="黑体"/>
                <ns1:cs typeface="Arial"/>
              </ns1:defRPr>
            </ns1:lvl1pPr>
          </ns1:lstStyle>
          <ns1:p>
            <ns1:r>
              <ns1:rPr lang="en-US" smtClean="0">
                <ns1:latin typeface="Arial"/>
                <ns1:ea typeface="黑体"/>
                <ns1:cs typeface="Arial"/>
              </ns1:rPr>
              <ns1:t>Click to edit Master title style</ns1:t>
            </ns1:r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3" name="Text Placeholder 2"/>
          <ns0:cNvSpPr>
            <ns1:spLocks noGrp="1"/>
          </ns0:cNvSpPr>
          <ns0:nvPr>
            <ns0:ph type="body" idx="1"/>
          </ns0:nvPr>
        </ns0:nvSpPr>
        <ns0:spPr>
          <ns1:xfrm>
            <ns1:off x="457200" y="1535113"/>
            <ns1:ext cx="4040188" cy="639762"/>
          </ns1:xfrm>
        </ns0:spPr>
        <ns0:txBody>
          <ns1:bodyPr anchor="b"/>
          <ns1:lstStyle>
            <ns1:lvl1pPr marL="0" indent="0">
              <ns1:buNone/>
              <ns1:defRPr sz="2400" b="1">
                <ns1:latin typeface="Arial"/>
                <ns1:ea typeface="黑体"/>
                <ns1:cs typeface="Arial"/>
              </ns1:defRPr>
            </ns1:lvl1pPr>
            <ns1:lvl2pPr marL="457200" indent="0">
              <ns1:buNone/>
              <ns1:defRPr sz="2000" b="1">
                <ns1:latin typeface="Arial"/>
                <ns1:ea typeface="黑体"/>
                <ns1:cs typeface="Arial"/>
              </ns1:defRPr>
            </ns1:lvl2pPr>
            <ns1:lvl3pPr marL="914400" indent="0">
              <ns1:buNone/>
              <ns1:defRPr sz="1800" b="1">
                <ns1:latin typeface="Arial"/>
                <ns1:ea typeface="黑体"/>
                <ns1:cs typeface="Arial"/>
              </ns1:defRPr>
            </ns1:lvl3pPr>
            <ns1:lvl4pPr marL="1371600" indent="0">
              <ns1:buNone/>
              <ns1:defRPr sz="1600" b="1">
                <ns1:latin typeface="Arial"/>
                <ns1:ea typeface="黑体"/>
                <ns1:cs typeface="Arial"/>
              </ns1:defRPr>
            </ns1:lvl4pPr>
            <ns1:lvl5pPr marL="1828800" indent="0">
              <ns1:buNone/>
              <ns1:defRPr sz="1600" b="1">
                <ns1:latin typeface="Arial"/>
                <ns1:ea typeface="黑体"/>
                <ns1:cs typeface="Arial"/>
              </ns1:defRPr>
            </ns1:lvl5pPr>
            <ns1:lvl6pPr marL="2286000" indent="0">
              <ns1:buNone/>
              <ns1:defRPr sz="1600" b="1">
                <ns1:latin typeface="Arial"/>
                <ns1:ea typeface="黑体"/>
                <ns1:cs typeface="Arial"/>
              </ns1:defRPr>
            </ns1:lvl6pPr>
            <ns1:lvl7pPr marL="2743200" indent="0">
              <ns1:buNone/>
              <ns1:defRPr sz="1600" b="1">
                <ns1:latin typeface="Arial"/>
                <ns1:ea typeface="黑体"/>
                <ns1:cs typeface="Arial"/>
              </ns1:defRPr>
            </ns1:lvl7pPr>
            <ns1:lvl8pPr marL="3200400" indent="0">
              <ns1:buNone/>
              <ns1:defRPr sz="1600" b="1">
                <ns1:latin typeface="Arial"/>
                <ns1:ea typeface="黑体"/>
                <ns1:cs typeface="Arial"/>
              </ns1:defRPr>
            </ns1:lvl8pPr>
            <ns1:lvl9pPr marL="3657600" indent="0">
              <ns1:buNone/>
              <ns1:defRPr sz="1600" b="1">
                <ns1:latin typeface="Arial"/>
                <ns1:ea typeface="黑体"/>
                <ns1:cs typeface="Arial"/>
              </ns1:defRPr>
            </ns1:lvl9pPr>
          </ns1:lstStyle>
          <ns1:p>
            <ns1:pPr lvl="0"/>
            <ns1:r>
              <ns1:rPr lang="en-US" smtClean="0">
                <ns1:latin typeface="Arial"/>
                <ns1:ea typeface="黑体"/>
                <ns1:cs typeface="Arial"/>
              </ns1:rPr>
              <ns1:t>Click to edit Master text styles</ns1:t>
            </ns1:r>
          </ns1:p>
        </ns0:txBody>
      </ns0:sp>
      <ns0:sp>
        <ns0:nvSpPr>
          <ns0:cNvPr id="4" name="Content Placeholder 3"/>
          <ns0:cNvSpPr>
            <ns1:spLocks noGrp="1"/>
          </ns0:cNvSpPr>
          <ns0:nvPr>
            <ns0:ph sz="half" idx="2"/>
          </ns0:nvPr>
        </ns0:nvSpPr>
        <ns0:spPr>
          <ns1:xfrm>
            <ns1:off x="457200" y="2174875"/>
            <ns1:ext cx="4040188" cy="3951288"/>
          </ns1:xfrm>
        </ns0:spPr>
        <ns0:txBody>
          <ns1:bodyPr/>
          <ns1:lstStyle>
            <ns1:lvl1pPr>
              <ns1:defRPr sz="2400">
                <ns1:latin typeface="Arial"/>
                <ns1:ea typeface="黑体"/>
                <ns1:cs typeface="Arial"/>
              </ns1:defRPr>
            </ns1:lvl1pPr>
            <ns1:lvl2pPr>
              <ns1:defRPr sz="2000">
                <ns1:latin typeface="Arial"/>
                <ns1:ea typeface="黑体"/>
                <ns1:cs typeface="Arial"/>
              </ns1:defRPr>
            </ns1:lvl2pPr>
            <ns1:lvl3pPr>
              <ns1:defRPr sz="1800">
                <ns1:latin typeface="Arial"/>
                <ns1:ea typeface="黑体"/>
                <ns1:cs typeface="Arial"/>
              </ns1:defRPr>
            </ns1:lvl3pPr>
            <ns1:lvl4pPr>
              <ns1:defRPr sz="1600">
                <ns1:latin typeface="Arial"/>
                <ns1:ea typeface="黑体"/>
                <ns1:cs typeface="Arial"/>
              </ns1:defRPr>
            </ns1:lvl4pPr>
            <ns1:lvl5pPr>
              <ns1:defRPr sz="1600">
                <ns1:latin typeface="Arial"/>
                <ns1:ea typeface="黑体"/>
                <ns1:cs typeface="Arial"/>
              </ns1:defRPr>
            </ns1:lvl5pPr>
            <ns1:lvl6pPr>
              <ns1:defRPr sz="1600">
                <ns1:latin typeface="Arial"/>
                <ns1:ea typeface="黑体"/>
                <ns1:cs typeface="Arial"/>
              </ns1:defRPr>
            </ns1:lvl6pPr>
            <ns1:lvl7pPr>
              <ns1:defRPr sz="1600">
                <ns1:latin typeface="Arial"/>
                <ns1:ea typeface="黑体"/>
                <ns1:cs typeface="Arial"/>
              </ns1:defRPr>
            </ns1:lvl7pPr>
            <ns1:lvl8pPr>
              <ns1:defRPr sz="1600">
                <ns1:latin typeface="Arial"/>
                <ns1:ea typeface="黑体"/>
                <ns1:cs typeface="Arial"/>
              </ns1:defRPr>
            </ns1:lvl8pPr>
            <ns1:lvl9pPr>
              <ns1:defRPr sz="1600">
                <ns1:latin typeface="Arial"/>
                <ns1:ea typeface="黑体"/>
                <ns1:cs typeface="Arial"/>
              </ns1:defRPr>
            </ns1:lvl9pPr>
          </ns1:lstStyle>
          <ns1:p>
            <ns1:pPr lvl="0"/>
            <ns1:r>
              <ns1:rPr lang="en-US" smtClean="0">
                <ns1:latin typeface="Arial"/>
                <ns1:ea typeface="黑体"/>
                <ns1:cs typeface="Arial"/>
              </ns1:rPr>
              <ns1:t>Click to edit Master text styles</ns1:t>
            </ns1:r>
          </ns1:p>
          <ns1:p>
            <ns1:pPr lvl="1"/>
            <ns1:r>
              <ns1:rPr lang="en-US" smtClean="0">
                <ns1:latin typeface="Arial"/>
                <ns1:ea typeface="黑体"/>
                <ns1:cs typeface="Arial"/>
              </ns1:rPr>
              <ns1:t>Second level</ns1:t>
            </ns1:r>
          </ns1:p>
          <ns1:p>
            <ns1:pPr lvl="2"/>
            <ns1:r>
              <ns1:rPr lang="en-US" smtClean="0">
                <ns1:latin typeface="Arial"/>
                <ns1:ea typeface="黑体"/>
                <ns1:cs typeface="Arial"/>
              </ns1:rPr>
              <ns1:t>Third level</ns1:t>
            </ns1:r>
          </ns1:p>
          <ns1:p>
            <ns1:pPr lvl="3"/>
            <ns1:r>
              <ns1:rPr lang="en-US" smtClean="0">
                <ns1:latin typeface="Arial"/>
                <ns1:ea typeface="黑体"/>
                <ns1:cs typeface="Arial"/>
              </ns1:rPr>
              <ns1:t>Fourth level</ns1:t>
            </ns1:r>
          </ns1:p>
          <ns1:p>
            <ns1:pPr lvl="4"/>
            <ns1:r>
              <ns1:rPr lang="en-US" smtClean="0">
                <ns1:latin typeface="Arial"/>
                <ns1:ea typeface="黑体"/>
                <ns1:cs typeface="Arial"/>
              </ns1:rPr>
              <ns1:t>Fifth level</ns1:t>
            </ns1:r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5" name="Text Placeholder 4"/>
          <ns0:cNvSpPr>
            <ns1:spLocks noGrp="1"/>
          </ns0:cNvSpPr>
          <ns0:nvPr>
            <ns0:ph type="body" sz="quarter" idx="3"/>
          </ns0:nvPr>
        </ns0:nvSpPr>
        <ns0:spPr>
          <ns1:xfrm>
            <ns1:off x="4645025" y="1535113"/>
            <ns1:ext cx="4041775" cy="639762"/>
          </ns1:xfrm>
        </ns0:spPr>
        <ns0:txBody>
          <ns1:bodyPr anchor="b"/>
          <ns1:lstStyle>
            <ns1:lvl1pPr marL="0" indent="0">
              <ns1:buNone/>
              <ns1:defRPr sz="2400" b="1">
                <ns1:latin typeface="Arial"/>
                <ns1:ea typeface="黑体"/>
                <ns1:cs typeface="Arial"/>
              </ns1:defRPr>
            </ns1:lvl1pPr>
            <ns1:lvl2pPr marL="457200" indent="0">
              <ns1:buNone/>
              <ns1:defRPr sz="2000" b="1">
                <ns1:latin typeface="Arial"/>
                <ns1:ea typeface="黑体"/>
                <ns1:cs typeface="Arial"/>
              </ns1:defRPr>
            </ns1:lvl2pPr>
            <ns1:lvl3pPr marL="914400" indent="0">
              <ns1:buNone/>
              <ns1:defRPr sz="1800" b="1">
                <ns1:latin typeface="Arial"/>
                <ns1:ea typeface="黑体"/>
                <ns1:cs typeface="Arial"/>
              </ns1:defRPr>
            </ns1:lvl3pPr>
            <ns1:lvl4pPr marL="1371600" indent="0">
              <ns1:buNone/>
              <ns1:defRPr sz="1600" b="1">
                <ns1:latin typeface="Arial"/>
                <ns1:ea typeface="黑体"/>
                <ns1:cs typeface="Arial"/>
              </ns1:defRPr>
            </ns1:lvl4pPr>
            <ns1:lvl5pPr marL="1828800" indent="0">
              <ns1:buNone/>
              <ns1:defRPr sz="1600" b="1">
                <ns1:latin typeface="Arial"/>
                <ns1:ea typeface="黑体"/>
                <ns1:cs typeface="Arial"/>
              </ns1:defRPr>
            </ns1:lvl5pPr>
            <ns1:lvl6pPr marL="2286000" indent="0">
              <ns1:buNone/>
              <ns1:defRPr sz="1600" b="1">
                <ns1:latin typeface="Arial"/>
                <ns1:ea typeface="黑体"/>
                <ns1:cs typeface="Arial"/>
              </ns1:defRPr>
            </ns1:lvl6pPr>
            <ns1:lvl7pPr marL="2743200" indent="0">
              <ns1:buNone/>
              <ns1:defRPr sz="1600" b="1">
                <ns1:latin typeface="Arial"/>
                <ns1:ea typeface="黑体"/>
                <ns1:cs typeface="Arial"/>
              </ns1:defRPr>
            </ns1:lvl7pPr>
            <ns1:lvl8pPr marL="3200400" indent="0">
              <ns1:buNone/>
              <ns1:defRPr sz="1600" b="1">
                <ns1:latin typeface="Arial"/>
                <ns1:ea typeface="黑体"/>
                <ns1:cs typeface="Arial"/>
              </ns1:defRPr>
            </ns1:lvl8pPr>
            <ns1:lvl9pPr marL="3657600" indent="0">
              <ns1:buNone/>
              <ns1:defRPr sz="1600" b="1">
                <ns1:latin typeface="Arial"/>
                <ns1:ea typeface="黑体"/>
                <ns1:cs typeface="Arial"/>
              </ns1:defRPr>
            </ns1:lvl9pPr>
          </ns1:lstStyle>
          <ns1:p>
            <ns1:pPr lvl="0"/>
            <ns1:r>
              <ns1:rPr lang="en-US" smtClean="0">
                <ns1:latin typeface="Arial"/>
                <ns1:ea typeface="黑体"/>
                <ns1:cs typeface="Arial"/>
              </ns1:rPr>
              <ns1:t>Click to edit Master text styles</ns1:t>
            </ns1:r>
          </ns1:p>
        </ns0:txBody>
      </ns0:sp>
      <ns0:sp>
        <ns0:nvSpPr>
          <ns0:cNvPr id="6" name="Content Placeholder 5"/>
          <ns0:cNvSpPr>
            <ns1:spLocks noGrp="1"/>
          </ns0:cNvSpPr>
          <ns0:nvPr>
            <ns0:ph sz="quarter" idx="4"/>
          </ns0:nvPr>
        </ns0:nvSpPr>
        <ns0:spPr>
          <ns1:xfrm>
            <ns1:off x="4645025" y="2174875"/>
            <ns1:ext cx="4041775" cy="3951288"/>
          </ns1:xfrm>
        </ns0:spPr>
        <ns0:txBody>
          <ns1:bodyPr/>
          <ns1:lstStyle>
            <ns1:lvl1pPr>
              <ns1:defRPr sz="2400">
                <ns1:latin typeface="Arial"/>
                <ns1:ea typeface="黑体"/>
                <ns1:cs typeface="Arial"/>
              </ns1:defRPr>
            </ns1:lvl1pPr>
            <ns1:lvl2pPr>
              <ns1:defRPr sz="2000">
                <ns1:latin typeface="Arial"/>
                <ns1:ea typeface="黑体"/>
                <ns1:cs typeface="Arial"/>
              </ns1:defRPr>
            </ns1:lvl2pPr>
            <ns1:lvl3pPr>
              <ns1:defRPr sz="1800">
                <ns1:latin typeface="Arial"/>
                <ns1:ea typeface="黑体"/>
                <ns1:cs typeface="Arial"/>
              </ns1:defRPr>
            </ns1:lvl3pPr>
            <ns1:lvl4pPr>
              <ns1:defRPr sz="1600">
                <ns1:latin typeface="Arial"/>
                <ns1:ea typeface="黑体"/>
                <ns1:cs typeface="Arial"/>
              </ns1:defRPr>
            </ns1:lvl4pPr>
            <ns1:lvl5pPr>
              <ns1:defRPr sz="1600">
                <ns1:latin typeface="Arial"/>
                <ns1:ea typeface="黑体"/>
                <ns1:cs typeface="Arial"/>
              </ns1:defRPr>
            </ns1:lvl5pPr>
            <ns1:lvl6pPr>
              <ns1:defRPr sz="1600">
                <ns1:latin typeface="Arial"/>
                <ns1:ea typeface="黑体"/>
                <ns1:cs typeface="Arial"/>
              </ns1:defRPr>
            </ns1:lvl6pPr>
            <ns1:lvl7pPr>
              <ns1:defRPr sz="1600">
                <ns1:latin typeface="Arial"/>
                <ns1:ea typeface="黑体"/>
                <ns1:cs typeface="Arial"/>
              </ns1:defRPr>
            </ns1:lvl7pPr>
            <ns1:lvl8pPr>
              <ns1:defRPr sz="1600">
                <ns1:latin typeface="Arial"/>
                <ns1:ea typeface="黑体"/>
                <ns1:cs typeface="Arial"/>
              </ns1:defRPr>
            </ns1:lvl8pPr>
            <ns1:lvl9pPr>
              <ns1:defRPr sz="1600">
                <ns1:latin typeface="Arial"/>
                <ns1:ea typeface="黑体"/>
                <ns1:cs typeface="Arial"/>
              </ns1:defRPr>
            </ns1:lvl9pPr>
          </ns1:lstStyle>
          <ns1:p>
            <ns1:pPr lvl="0"/>
            <ns1:r>
              <ns1:rPr lang="en-US" smtClean="0">
                <ns1:latin typeface="Arial"/>
                <ns1:ea typeface="黑体"/>
                <ns1:cs typeface="Arial"/>
              </ns1:rPr>
              <ns1:t>Click to edit Master text styles</ns1:t>
            </ns1:r>
          </ns1:p>
          <ns1:p>
            <ns1:pPr lvl="1"/>
            <ns1:r>
              <ns1:rPr lang="en-US" smtClean="0">
                <ns1:latin typeface="Arial"/>
                <ns1:ea typeface="黑体"/>
                <ns1:cs typeface="Arial"/>
              </ns1:rPr>
              <ns1:t>Second level</ns1:t>
            </ns1:r>
          </ns1:p>
          <ns1:p>
            <ns1:pPr lvl="2"/>
            <ns1:r>
              <ns1:rPr lang="en-US" smtClean="0">
                <ns1:latin typeface="Arial"/>
                <ns1:ea typeface="黑体"/>
                <ns1:cs typeface="Arial"/>
              </ns1:rPr>
              <ns1:t>Third level</ns1:t>
            </ns1:r>
          </ns1:p>
          <ns1:p>
            <ns1:pPr lvl="3"/>
            <ns1:r>
              <ns1:rPr lang="en-US" smtClean="0">
                <ns1:latin typeface="Arial"/>
                <ns1:ea typeface="黑体"/>
                <ns1:cs typeface="Arial"/>
              </ns1:rPr>
              <ns1:t>Fourth level</ns1:t>
            </ns1:r>
          </ns1:p>
          <ns1:p>
            <ns1:pPr lvl="4"/>
            <ns1:r>
              <ns1:rPr lang="en-US" smtClean="0">
                <ns1:latin typeface="Arial"/>
                <ns1:ea typeface="黑体"/>
                <ns1:cs typeface="Arial"/>
              </ns1:rPr>
              <ns1:t>Fifth level</ns1:t>
            </ns1:r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7" name="Date Placeholder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>
                <ns1:latin typeface="Arial"/>
                <ns1:ea typeface="黑体"/>
                <ns1:cs typeface="Arial"/>
              </ns1:rPr>
              <ns1:t>1/27/13</ns1:t>
            </ns1:fld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8" name="Footer Placeholder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9" name="Slide Number Placeholder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>
                <ns1:latin typeface="Arial"/>
                <ns1:ea typeface="黑体"/>
                <ns1:cs typeface="Arial"/>
              </ns1:rPr>
              <ns1:t>‹#›</ns1:t>
            </ns1:fld>
            <ns1:endParaRPr lang="en-US">
              <ns1:latin typeface="Arial"/>
              <ns1:ea typeface="黑体"/>
              <ns1:cs typeface="Arial"/>
            </ns1:endParaRPr>
          </ns1:p>
        </ns0:txBody>
      </ns0:sp>
    </ns0:spTree>
    <ns0:extLst>
      <ns0:ext uri="{BB962C8B-B14F-4D97-AF65-F5344CB8AC3E}">
        <ns2:creationId val="990158736"/>
      </ns0:ext>
    </ns0:extLst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xmlns:ns2="http://schemas.microsoft.com/office/powerpoint/2010/main" type="titleOnly" preserve="1">
  <ns0:cSld name="Title Only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smtClean="0">
                <ns1:latin typeface="Arial"/>
                <ns1:ea typeface="黑体"/>
                <ns1:cs typeface="Arial"/>
              </ns1:rPr>
              <ns1:t>Click to edit Master title style</ns1:t>
            </ns1:r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3" name="Date Placeholder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>
                <ns1:latin typeface="Arial"/>
                <ns1:ea typeface="黑体"/>
                <ns1:cs typeface="Arial"/>
              </ns1:rPr>
              <ns1:t>1/27/13</ns1:t>
            </ns1:fld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4" name="Footer Placeholder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5" name="Slide Number Placeholder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>
                <ns1:latin typeface="Arial"/>
                <ns1:ea typeface="黑体"/>
                <ns1:cs typeface="Arial"/>
              </ns1:rPr>
              <ns1:t>‹#›</ns1:t>
            </ns1:fld>
            <ns1:endParaRPr lang="en-US">
              <ns1:latin typeface="Arial"/>
              <ns1:ea typeface="黑体"/>
              <ns1:cs typeface="Arial"/>
            </ns1:endParaRPr>
          </ns1:p>
        </ns0:txBody>
      </ns0:sp>
    </ns0:spTree>
    <ns0:extLst>
      <ns0:ext uri="{BB962C8B-B14F-4D97-AF65-F5344CB8AC3E}">
        <ns2:creationId val="727027711"/>
      </ns0:ext>
    </ns0:extLst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xmlns:ns2="http://schemas.microsoft.com/office/powerpoint/2010/main" type="blank" preserve="1">
  <ns0:cSld name="Blank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Date Placeholder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>
                <ns1:latin typeface="Arial"/>
                <ns1:ea typeface="黑体"/>
                <ns1:cs typeface="Arial"/>
              </ns1:rPr>
              <ns1:t>1/27/13</ns1:t>
            </ns1:fld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3" name="Footer Placeholder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>
                <ns1:latin typeface="Arial"/>
                <ns1:ea typeface="黑体"/>
                <ns1:cs typeface="Arial"/>
              </ns1:rPr>
              <ns1:t>‹#›</ns1:t>
            </ns1:fld>
            <ns1:endParaRPr lang="en-US">
              <ns1:latin typeface="Arial"/>
              <ns1:ea typeface="黑体"/>
              <ns1:cs typeface="Arial"/>
            </ns1:endParaRPr>
          </ns1:p>
        </ns0:txBody>
      </ns0:sp>
    </ns0:spTree>
    <ns0:extLst>
      <ns0:ext uri="{BB962C8B-B14F-4D97-AF65-F5344CB8AC3E}">
        <ns2:creationId val="1212999818"/>
      </ns0:ext>
    </ns0:extLst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xmlns:ns2="http://schemas.microsoft.com/office/powerpoint/2010/main" type="objTx" preserve="1">
  <ns0:cSld name="Content with Caption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457200" y="273050"/>
            <ns1:ext cx="3008313" cy="1162050"/>
          </ns1:xfrm>
        </ns0:spPr>
        <ns0:txBody>
          <ns1:bodyPr anchor="b"/>
          <ns1:lstStyle>
            <ns1:lvl1pPr algn="l">
              <ns1:defRPr sz="2000" b="1">
                <ns1:latin typeface="Arial"/>
                <ns1:ea typeface="黑体"/>
                <ns1:cs typeface="Arial"/>
              </ns1:defRPr>
            </ns1:lvl1pPr>
          </ns1:lstStyle>
          <ns1:p>
            <ns1:r>
              <ns1:rPr lang="en-US" smtClean="0">
                <ns1:latin typeface="Arial"/>
                <ns1:ea typeface="黑体"/>
                <ns1:cs typeface="Arial"/>
              </ns1:rPr>
              <ns1:t>Click to edit Master title style</ns1:t>
            </ns1:r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3" name="Content Placeholder 2"/>
          <ns0:cNvSpPr>
            <ns1:spLocks noGrp="1"/>
          </ns0:cNvSpPr>
          <ns0:nvPr>
            <ns0:ph idx="1"/>
          </ns0:nvPr>
        </ns0:nvSpPr>
        <ns0:spPr>
          <ns1:xfrm>
            <ns1:off x="3575050" y="273050"/>
            <ns1:ext cx="5111750" cy="5853113"/>
          </ns1:xfrm>
        </ns0:spPr>
        <ns0:txBody>
          <ns1:bodyPr/>
          <ns1:lstStyle>
            <ns1:lvl1pPr>
              <ns1:defRPr sz="3200">
                <ns1:latin typeface="Arial"/>
                <ns1:ea typeface="黑体"/>
                <ns1:cs typeface="Arial"/>
              </ns1:defRPr>
            </ns1:lvl1pPr>
            <ns1:lvl2pPr>
              <ns1:defRPr sz="2800">
                <ns1:latin typeface="Arial"/>
                <ns1:ea typeface="黑体"/>
                <ns1:cs typeface="Arial"/>
              </ns1:defRPr>
            </ns1:lvl2pPr>
            <ns1:lvl3pPr>
              <ns1:defRPr sz="2400">
                <ns1:latin typeface="Arial"/>
                <ns1:ea typeface="黑体"/>
                <ns1:cs typeface="Arial"/>
              </ns1:defRPr>
            </ns1:lvl3pPr>
            <ns1:lvl4pPr>
              <ns1:defRPr sz="2000">
                <ns1:latin typeface="Arial"/>
                <ns1:ea typeface="黑体"/>
                <ns1:cs typeface="Arial"/>
              </ns1:defRPr>
            </ns1:lvl4pPr>
            <ns1:lvl5pPr>
              <ns1:defRPr sz="2000">
                <ns1:latin typeface="Arial"/>
                <ns1:ea typeface="黑体"/>
                <ns1:cs typeface="Arial"/>
              </ns1:defRPr>
            </ns1:lvl5pPr>
            <ns1:lvl6pPr>
              <ns1:defRPr sz="2000">
                <ns1:latin typeface="Arial"/>
                <ns1:ea typeface="黑体"/>
                <ns1:cs typeface="Arial"/>
              </ns1:defRPr>
            </ns1:lvl6pPr>
            <ns1:lvl7pPr>
              <ns1:defRPr sz="2000">
                <ns1:latin typeface="Arial"/>
                <ns1:ea typeface="黑体"/>
                <ns1:cs typeface="Arial"/>
              </ns1:defRPr>
            </ns1:lvl7pPr>
            <ns1:lvl8pPr>
              <ns1:defRPr sz="2000">
                <ns1:latin typeface="Arial"/>
                <ns1:ea typeface="黑体"/>
                <ns1:cs typeface="Arial"/>
              </ns1:defRPr>
            </ns1:lvl8pPr>
            <ns1:lvl9pPr>
              <ns1:defRPr sz="2000">
                <ns1:latin typeface="Arial"/>
                <ns1:ea typeface="黑体"/>
                <ns1:cs typeface="Arial"/>
              </ns1:defRPr>
            </ns1:lvl9pPr>
          </ns1:lstStyle>
          <ns1:p>
            <ns1:pPr lvl="0"/>
            <ns1:r>
              <ns1:rPr lang="en-US" smtClean="0">
                <ns1:latin typeface="Arial"/>
                <ns1:ea typeface="黑体"/>
                <ns1:cs typeface="Arial"/>
              </ns1:rPr>
              <ns1:t>Click to edit Master text styles</ns1:t>
            </ns1:r>
          </ns1:p>
          <ns1:p>
            <ns1:pPr lvl="1"/>
            <ns1:r>
              <ns1:rPr lang="en-US" smtClean="0">
                <ns1:latin typeface="Arial"/>
                <ns1:ea typeface="黑体"/>
                <ns1:cs typeface="Arial"/>
              </ns1:rPr>
              <ns1:t>Second level</ns1:t>
            </ns1:r>
          </ns1:p>
          <ns1:p>
            <ns1:pPr lvl="2"/>
            <ns1:r>
              <ns1:rPr lang="en-US" smtClean="0">
                <ns1:latin typeface="Arial"/>
                <ns1:ea typeface="黑体"/>
                <ns1:cs typeface="Arial"/>
              </ns1:rPr>
              <ns1:t>Third level</ns1:t>
            </ns1:r>
          </ns1:p>
          <ns1:p>
            <ns1:pPr lvl="3"/>
            <ns1:r>
              <ns1:rPr lang="en-US" smtClean="0">
                <ns1:latin typeface="Arial"/>
                <ns1:ea typeface="黑体"/>
                <ns1:cs typeface="Arial"/>
              </ns1:rPr>
              <ns1:t>Fourth level</ns1:t>
            </ns1:r>
          </ns1:p>
          <ns1:p>
            <ns1:pPr lvl="4"/>
            <ns1:r>
              <ns1:rPr lang="en-US" smtClean="0">
                <ns1:latin typeface="Arial"/>
                <ns1:ea typeface="黑体"/>
                <ns1:cs typeface="Arial"/>
              </ns1:rPr>
              <ns1:t>Fifth level</ns1:t>
            </ns1:r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4" name="Text Placeholder 3"/>
          <ns0:cNvSpPr>
            <ns1:spLocks noGrp="1"/>
          </ns0:cNvSpPr>
          <ns0:nvPr>
            <ns0:ph type="body" sz="half" idx="2"/>
          </ns0:nvPr>
        </ns0:nvSpPr>
        <ns0:spPr>
          <ns1:xfrm>
            <ns1:off x="457200" y="1435100"/>
            <ns1:ext cx="3008313" cy="4691063"/>
          </ns1:xfrm>
        </ns0:spPr>
        <ns0:txBody>
          <ns1:bodyPr/>
          <ns1:lstStyle>
            <ns1:lvl1pPr marL="0" indent="0">
              <ns1:buNone/>
              <ns1:defRPr sz="1400">
                <ns1:latin typeface="Arial"/>
                <ns1:ea typeface="黑体"/>
                <ns1:cs typeface="Arial"/>
              </ns1:defRPr>
            </ns1:lvl1pPr>
            <ns1:lvl2pPr marL="457200" indent="0">
              <ns1:buNone/>
              <ns1:defRPr sz="1200">
                <ns1:latin typeface="Arial"/>
                <ns1:ea typeface="黑体"/>
                <ns1:cs typeface="Arial"/>
              </ns1:defRPr>
            </ns1:lvl2pPr>
            <ns1:lvl3pPr marL="914400" indent="0">
              <ns1:buNone/>
              <ns1:defRPr sz="1000">
                <ns1:latin typeface="Arial"/>
                <ns1:ea typeface="黑体"/>
                <ns1:cs typeface="Arial"/>
              </ns1:defRPr>
            </ns1:lvl3pPr>
            <ns1:lvl4pPr marL="1371600" indent="0">
              <ns1:buNone/>
              <ns1:defRPr sz="900">
                <ns1:latin typeface="Arial"/>
                <ns1:ea typeface="黑体"/>
                <ns1:cs typeface="Arial"/>
              </ns1:defRPr>
            </ns1:lvl4pPr>
            <ns1:lvl5pPr marL="1828800" indent="0">
              <ns1:buNone/>
              <ns1:defRPr sz="900">
                <ns1:latin typeface="Arial"/>
                <ns1:ea typeface="黑体"/>
                <ns1:cs typeface="Arial"/>
              </ns1:defRPr>
            </ns1:lvl5pPr>
            <ns1:lvl6pPr marL="2286000" indent="0">
              <ns1:buNone/>
              <ns1:defRPr sz="900">
                <ns1:latin typeface="Arial"/>
                <ns1:ea typeface="黑体"/>
                <ns1:cs typeface="Arial"/>
              </ns1:defRPr>
            </ns1:lvl6pPr>
            <ns1:lvl7pPr marL="2743200" indent="0">
              <ns1:buNone/>
              <ns1:defRPr sz="900">
                <ns1:latin typeface="Arial"/>
                <ns1:ea typeface="黑体"/>
                <ns1:cs typeface="Arial"/>
              </ns1:defRPr>
            </ns1:lvl7pPr>
            <ns1:lvl8pPr marL="3200400" indent="0">
              <ns1:buNone/>
              <ns1:defRPr sz="900">
                <ns1:latin typeface="Arial"/>
                <ns1:ea typeface="黑体"/>
                <ns1:cs typeface="Arial"/>
              </ns1:defRPr>
            </ns1:lvl8pPr>
            <ns1:lvl9pPr marL="3657600" indent="0">
              <ns1:buNone/>
              <ns1:defRPr sz="900">
                <ns1:latin typeface="Arial"/>
                <ns1:ea typeface="黑体"/>
                <ns1:cs typeface="Arial"/>
              </ns1:defRPr>
            </ns1:lvl9pPr>
          </ns1:lstStyle>
          <ns1:p>
            <ns1:pPr lvl="0"/>
            <ns1:r>
              <ns1:rPr lang="en-US" smtClean="0">
                <ns1:latin typeface="Arial"/>
                <ns1:ea typeface="黑体"/>
                <ns1:cs typeface="Arial"/>
              </ns1:rPr>
              <ns1:t>Click to edit Master text styles</ns1:t>
            </ns1:r>
          </ns1:p>
        </ns0:txBody>
      </ns0:sp>
      <ns0:sp>
        <ns0:nvSpPr>
          <ns0:cNvPr id="5" name="Date Placeholder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>
                <ns1:latin typeface="Arial"/>
                <ns1:ea typeface="黑体"/>
                <ns1:cs typeface="Arial"/>
              </ns1:rPr>
              <ns1:t>1/27/13</ns1:t>
            </ns1:fld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6" name="Footer Placeholder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7" name="Slide Number Placeholder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>
                <ns1:latin typeface="Arial"/>
                <ns1:ea typeface="黑体"/>
                <ns1:cs typeface="Arial"/>
              </ns1:rPr>
              <ns1:t>‹#›</ns1:t>
            </ns1:fld>
            <ns1:endParaRPr lang="en-US">
              <ns1:latin typeface="Arial"/>
              <ns1:ea typeface="黑体"/>
              <ns1:cs typeface="Arial"/>
            </ns1:endParaRPr>
          </ns1:p>
        </ns0:txBody>
      </ns0:sp>
    </ns0:spTree>
    <ns0:extLst>
      <ns0:ext uri="{BB962C8B-B14F-4D97-AF65-F5344CB8AC3E}">
        <ns2:creationId val="1840726560"/>
      </ns0:ext>
    </ns0:extLst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xmlns:ns2="http://schemas.microsoft.com/office/powerpoint/2010/main" type="picTx" preserve="1">
  <ns0:cSld name="Picture with Caption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1792288" y="4800600"/>
            <ns1:ext cx="5486400" cy="566738"/>
          </ns1:xfrm>
        </ns0:spPr>
        <ns0:txBody>
          <ns1:bodyPr anchor="b"/>
          <ns1:lstStyle>
            <ns1:lvl1pPr algn="l">
              <ns1:defRPr sz="2000" b="1">
                <ns1:latin typeface="Arial"/>
                <ns1:ea typeface="黑体"/>
                <ns1:cs typeface="Arial"/>
              </ns1:defRPr>
            </ns1:lvl1pPr>
          </ns1:lstStyle>
          <ns1:p>
            <ns1:r>
              <ns1:rPr lang="en-US" smtClean="0">
                <ns1:latin typeface="Arial"/>
                <ns1:ea typeface="黑体"/>
                <ns1:cs typeface="Arial"/>
              </ns1:rPr>
              <ns1:t>Click to edit Master title style</ns1:t>
            </ns1:r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3" name="Picture Placeholder 2"/>
          <ns0:cNvSpPr>
            <ns1:spLocks noGrp="1"/>
          </ns0:cNvSpPr>
          <ns0:nvPr>
            <ns0:ph type="pic" idx="1"/>
          </ns0:nvPr>
        </ns0:nvSpPr>
        <ns0:spPr>
          <ns1:xfrm>
            <ns1:off x="1792288" y="612775"/>
            <ns1:ext cx="5486400" cy="4114800"/>
          </ns1:xfrm>
        </ns0:spPr>
        <ns0:txBody>
          <ns1:bodyPr/>
          <ns1:lstStyle>
            <ns1:lvl1pPr marL="0" indent="0">
              <ns1:buNone/>
              <ns1:defRPr sz="3200">
                <ns1:latin typeface="Arial"/>
                <ns1:ea typeface="黑体"/>
                <ns1:cs typeface="Arial"/>
              </ns1:defRPr>
            </ns1:lvl1pPr>
            <ns1:lvl2pPr marL="457200" indent="0">
              <ns1:buNone/>
              <ns1:defRPr sz="2800">
                <ns1:latin typeface="Arial"/>
                <ns1:ea typeface="黑体"/>
                <ns1:cs typeface="Arial"/>
              </ns1:defRPr>
            </ns1:lvl2pPr>
            <ns1:lvl3pPr marL="914400" indent="0">
              <ns1:buNone/>
              <ns1:defRPr sz="2400">
                <ns1:latin typeface="Arial"/>
                <ns1:ea typeface="黑体"/>
                <ns1:cs typeface="Arial"/>
              </ns1:defRPr>
            </ns1:lvl3pPr>
            <ns1:lvl4pPr marL="1371600" indent="0">
              <ns1:buNone/>
              <ns1:defRPr sz="2000">
                <ns1:latin typeface="Arial"/>
                <ns1:ea typeface="黑体"/>
                <ns1:cs typeface="Arial"/>
              </ns1:defRPr>
            </ns1:lvl4pPr>
            <ns1:lvl5pPr marL="1828800" indent="0">
              <ns1:buNone/>
              <ns1:defRPr sz="2000">
                <ns1:latin typeface="Arial"/>
                <ns1:ea typeface="黑体"/>
                <ns1:cs typeface="Arial"/>
              </ns1:defRPr>
            </ns1:lvl5pPr>
            <ns1:lvl6pPr marL="2286000" indent="0">
              <ns1:buNone/>
              <ns1:defRPr sz="2000">
                <ns1:latin typeface="Arial"/>
                <ns1:ea typeface="黑体"/>
                <ns1:cs typeface="Arial"/>
              </ns1:defRPr>
            </ns1:lvl6pPr>
            <ns1:lvl7pPr marL="2743200" indent="0">
              <ns1:buNone/>
              <ns1:defRPr sz="2000">
                <ns1:latin typeface="Arial"/>
                <ns1:ea typeface="黑体"/>
                <ns1:cs typeface="Arial"/>
              </ns1:defRPr>
            </ns1:lvl7pPr>
            <ns1:lvl8pPr marL="3200400" indent="0">
              <ns1:buNone/>
              <ns1:defRPr sz="2000">
                <ns1:latin typeface="Arial"/>
                <ns1:ea typeface="黑体"/>
                <ns1:cs typeface="Arial"/>
              </ns1:defRPr>
            </ns1:lvl8pPr>
            <ns1:lvl9pPr marL="3657600" indent="0">
              <ns1:buNone/>
              <ns1:defRPr sz="2000">
                <ns1:latin typeface="Arial"/>
                <ns1:ea typeface="黑体"/>
                <ns1:cs typeface="Arial"/>
              </ns1:defRPr>
            </ns1:lvl9pPr>
          </ns1:lstStyle>
          <ns1:p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4" name="Text Placeholder 3"/>
          <ns0:cNvSpPr>
            <ns1:spLocks noGrp="1"/>
          </ns0:cNvSpPr>
          <ns0:nvPr>
            <ns0:ph type="body" sz="half" idx="2"/>
          </ns0:nvPr>
        </ns0:nvSpPr>
        <ns0:spPr>
          <ns1:xfrm>
            <ns1:off x="1792288" y="5367338"/>
            <ns1:ext cx="5486400" cy="804862"/>
          </ns1:xfrm>
        </ns0:spPr>
        <ns0:txBody>
          <ns1:bodyPr/>
          <ns1:lstStyle>
            <ns1:lvl1pPr marL="0" indent="0">
              <ns1:buNone/>
              <ns1:defRPr sz="1400">
                <ns1:latin typeface="Arial"/>
                <ns1:ea typeface="黑体"/>
                <ns1:cs typeface="Arial"/>
              </ns1:defRPr>
            </ns1:lvl1pPr>
            <ns1:lvl2pPr marL="457200" indent="0">
              <ns1:buNone/>
              <ns1:defRPr sz="1200">
                <ns1:latin typeface="Arial"/>
                <ns1:ea typeface="黑体"/>
                <ns1:cs typeface="Arial"/>
              </ns1:defRPr>
            </ns1:lvl2pPr>
            <ns1:lvl3pPr marL="914400" indent="0">
              <ns1:buNone/>
              <ns1:defRPr sz="1000">
                <ns1:latin typeface="Arial"/>
                <ns1:ea typeface="黑体"/>
                <ns1:cs typeface="Arial"/>
              </ns1:defRPr>
            </ns1:lvl3pPr>
            <ns1:lvl4pPr marL="1371600" indent="0">
              <ns1:buNone/>
              <ns1:defRPr sz="900">
                <ns1:latin typeface="Arial"/>
                <ns1:ea typeface="黑体"/>
                <ns1:cs typeface="Arial"/>
              </ns1:defRPr>
            </ns1:lvl4pPr>
            <ns1:lvl5pPr marL="1828800" indent="0">
              <ns1:buNone/>
              <ns1:defRPr sz="900">
                <ns1:latin typeface="Arial"/>
                <ns1:ea typeface="黑体"/>
                <ns1:cs typeface="Arial"/>
              </ns1:defRPr>
            </ns1:lvl5pPr>
            <ns1:lvl6pPr marL="2286000" indent="0">
              <ns1:buNone/>
              <ns1:defRPr sz="900">
                <ns1:latin typeface="Arial"/>
                <ns1:ea typeface="黑体"/>
                <ns1:cs typeface="Arial"/>
              </ns1:defRPr>
            </ns1:lvl6pPr>
            <ns1:lvl7pPr marL="2743200" indent="0">
              <ns1:buNone/>
              <ns1:defRPr sz="900">
                <ns1:latin typeface="Arial"/>
                <ns1:ea typeface="黑体"/>
                <ns1:cs typeface="Arial"/>
              </ns1:defRPr>
            </ns1:lvl7pPr>
            <ns1:lvl8pPr marL="3200400" indent="0">
              <ns1:buNone/>
              <ns1:defRPr sz="900">
                <ns1:latin typeface="Arial"/>
                <ns1:ea typeface="黑体"/>
                <ns1:cs typeface="Arial"/>
              </ns1:defRPr>
            </ns1:lvl8pPr>
            <ns1:lvl9pPr marL="3657600" indent="0">
              <ns1:buNone/>
              <ns1:defRPr sz="900">
                <ns1:latin typeface="Arial"/>
                <ns1:ea typeface="黑体"/>
                <ns1:cs typeface="Arial"/>
              </ns1:defRPr>
            </ns1:lvl9pPr>
          </ns1:lstStyle>
          <ns1:p>
            <ns1:pPr lvl="0"/>
            <ns1:r>
              <ns1:rPr lang="en-US" smtClean="0">
                <ns1:latin typeface="Arial"/>
                <ns1:ea typeface="黑体"/>
                <ns1:cs typeface="Arial"/>
              </ns1:rPr>
              <ns1:t>Click to edit Master text styles</ns1:t>
            </ns1:r>
          </ns1:p>
        </ns0:txBody>
      </ns0:sp>
      <ns0:sp>
        <ns0:nvSpPr>
          <ns0:cNvPr id="5" name="Date Placeholder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>
                <ns1:latin typeface="Arial"/>
                <ns1:ea typeface="黑体"/>
                <ns1:cs typeface="Arial"/>
              </ns1:rPr>
              <ns1:t>1/27/13</ns1:t>
            </ns1:fld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6" name="Footer Placeholder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7" name="Slide Number Placeholder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>
                <ns1:latin typeface="Arial"/>
                <ns1:ea typeface="黑体"/>
                <ns1:cs typeface="Arial"/>
              </ns1:rPr>
              <ns1:t>‹#›</ns1:t>
            </ns1:fld>
            <ns1:endParaRPr lang="en-US">
              <ns1:latin typeface="Arial"/>
              <ns1:ea typeface="黑体"/>
              <ns1:cs typeface="Arial"/>
            </ns1:endParaRPr>
          </ns1:p>
        </ns0:txBody>
      </ns0:sp>
    </ns0:spTree>
    <ns0:extLst>
      <ns0:ext uri="{BB962C8B-B14F-4D97-AF65-F5344CB8AC3E}">
        <ns2:creationId val="3889236939"/>
      </ns0:ext>
    </ns0:extLst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xmlns:ns2="http://schemas.microsoft.com/office/powerpoint/2010/main" type="vertTx" preserve="1">
  <ns0:cSld name="Title and Vertical Text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smtClean="0">
                <ns1:latin typeface="Arial"/>
                <ns1:ea typeface="黑体"/>
                <ns1:cs typeface="Arial"/>
              </ns1:rPr>
              <ns1:t>Click to edit Master title style</ns1:t>
            </ns1:r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3" name="Vertical Text Placeholder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en-US" smtClean="0">
                <ns1:latin typeface="Arial"/>
                <ns1:ea typeface="黑体"/>
                <ns1:cs typeface="Arial"/>
              </ns1:rPr>
              <ns1:t>Click to edit Master text styles</ns1:t>
            </ns1:r>
          </ns1:p>
          <ns1:p>
            <ns1:pPr lvl="1"/>
            <ns1:r>
              <ns1:rPr lang="en-US" smtClean="0">
                <ns1:latin typeface="Arial"/>
                <ns1:ea typeface="黑体"/>
                <ns1:cs typeface="Arial"/>
              </ns1:rPr>
              <ns1:t>Second level</ns1:t>
            </ns1:r>
          </ns1:p>
          <ns1:p>
            <ns1:pPr lvl="2"/>
            <ns1:r>
              <ns1:rPr lang="en-US" smtClean="0">
                <ns1:latin typeface="Arial"/>
                <ns1:ea typeface="黑体"/>
                <ns1:cs typeface="Arial"/>
              </ns1:rPr>
              <ns1:t>Third level</ns1:t>
            </ns1:r>
          </ns1:p>
          <ns1:p>
            <ns1:pPr lvl="3"/>
            <ns1:r>
              <ns1:rPr lang="en-US" smtClean="0">
                <ns1:latin typeface="Arial"/>
                <ns1:ea typeface="黑体"/>
                <ns1:cs typeface="Arial"/>
              </ns1:rPr>
              <ns1:t>Fourth level</ns1:t>
            </ns1:r>
          </ns1:p>
          <ns1:p>
            <ns1:pPr lvl="4"/>
            <ns1:r>
              <ns1:rPr lang="en-US" smtClean="0">
                <ns1:latin typeface="Arial"/>
                <ns1:ea typeface="黑体"/>
                <ns1:cs typeface="Arial"/>
              </ns1:rPr>
              <ns1:t>Fifth level</ns1:t>
            </ns1:r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>
                <ns1:latin typeface="Arial"/>
                <ns1:ea typeface="黑体"/>
                <ns1:cs typeface="Arial"/>
              </ns1:rPr>
              <ns1:t>1/27/13</ns1:t>
            </ns1:fld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>
                <ns1:latin typeface="Arial"/>
                <ns1:ea typeface="黑体"/>
                <ns1:cs typeface="Arial"/>
              </ns1:rPr>
              <ns1:t>‹#›</ns1:t>
            </ns1:fld>
            <ns1:endParaRPr lang="en-US">
              <ns1:latin typeface="Arial"/>
              <ns1:ea typeface="黑体"/>
              <ns1:cs typeface="Arial"/>
            </ns1:endParaRPr>
          </ns1:p>
        </ns0:txBody>
      </ns0:sp>
    </ns0:spTree>
    <ns0:extLst>
      <ns0:ext uri="{BB962C8B-B14F-4D97-AF65-F5344CB8AC3E}">
        <ns2:creationId val="2910927964"/>
      </ns0:ext>
    </ns0:extLst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xmlns:ns2="http://schemas.microsoft.com/office/powerpoint/2010/main" type="vertTitleAndTx" preserve="1">
  <ns0:cSld name="Vertical Title and Text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Vertical Title 1"/>
          <ns0:cNvSpPr>
            <ns1:spLocks noGrp="1"/>
          </ns0:cNvSpPr>
          <ns0:nvPr>
            <ns0:ph type="title" orient="vert"/>
          </ns0:nvPr>
        </ns0:nvSpPr>
        <ns0:spPr>
          <ns1:xfrm>
            <ns1:off x="6629400" y="274638"/>
            <ns1:ext cx="2057400" cy="5851525"/>
          </ns1:xfrm>
        </ns0:spPr>
        <ns0:txBody>
          <ns1:bodyPr vert="eaVert"/>
          <ns1:lstStyle/>
          <ns1:p>
            <ns1:r>
              <ns1:rPr lang="en-US" smtClean="0">
                <ns1:latin typeface="Arial"/>
                <ns1:ea typeface="黑体"/>
                <ns1:cs typeface="Arial"/>
              </ns1:rPr>
              <ns1:t>Click to edit Master title style</ns1:t>
            </ns1:r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3" name="Vertical Text Placeholder 2"/>
          <ns0:cNvSpPr>
            <ns1:spLocks noGrp="1"/>
          </ns0:cNvSpPr>
          <ns0:nvPr>
            <ns0:ph type="body" orient="vert" idx="1"/>
          </ns0:nvPr>
        </ns0:nvSpPr>
        <ns0:spPr>
          <ns1:xfrm>
            <ns1:off x="457200" y="274638"/>
            <ns1:ext cx="6019800" cy="5851525"/>
          </ns1:xfrm>
        </ns0:spPr>
        <ns0:txBody>
          <ns1:bodyPr vert="eaVert"/>
          <ns1:lstStyle/>
          <ns1:p>
            <ns1:pPr lvl="0"/>
            <ns1:r>
              <ns1:rPr lang="en-US" smtClean="0">
                <ns1:latin typeface="Arial"/>
                <ns1:ea typeface="黑体"/>
                <ns1:cs typeface="Arial"/>
              </ns1:rPr>
              <ns1:t>Click to edit Master text styles</ns1:t>
            </ns1:r>
          </ns1:p>
          <ns1:p>
            <ns1:pPr lvl="1"/>
            <ns1:r>
              <ns1:rPr lang="en-US" smtClean="0">
                <ns1:latin typeface="Arial"/>
                <ns1:ea typeface="黑体"/>
                <ns1:cs typeface="Arial"/>
              </ns1:rPr>
              <ns1:t>Second level</ns1:t>
            </ns1:r>
          </ns1:p>
          <ns1:p>
            <ns1:pPr lvl="2"/>
            <ns1:r>
              <ns1:rPr lang="en-US" smtClean="0">
                <ns1:latin typeface="Arial"/>
                <ns1:ea typeface="黑体"/>
                <ns1:cs typeface="Arial"/>
              </ns1:rPr>
              <ns1:t>Third level</ns1:t>
            </ns1:r>
          </ns1:p>
          <ns1:p>
            <ns1:pPr lvl="3"/>
            <ns1:r>
              <ns1:rPr lang="en-US" smtClean="0">
                <ns1:latin typeface="Arial"/>
                <ns1:ea typeface="黑体"/>
                <ns1:cs typeface="Arial"/>
              </ns1:rPr>
              <ns1:t>Fourth level</ns1:t>
            </ns1:r>
          </ns1:p>
          <ns1:p>
            <ns1:pPr lvl="4"/>
            <ns1:r>
              <ns1:rPr lang="en-US" smtClean="0">
                <ns1:latin typeface="Arial"/>
                <ns1:ea typeface="黑体"/>
                <ns1:cs typeface="Arial"/>
              </ns1:rPr>
              <ns1:t>Fifth level</ns1:t>
            </ns1:r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>
                <ns1:latin typeface="Arial"/>
                <ns1:ea typeface="黑体"/>
                <ns1:cs typeface="Arial"/>
              </ns1:rPr>
              <ns1:t>1/27/13</ns1:t>
            </ns1:fld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>
                <ns1:latin typeface="Arial"/>
                <ns1:ea typeface="黑体"/>
                <ns1:cs typeface="Arial"/>
              </ns1:rPr>
              <ns1:t>‹#›</ns1:t>
            </ns1:fld>
            <ns1:endParaRPr lang="en-US">
              <ns1:latin typeface="Arial"/>
              <ns1:ea typeface="黑体"/>
              <ns1:cs typeface="Arial"/>
            </ns1:endParaRPr>
          </ns1:p>
        </ns0:txBody>
      </ns0:sp>
    </ns0:spTree>
    <ns0:extLst>
      <ns0:ext uri="{BB962C8B-B14F-4D97-AF65-F5344CB8AC3E}">
        <ns2:creationId val="3612223792"/>
      </ns0:ext>
    </ns0:extLst>
  </ns0:cSld>
  <ns0:clrMapOvr>
    <ns1:masterClrMapping/>
  </ns0:clrMapOvr>
</ns0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microsoft.com/office/powerpoint/2010/main" xmlns:ns3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Placeholder 1"/>
          <ns0:cNvSpPr>
            <ns1:spLocks noGrp="1"/>
          </ns0:cNvSpPr>
          <ns0:nvPr>
            <ns0:ph type="title"/>
          </ns0:nvPr>
        </ns0:nvSpPr>
        <ns0:spPr>
          <ns1:xfrm>
            <ns1:off x="457200" y="274638"/>
            <ns1:ext cx="8229600" cy="1143000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en-US" smtClean="0">
                <ns1:latin typeface="Arial"/>
                <ns1:ea typeface="黑体"/>
                <ns1:cs typeface="Arial"/>
              </ns1:rPr>
              <ns1:t>Click to edit Master title style</ns1:t>
            </ns1:r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3" name="Text Placeholder 2"/>
          <ns0:cNvSpPr>
            <ns1:spLocks noGrp="1"/>
          </ns0:cNvSpPr>
          <ns0:nvPr>
            <ns0:ph type="body" idx="1"/>
          </ns0:nvPr>
        </ns0:nvSpPr>
        <ns0:spPr>
          <ns1:xfrm>
            <ns1:off x="457200" y="1600200"/>
            <ns1:ext cx="8229600" cy="4525963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en-US" smtClean="0">
                <ns1:latin typeface="Arial"/>
                <ns1:ea typeface="黑体"/>
                <ns1:cs typeface="Arial"/>
              </ns1:rPr>
              <ns1:t>Click to edit Master text styles</ns1:t>
            </ns1:r>
          </ns1:p>
          <ns1:p>
            <ns1:pPr lvl="1"/>
            <ns1:r>
              <ns1:rPr lang="en-US" smtClean="0">
                <ns1:latin typeface="Arial"/>
                <ns1:ea typeface="黑体"/>
                <ns1:cs typeface="Arial"/>
              </ns1:rPr>
              <ns1:t>Second level</ns1:t>
            </ns1:r>
          </ns1:p>
          <ns1:p>
            <ns1:pPr lvl="2"/>
            <ns1:r>
              <ns1:rPr lang="en-US" smtClean="0">
                <ns1:latin typeface="Arial"/>
                <ns1:ea typeface="黑体"/>
                <ns1:cs typeface="Arial"/>
              </ns1:rPr>
              <ns1:t>Third level</ns1:t>
            </ns1:r>
          </ns1:p>
          <ns1:p>
            <ns1:pPr lvl="3"/>
            <ns1:r>
              <ns1:rPr lang="en-US" smtClean="0">
                <ns1:latin typeface="Arial"/>
                <ns1:ea typeface="黑体"/>
                <ns1:cs typeface="Arial"/>
              </ns1:rPr>
              <ns1:t>Fourth level</ns1:t>
            </ns1:r>
          </ns1:p>
          <ns1:p>
            <ns1:pPr lvl="4"/>
            <ns1:r>
              <ns1:rPr lang="en-US" smtClean="0">
                <ns1:latin typeface="Arial"/>
                <ns1:ea typeface="黑体"/>
                <ns1:cs typeface="Arial"/>
              </ns1:rPr>
              <ns1:t>Fifth level</ns1:t>
            </ns1:r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2"/>
          </ns0:nvPr>
        </ns0:nvSpPr>
        <ns0:spPr>
          <ns1:xfrm>
            <ns1:off x="457200" y="6356350"/>
            <ns1:ext cx="21336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  <ns1:latin typeface="Arial"/>
                <ns1:ea typeface="黑体"/>
                <ns1:cs typeface="Arial"/>
              </ns1:defRPr>
            </ns1:lvl1pPr>
          </ns1:lstStyle>
          <ns1:p>
            <ns1:fld id="{5BCAD085-E8A6-8845-BD4E-CB4CCA059FC4}" type="datetimeFigureOut">
              <ns1:rPr lang="en-US" smtClean="0">
                <ns1:latin typeface="Arial"/>
                <ns1:ea typeface="黑体"/>
                <ns1:cs typeface="Arial"/>
              </ns1:rPr>
              <ns1:t>1/27/13</ns1:t>
            </ns1:fld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3"/>
          </ns0:nvPr>
        </ns0:nvSpPr>
        <ns0:spPr>
          <ns1:xfrm>
            <ns1:off x="3124200" y="6356350"/>
            <ns1:ext cx="28956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  <ns1:latin typeface="Arial"/>
                <ns1:ea typeface="黑体"/>
                <ns1:cs typeface="Arial"/>
              </ns1:defRPr>
            </ns1:lvl1pPr>
          </ns1:lstStyle>
          <ns1:p>
            <ns1:endParaRPr lang="en-US">
              <ns1:latin typeface="Arial"/>
              <ns1:ea typeface="黑体"/>
              <ns1:cs typeface="Arial"/>
            </ns1:endParaRPr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4"/>
          </ns0:nvPr>
        </ns0:nvSpPr>
        <ns0:spPr>
          <ns1:xfrm>
            <ns1:off x="6553200" y="6356350"/>
            <ns1:ext cx="21336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  <ns1:latin typeface="Arial"/>
                <ns1:ea typeface="黑体"/>
                <ns1:cs typeface="Arial"/>
              </ns1:defRPr>
            </ns1:lvl1pPr>
          </ns1:lstStyle>
          <ns1:p>
            <ns1:fld id="{C1FF6DA9-008F-8B48-92A6-B652298478BF}" type="slidenum">
              <ns1:rPr lang="en-US" smtClean="0">
                <ns1:latin typeface="Arial"/>
                <ns1:ea typeface="黑体"/>
                <ns1:cs typeface="Arial"/>
              </ns1:rPr>
              <ns1:t>‹#›</ns1:t>
            </ns1:fld>
            <ns1:endParaRPr lang="en-US">
              <ns1:latin typeface="Arial"/>
              <ns1:ea typeface="黑体"/>
              <ns1:cs typeface="Arial"/>
            </ns1:endParaRPr>
          </ns1:p>
        </ns0:txBody>
      </ns0:sp>
    </ns0:spTree>
    <ns0:extLst>
      <ns0:ext uri="{BB962C8B-B14F-4D97-AF65-F5344CB8AC3E}">
        <ns2:creationId val="2209977519"/>
      </ns0:ext>
    </ns0:extLst>
  </ns0:cSld>
  <ns0:clrMap bg1="lt1" tx1="dk1" bg2="lt2" tx2="dk2" accent1="accent1" accent2="accent2" accent3="accent3" accent4="accent4" accent5="accent5" accent6="accent6" hlink="hlink" folHlink="folHlink"/>
  <ns0:sldLayoutIdLst>
    <ns0:sldLayoutId id="2147483649" ns3:id="rId1"/>
    <ns0:sldLayoutId id="2147483650" ns3:id="rId2"/>
    <ns0:sldLayoutId id="2147483651" ns3:id="rId3"/>
    <ns0:sldLayoutId id="2147483652" ns3:id="rId4"/>
    <ns0:sldLayoutId id="2147483653" ns3:id="rId5"/>
    <ns0:sldLayoutId id="2147483654" ns3:id="rId6"/>
    <ns0:sldLayoutId id="2147483655" ns3:id="rId7"/>
    <ns0:sldLayoutId id="2147483656" ns3:id="rId8"/>
    <ns0:sldLayoutId id="2147483657" ns3:id="rId9"/>
    <ns0:sldLayoutId id="2147483658" ns3:id="rId10"/>
    <ns0:sldLayoutId id="2147483659" ns3:id="rId11"/>
  </ns0:sldLayoutIdLst>
  <ns0:txStyles>
    <ns0:titleStyle>
      <ns1:lvl1pPr algn="ctr" defTabSz="457200" rtl="0" eaLnBrk="1" latinLnBrk="0" hangingPunct="1">
        <ns1:spcBef>
          <ns1:spcPct val="0"/>
        </ns1:spcBef>
        <ns1:buNone/>
        <ns1:defRPr sz="4400" kern="1200">
          <ns1:solidFill>
            <ns1:schemeClr val="tx1"/>
          </ns1:solidFill>
          <ns1:latin typeface="Arial"/>
          <ns1:ea typeface="黑体"/>
          <ns1:cs typeface="Arial"/>
        </ns1:defRPr>
      </ns1:lvl1pPr>
    </ns0:titleStyle>
    <ns0:bodyStyle>
      <ns1:lvl1pPr marL="342900" indent="-342900" algn="l" defTabSz="457200" rtl="0" eaLnBrk="1" latinLnBrk="0" hangingPunct="1">
        <ns1:spcBef>
          <ns1:spcPct val="20000"/>
        </ns1:spcBef>
        <ns1:buFont typeface="Arial"/>
        <ns1:buChar char="•"/>
        <ns1:defRPr sz="3200" kern="1200">
          <ns1:solidFill>
            <ns1:schemeClr val="tx1"/>
          </ns1:solidFill>
          <ns1:latin typeface="Arial"/>
          <ns1:ea typeface="黑体"/>
          <ns1:cs typeface="Arial"/>
        </ns1:defRPr>
      </ns1:lvl1pPr>
      <ns1:lvl2pPr marL="742950" indent="-285750" algn="l" defTabSz="457200" rtl="0" eaLnBrk="1" latinLnBrk="0" hangingPunct="1">
        <ns1:spcBef>
          <ns1:spcPct val="20000"/>
        </ns1:spcBef>
        <ns1:buFont typeface="Arial"/>
        <ns1:buChar char="–"/>
        <ns1:defRPr sz="2800" kern="1200">
          <ns1:solidFill>
            <ns1:schemeClr val="tx1"/>
          </ns1:solidFill>
          <ns1:latin typeface="Arial"/>
          <ns1:ea typeface="黑体"/>
          <ns1:cs typeface="Arial"/>
        </ns1:defRPr>
      </ns1:lvl2pPr>
      <ns1:lvl3pPr marL="1143000" indent="-228600" algn="l" defTabSz="457200" rtl="0" eaLnBrk="1" latinLnBrk="0" hangingPunct="1">
        <ns1:spcBef>
          <ns1:spcPct val="20000"/>
        </ns1:spcBef>
        <ns1:buFont typeface="Arial"/>
        <ns1:buChar char="•"/>
        <ns1:defRPr sz="2400" kern="1200">
          <ns1:solidFill>
            <ns1:schemeClr val="tx1"/>
          </ns1:solidFill>
          <ns1:latin typeface="Arial"/>
          <ns1:ea typeface="黑体"/>
          <ns1:cs typeface="Arial"/>
        </ns1:defRPr>
      </ns1:lvl3pPr>
      <ns1:lvl4pPr marL="1600200" indent="-228600" algn="l" defTabSz="457200" rtl="0" eaLnBrk="1" latinLnBrk="0" hangingPunct="1">
        <ns1:spcBef>
          <ns1:spcPct val="20000"/>
        </ns1:spcBef>
        <ns1:buFont typeface="Arial"/>
        <ns1:buChar char="–"/>
        <ns1:defRPr sz="2000" kern="1200">
          <ns1:solidFill>
            <ns1:schemeClr val="tx1"/>
          </ns1:solidFill>
          <ns1:latin typeface="Arial"/>
          <ns1:ea typeface="黑体"/>
          <ns1:cs typeface="Arial"/>
        </ns1:defRPr>
      </ns1:lvl4pPr>
      <ns1:lvl5pPr marL="2057400" indent="-228600" algn="l" defTabSz="457200" rtl="0" eaLnBrk="1" latinLnBrk="0" hangingPunct="1">
        <ns1:spcBef>
          <ns1:spcPct val="20000"/>
        </ns1:spcBef>
        <ns1:buFont typeface="Arial"/>
        <ns1:buChar char="»"/>
        <ns1:defRPr sz="2000" kern="1200">
          <ns1:solidFill>
            <ns1:schemeClr val="tx1"/>
          </ns1:solidFill>
          <ns1:latin typeface="Arial"/>
          <ns1:ea typeface="黑体"/>
          <ns1:cs typeface="Arial"/>
        </ns1:defRPr>
      </ns1:lvl5pPr>
      <ns1:lvl6pPr marL="2514600" indent="-228600" algn="l" defTabSz="457200" rtl="0" eaLnBrk="1" latinLnBrk="0" hangingPunct="1">
        <ns1:spcBef>
          <ns1:spcPct val="20000"/>
        </ns1:spcBef>
        <ns1:buFont typeface="Arial"/>
        <ns1:buChar char="•"/>
        <ns1:defRPr sz="2000" kern="1200">
          <ns1:solidFill>
            <ns1:schemeClr val="tx1"/>
          </ns1:solidFill>
          <ns1:latin typeface="Arial"/>
          <ns1:ea typeface="黑体"/>
          <ns1:cs typeface="Arial"/>
        </ns1:defRPr>
      </ns1:lvl6pPr>
      <ns1:lvl7pPr marL="2971800" indent="-228600" algn="l" defTabSz="457200" rtl="0" eaLnBrk="1" latinLnBrk="0" hangingPunct="1">
        <ns1:spcBef>
          <ns1:spcPct val="20000"/>
        </ns1:spcBef>
        <ns1:buFont typeface="Arial"/>
        <ns1:buChar char="•"/>
        <ns1:defRPr sz="2000" kern="1200">
          <ns1:solidFill>
            <ns1:schemeClr val="tx1"/>
          </ns1:solidFill>
          <ns1:latin typeface="Arial"/>
          <ns1:ea typeface="黑体"/>
          <ns1:cs typeface="Arial"/>
        </ns1:defRPr>
      </ns1:lvl7pPr>
      <ns1:lvl8pPr marL="3429000" indent="-228600" algn="l" defTabSz="457200" rtl="0" eaLnBrk="1" latinLnBrk="0" hangingPunct="1">
        <ns1:spcBef>
          <ns1:spcPct val="20000"/>
        </ns1:spcBef>
        <ns1:buFont typeface="Arial"/>
        <ns1:buChar char="•"/>
        <ns1:defRPr sz="2000" kern="1200">
          <ns1:solidFill>
            <ns1:schemeClr val="tx1"/>
          </ns1:solidFill>
          <ns1:latin typeface="Arial"/>
          <ns1:ea typeface="黑体"/>
          <ns1:cs typeface="Arial"/>
        </ns1:defRPr>
      </ns1:lvl8pPr>
      <ns1:lvl9pPr marL="3886200" indent="-228600" algn="l" defTabSz="457200" rtl="0" eaLnBrk="1" latinLnBrk="0" hangingPunct="1">
        <ns1:spcBef>
          <ns1:spcPct val="20000"/>
        </ns1:spcBef>
        <ns1:buFont typeface="Arial"/>
        <ns1:buChar char="•"/>
        <ns1:defRPr sz="2000" kern="1200">
          <ns1:solidFill>
            <ns1:schemeClr val="tx1"/>
          </ns1:solidFill>
          <ns1:latin typeface="Arial"/>
          <ns1:ea typeface="黑体"/>
          <ns1:cs typeface="Arial"/>
        </ns1:defRPr>
      </ns1:lvl9pPr>
    </ns0:bodyStyle>
    <ns0:otherStyle>
      <ns1:defPPr>
        <ns1:defRPr lang="en-US">
          <ns1:latin typeface="Arial"/>
          <ns1:ea typeface="黑体"/>
          <ns1:cs typeface="Arial"/>
        </ns1:defRPr>
      </ns1:defPPr>
      <ns1:lvl1pPr marL="0" algn="l" defTabSz="457200" rtl="0" eaLnBrk="1" latinLnBrk="0" hangingPunct="1">
        <ns1:defRPr sz="1800" kern="1200">
          <ns1:solidFill>
            <ns1:schemeClr val="tx1"/>
          </ns1:solidFill>
          <ns1:latin typeface="Arial"/>
          <ns1:ea typeface="黑体"/>
          <ns1:cs typeface="Arial"/>
        </ns1:defRPr>
      </ns1:lvl1pPr>
      <ns1:lvl2pPr marL="457200" algn="l" defTabSz="457200" rtl="0" eaLnBrk="1" latinLnBrk="0" hangingPunct="1">
        <ns1:defRPr sz="1800" kern="1200">
          <ns1:solidFill>
            <ns1:schemeClr val="tx1"/>
          </ns1:solidFill>
          <ns1:latin typeface="Arial"/>
          <ns1:ea typeface="黑体"/>
          <ns1:cs typeface="Arial"/>
        </ns1:defRPr>
      </ns1:lvl2pPr>
      <ns1:lvl3pPr marL="914400" algn="l" defTabSz="457200" rtl="0" eaLnBrk="1" latinLnBrk="0" hangingPunct="1">
        <ns1:defRPr sz="1800" kern="1200">
          <ns1:solidFill>
            <ns1:schemeClr val="tx1"/>
          </ns1:solidFill>
          <ns1:latin typeface="Arial"/>
          <ns1:ea typeface="黑体"/>
          <ns1:cs typeface="Arial"/>
        </ns1:defRPr>
      </ns1:lvl3pPr>
      <ns1:lvl4pPr marL="1371600" algn="l" defTabSz="457200" rtl="0" eaLnBrk="1" latinLnBrk="0" hangingPunct="1">
        <ns1:defRPr sz="1800" kern="1200">
          <ns1:solidFill>
            <ns1:schemeClr val="tx1"/>
          </ns1:solidFill>
          <ns1:latin typeface="Arial"/>
          <ns1:ea typeface="黑体"/>
          <ns1:cs typeface="Arial"/>
        </ns1:defRPr>
      </ns1:lvl4pPr>
      <ns1:lvl5pPr marL="1828800" algn="l" defTabSz="457200" rtl="0" eaLnBrk="1" latinLnBrk="0" hangingPunct="1">
        <ns1:defRPr sz="1800" kern="1200">
          <ns1:solidFill>
            <ns1:schemeClr val="tx1"/>
          </ns1:solidFill>
          <ns1:latin typeface="Arial"/>
          <ns1:ea typeface="黑体"/>
          <ns1:cs typeface="Arial"/>
        </ns1:defRPr>
      </ns1:lvl5pPr>
      <ns1:lvl6pPr marL="2286000" algn="l" defTabSz="457200" rtl="0" eaLnBrk="1" latinLnBrk="0" hangingPunct="1">
        <ns1:defRPr sz="1800" kern="1200">
          <ns1:solidFill>
            <ns1:schemeClr val="tx1"/>
          </ns1:solidFill>
          <ns1:latin typeface="Arial"/>
          <ns1:ea typeface="黑体"/>
          <ns1:cs typeface="Arial"/>
        </ns1:defRPr>
      </ns1:lvl6pPr>
      <ns1:lvl7pPr marL="2743200" algn="l" defTabSz="457200" rtl="0" eaLnBrk="1" latinLnBrk="0" hangingPunct="1">
        <ns1:defRPr sz="1800" kern="1200">
          <ns1:solidFill>
            <ns1:schemeClr val="tx1"/>
          </ns1:solidFill>
          <ns1:latin typeface="Arial"/>
          <ns1:ea typeface="黑体"/>
          <ns1:cs typeface="Arial"/>
        </ns1:defRPr>
      </ns1:lvl7pPr>
      <ns1:lvl8pPr marL="3200400" algn="l" defTabSz="457200" rtl="0" eaLnBrk="1" latinLnBrk="0" hangingPunct="1">
        <ns1:defRPr sz="1800" kern="1200">
          <ns1:solidFill>
            <ns1:schemeClr val="tx1"/>
          </ns1:solidFill>
          <ns1:latin typeface="Arial"/>
          <ns1:ea typeface="黑体"/>
          <ns1:cs typeface="Arial"/>
        </ns1:defRPr>
      </ns1:lvl8pPr>
      <ns1:lvl9pPr marL="3657600" algn="l" defTabSz="457200" rtl="0" eaLnBrk="1" latinLnBrk="0" hangingPunct="1">
        <ns1:defRPr sz="1800" kern="1200">
          <ns1:solidFill>
            <ns1:schemeClr val="tx1"/>
          </ns1:solidFill>
          <ns1:latin typeface="Arial"/>
          <ns1:ea typeface="黑体"/>
          <ns1:cs typeface="Arial"/>
        </ns1:defRPr>
      </ns1:lvl9pPr>
    </ns0:otherStyle>
  </ns0:txStyles>
</ns0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Oval 1"/>
          <ns0:cNvSpPr/>
          <ns0:nvPr/>
        </ns0:nvSpPr>
        <ns0:spPr>
          <ns1:xfrm>
            <ns1:off x="8595360" y="-548640"/>
            <ns1:ext cx="3840480" cy="3840480"/>
          </ns1:xfrm>
          <ns1:prstGeom prst="ellipse">
            <ns1:avLst/>
          </ns1:prstGeom>
          <ns1:solidFill>
            <ns1:srgbClr val="B2C1D8"/>
          </ns1:solidFill>
          <ns1:ln>
            <ns1:solidFill>
              <ns1:srgbClr val="B2C1D8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Oval 2"/>
          <ns0:cNvSpPr/>
          <ns0:nvPr/>
        </ns0:nvSpPr>
        <ns0:spPr>
          <ns1:xfrm>
            <ns1:off x="10972800" y="1828800"/>
            <ns1:ext cx="3200400" cy="3200400"/>
          </ns1:xfrm>
          <ns1:prstGeom prst="ellipse">
            <ns1:avLst/>
          </ns1:prstGeom>
          <ns1:solidFill>
            <ns1:srgbClr val="E8C8B6"/>
          </ns1:solidFill>
          <ns1:ln>
            <ns1:solidFill>
              <ns1:srgbClr val="E8C8B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Oval 3"/>
          <ns0:cNvSpPr/>
          <ns0:nvPr/>
        </ns0:nvSpPr>
        <ns0:spPr>
          <ns1:xfrm>
            <ns1:off x="7772400" y="4389120"/>
            <ns1:ext cx="4389120" cy="4389120"/>
          </ns1:xfrm>
          <ns1:prstGeom prst="ellipse">
            <ns1:avLst/>
          </ns1:prstGeom>
          <ns1:solidFill>
            <ns1:srgbClr val="D0DAD6"/>
          </ns1:solidFill>
          <ns1:ln>
            <ns1:solidFill>
              <ns1:srgbClr val="D0DAD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Rounded Rectangle 4"/>
          <ns0:cNvSpPr/>
          <ns0:nvPr/>
        </ns0:nvSpPr>
        <ns0:spPr>
          <ns1:xfrm>
            <ns1:off x="713232" y="402336"/>
            <ns1:ext cx="1078992" cy="219456"/>
          </ns1:xfrm>
          <ns1:prstGeom prst="roundRect">
            <ns1:avLst/>
          </ns1:prstGeom>
          <ns1:solidFill>
            <ns1:srgbClr val="224E91"/>
          </ns1:solidFill>
          <ns1:ln w="10160">
            <ns1:solidFill>
              <ns1:srgbClr val="224E9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105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Deck Thesis</ns1:t>
            </ns1:r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713232" y="932688"/>
            <ns1:ext cx="7315200" cy="1481328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28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标准不会奖励最优技术，</ns1:t>
            </ns1:r>
          </ns1:p>
          <ns1:p>
            <ns1:pPr algn="l">
              <ns1:spcBef>
                <ns1:spcPts val="0"/>
              </ns1:spcBef>
              <ns1:spcAft>
                <ns1:spcPts val="0"/>
              </ns1:spcAft>
              <ns1:defRPr sz="28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标准奖励最容易被生态一起采用的方案。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713232" y="2542032"/>
            <ns1:ext cx="6629400" cy="60350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50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从 Betamax、OSI 到 Blu-ray，市场真正结算的是协同成本、切换风险、补充品联盟、部署速度与预期管理。</ns1:t>
            </ns1:r>
          </ns1:p>
        </ns0:txBody>
      </ns0:sp>
      <ns0:sp>
        <ns0:nvSpPr>
          <ns0:cNvPr id="8" name="Rounded Rectangle 7"/>
          <ns0:cNvSpPr/>
          <ns0:nvPr/>
        </ns0:nvSpPr>
        <ns0:spPr>
          <ns1:xfrm>
            <ns1:off x="713232" y="3474720"/>
            <ns1:ext cx="841248" cy="201168"/>
          </ns1:xfrm>
          <ns1:prstGeom prst="roundRect">
            <ns1:avLst/>
          </ns1:prstGeom>
          <ns1:solidFill>
            <ns1:srgbClr val="C26A3B"/>
          </ns1:solidFill>
          <ns1:ln w="10160">
            <ns1:solidFill>
              <ns1:srgbClr val="C26A3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1000" b="1" i="0">
                <ns1:solidFill>
                  <ns1:srgbClr val="192638"/>
                </ns1:solidFill>
                <ns1:latin typeface="Arial"/>
                <ns1:ea typeface="黑体"/>
                <ns1:cs typeface="Arial"/>
              </ns1:defRPr>
            </ns1:pPr>
            <ns1:r>
              <ns1:t>误判纠正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1682496" y="3474720"/>
            <ns1:ext cx="841248" cy="201168"/>
          </ns1:xfrm>
          <ns1:prstGeom prst="roundRect">
            <ns1:avLst/>
          </ns1:prstGeom>
          <ns1:solidFill>
            <ns1:srgbClr val="38609C"/>
          </ns1:solidFill>
          <ns1:ln w="10160">
            <ns1:solidFill>
              <ns1:srgbClr val="38609C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100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三场案例</ns1:t>
            </ns1:r>
          </ns1:p>
        </ns0:txBody>
      </ns0:sp>
      <ns0:sp>
        <ns0:nvSpPr>
          <ns0:cNvPr id="10" name="Rounded Rectangle 9"/>
          <ns0:cNvSpPr/>
          <ns0:nvPr/>
        </ns0:nvSpPr>
        <ns0:spPr>
          <ns1:xfrm>
            <ns1:off x="2651760" y="3474720"/>
            <ns1:ext cx="841248" cy="201168"/>
          </ns1:xfrm>
          <ns1:prstGeom prst="roundRect">
            <ns1:avLst/>
          </ns1:prstGeom>
          <ns1:solidFill>
            <ns1:srgbClr val="577C6C"/>
          </ns1:solidFill>
          <ns1:ln w="10160">
            <ns1:solidFill>
              <ns1:srgbClr val="577C6C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100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一个框架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713232" y="3913632"/>
            <ns1:ext cx="6309360" cy="1225296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8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市场不会先问“哪项指标更漂亮”，市场先问“整个系统愿不愿意一起下注”。</ns1:t>
            </ns1:r>
          </ns1:p>
          <ns1:p>
            <ns1:pPr algn="l">
              <ns1:spcBef>
                <ns1:spcPts val="0"/>
              </ns1:spcBef>
              <ns1:spcAft>
                <ns1:spcPts val="0"/>
              </ns1:spcAft>
              <ns1:defRPr sz="140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这也是为什么标准战的赢家，经常不是规格表上最耀眼的一方。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8366760" y="950976"/>
            <ns1:ext cx="4892040" cy="1755648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3947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8366760" y="950976"/>
            <ns1:ext cx="73152" cy="1755648"/>
          </ns1:xfrm>
          <ns1:prstGeom prst="roundRect">
            <ns1:avLst/>
          </ns1:prstGeom>
          <ns1:solidFill>
            <ns1:srgbClr val="BE612F"/>
          </ns1:solidFill>
          <ns1:ln>
            <ns1:solidFill>
              <ns1:srgbClr val="BE612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14" name="Picture 13" descr="presentation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8531352" y="1115568"/>
            <ns1:ext cx="256032" cy="256032"/>
          </ns1:xfrm>
          <ns1:prstGeom prst="rect">
            <ns1:avLst/>
          </ns1:prstGeom>
        </ns0:spPr>
      </ns0:pic>
      <ns0:sp>
        <ns0:nvSpPr>
          <ns0:cNvPr id="15" name="TextBox 14"/>
          <ns0:cNvSpPr txBox="1"/>
          <ns0:nvPr/>
        </ns0:nvSpPr>
        <ns0:spPr>
          <ns1:xfrm>
            <ns1:off x="8842248" y="1088136"/>
            <ns1:ext cx="4251959" cy="14630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50" b="1" i="0">
                <ns1:solidFill>
                  <ns1:srgbClr val="BE612F"/>
                </ns1:solidFill>
                <ns1:latin typeface="Arial"/>
                <ns1:ea typeface="黑体"/>
                <ns1:cs typeface="Arial"/>
              </ns1:defRPr>
            </ns1:pPr>
            <ns1:r>
              <ns1:t>CLAIM 1 | Home Video</ns1:t>
            </ns1:r>
          </ns1:p>
        </ns0:txBody>
      </ns0:sp>
      <ns0:sp>
        <ns0:nvSpPr>
          <ns0:cNvPr id="16" name="TextBox 15"/>
          <ns0:cNvSpPr txBox="1"/>
          <ns0:nvPr/>
        </ns0:nvSpPr>
        <ns0:spPr>
          <ns1:xfrm>
            <ns1:off x="8531352" y="1389888"/>
            <ns1:ext cx="4599431" cy="201168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4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任务匹配和联盟速度会压过峰值规格</ns1:t>
            </ns1:r>
          </ns1:p>
        </ns0:txBody>
      </ns0:sp>
      <ns0:sp>
        <ns0:nvSpPr>
          <ns0:cNvPr id="17" name="TextBox 16"/>
          <ns0:cNvSpPr txBox="1"/>
          <ns0:nvPr/>
        </ns0:nvSpPr>
        <ns0:spPr>
          <ns1:xfrm>
            <ns1:off x="8531352" y="1664208"/>
            <ns1:ext cx="4599431" cy="932688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5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Betamax vs VHS 证明：客厅先为“能不能录完整场比赛”和“厂商愿不愿意站队”投票。</ns1:t>
            </ns1:r>
          </ns1:p>
        </ns0:txBody>
      </ns0:sp>
      <ns0:sp>
        <ns0:nvSpPr>
          <ns0:cNvPr id="18" name="Rounded Rectangle 17"/>
          <ns0:cNvSpPr/>
          <ns0:nvPr/>
        </ns0:nvSpPr>
        <ns0:spPr>
          <ns1:xfrm>
            <ns1:off x="8641080" y="2880360"/>
            <ns1:ext cx="4617720" cy="1755648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6987B4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Rounded Rectangle 18"/>
          <ns0:cNvSpPr/>
          <ns0:nvPr/>
        </ns0:nvSpPr>
        <ns0:spPr>
          <ns1:xfrm>
            <ns1:off x="8641080" y="2880360"/>
            <ns1:ext cx="73152" cy="1755648"/>
          </ns1:xfrm>
          <ns1:prstGeom prst="roundRect">
            <ns1:avLst/>
          </ns1:prstGeom>
          <ns1:solidFill>
            <ns1:srgbClr val="224E91"/>
          </ns1:solidFill>
          <ns1:ln>
            <ns1:solidFill>
              <ns1:srgbClr val="224E9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20" name="Picture 19" descr="network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8805672" y="3044952"/>
            <ns1:ext cx="256032" cy="256032"/>
          </ns1:xfrm>
          <ns1:prstGeom prst="rect">
            <ns1:avLst/>
          </ns1:prstGeom>
        </ns0:spPr>
      </ns0:pic>
      <ns0:sp>
        <ns0:nvSpPr>
          <ns0:cNvPr id="21" name="TextBox 20"/>
          <ns0:cNvSpPr txBox="1"/>
          <ns0:nvPr/>
        </ns0:nvSpPr>
        <ns0:spPr>
          <ns1:xfrm>
            <ns1:off x="9116567" y="3017520"/>
            <ns1:ext cx="3977639" cy="14630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50" b="1" i="0">
                <ns1:solidFill>
                  <ns1:srgbClr val="224E91"/>
                </ns1:solidFill>
                <ns1:latin typeface="Arial"/>
                <ns1:ea typeface="黑体"/>
                <ns1:cs typeface="Arial"/>
              </ns1:defRPr>
            </ns1:pPr>
            <ns1:r>
              <ns1:t>CLAIM 2 | Networking</ns1:t>
            </ns1:r>
          </ns1:p>
        </ns0:txBody>
      </ns0:sp>
      <ns0:sp>
        <ns0:nvSpPr>
          <ns0:cNvPr id="22" name="TextBox 21"/>
          <ns0:cNvSpPr txBox="1"/>
          <ns0:nvPr/>
        </ns0:nvSpPr>
        <ns0:spPr>
          <ns1:xfrm>
            <ns1:off x="8805672" y="3319272"/>
            <ns1:ext cx="4325112" cy="201168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4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先跑起来并得到反馈的体系会定义现实</ns1:t>
            </ns1:r>
          </ns1:p>
        </ns0:txBody>
      </ns0:sp>
      <ns0:sp>
        <ns0:nvSpPr>
          <ns0:cNvPr id="23" name="TextBox 22"/>
          <ns0:cNvSpPr txBox="1"/>
          <ns0:nvPr/>
        </ns0:nvSpPr>
        <ns0:spPr>
          <ns1:xfrm>
            <ns1:off x="8805672" y="3593591"/>
            <ns1:ext cx="4325112" cy="932688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5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OSI vs TCP/IP 证明：deployment loop 会比理论完整性更早决定 adoption。</ns1:t>
            </ns1:r>
          </ns1:p>
        </ns0:txBody>
      </ns0:sp>
      <ns0:sp>
        <ns0:nvSpPr>
          <ns0:cNvPr id="24" name="Rounded Rectangle 23"/>
          <ns0:cNvSpPr/>
          <ns0:nvPr/>
        </ns0:nvSpPr>
        <ns0:spPr>
          <ns1:xfrm>
            <ns1:off x="8366760" y="4828032"/>
            <ns1:ext cx="4892040" cy="1755648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809C90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5" name="Rounded Rectangle 24"/>
          <ns0:cNvSpPr/>
          <ns0:nvPr/>
        </ns0:nvSpPr>
        <ns0:spPr>
          <ns1:xfrm>
            <ns1:off x="8366760" y="4828032"/>
            <ns1:ext cx="73152" cy="1755648"/>
          </ns1:xfrm>
          <ns1:prstGeom prst="roundRect">
            <ns1:avLst/>
          </ns1:prstGeom>
          <ns1:solidFill>
            <ns1:srgbClr val="446D5C"/>
          </ns1:solidFill>
          <ns1:ln>
            <ns1:solidFill>
              <ns1:srgbClr val="446D5C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26" name="Picture 25" descr="device-desktop-analytics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8531352" y="4992624"/>
            <ns1:ext cx="256032" cy="256032"/>
          </ns1:xfrm>
          <ns1:prstGeom prst="rect">
            <ns1:avLst/>
          </ns1:prstGeom>
        </ns0:spPr>
      </ns0:pic>
      <ns0:sp>
        <ns0:nvSpPr>
          <ns0:cNvPr id="27" name="TextBox 26"/>
          <ns0:cNvSpPr txBox="1"/>
          <ns0:nvPr/>
        </ns0:nvSpPr>
        <ns0:spPr>
          <ns1:xfrm>
            <ns1:off x="8842248" y="4965192"/>
            <ns1:ext cx="4251959" cy="14630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50" b="1" i="0">
                <ns1:solidFill>
                  <ns1:srgbClr val="446D5C"/>
                </ns1:solidFill>
                <ns1:latin typeface="Arial"/>
                <ns1:ea typeface="黑体"/>
                <ns1:cs typeface="Arial"/>
              </ns1:defRPr>
            </ns1:pPr>
            <ns1:r>
              <ns1:t>CLAIM 3 | HD Optical</ns1:t>
            </ns1:r>
          </ns1:p>
        </ns0:txBody>
      </ns0:sp>
      <ns0:sp>
        <ns0:nvSpPr>
          <ns0:cNvPr id="28" name="TextBox 27"/>
          <ns0:cNvSpPr txBox="1"/>
          <ns0:nvPr/>
        </ns0:nvSpPr>
        <ns0:spPr>
          <ns1:xfrm>
            <ns1:off x="8531352" y="5266944"/>
            <ns1:ext cx="4599431" cy="201168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4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补充品和 bundle 会在不透明市场替用户下注</ns1:t>
            </ns1:r>
          </ns1:p>
        </ns0:txBody>
      </ns0:sp>
      <ns0:sp>
        <ns0:nvSpPr>
          <ns0:cNvPr id="29" name="TextBox 28"/>
          <ns0:cNvSpPr txBox="1"/>
          <ns0:nvPr/>
        </ns0:nvSpPr>
        <ns0:spPr>
          <ns1:xfrm>
            <ns1:off x="8531352" y="5541264"/>
            <ns1:ext cx="4599431" cy="932688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5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Blu-ray vs HD DVD 证明：内容联盟、默认装机和 dominant standard 预期会替用户做判断。</ns1:t>
            </ns1:r>
          </ns1:p>
        </ns0:txBody>
      </ns0:sp>
      <ns0:sp>
        <ns0:nvSpPr>
          <ns0:cNvPr id="30" name="TextBox 29"/>
          <ns0:cNvSpPr txBox="1"/>
          <ns0:nvPr/>
        </ns0:nvSpPr>
        <ns0:spPr>
          <ns1:xfrm>
            <ns1:off x="713232" y="7754112"/>
            <ns1:ext cx="12527280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50" b="0" i="0">
                <ns1:solidFill>
                  <ns1:srgbClr val="8C877E"/>
                </ns1:solidFill>
                <ns1:latin typeface="Arial"/>
                <ns1:ea typeface="黑体"/>
                <ns1:cs typeface="Arial"/>
              </ns1:defRPr>
            </ns1:pPr>
            <ns1:r>
              <ns1:t>这套 deck 把三场历史标准战压成一个今天仍然可用的判断框架。</ns1:t>
            </ns1:r>
          </ns1:p>
        </ns0:txBody>
      </ns0:sp>
      <ns0:sp>
        <ns0:nvSpPr>
          <ns0:cNvPr id="31" name="TextBox 30"/>
          <ns0:cNvSpPr txBox="1"/>
          <ns0:nvPr/>
        </ns0:nvSpPr>
        <ns0:spPr>
          <ns1:xfrm>
            <ns1:off x="13405104" y="7772400"/>
            <ns1:ext cx="438912" cy="14630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r">
              <ns1:spcBef>
                <ns1:spcPts val="0"/>
              </ns1:spcBef>
              <ns1:spcAft>
                <ns1:spcPts val="0"/>
              </ns1:spcAft>
              <ns1:defRPr sz="1000" b="1" i="0">
                <ns1:solidFill>
                  <ns1:srgbClr val="8C877E"/>
                </ns1:solidFill>
                <ns1:latin typeface="Arial"/>
                <ns1:ea typeface="黑体"/>
                <ns1:cs typeface="Arial"/>
              </ns1:defRPr>
            </ns1:pPr>
            <ns1:r>
              <ns1:t>S01</ns1:t>
            </ns1:r>
          </ns1:p>
        </ns0:txBody>
      </ns0:sp>
    </ns0:spTree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6F4EE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ounded Rectangle 1"/>
          <ns0:cNvSpPr/>
          <ns0:nvPr/>
        </ns0:nvSpPr>
        <ns0:spPr>
          <ns1:xfrm>
            <ns1:off x="713232" y="182880"/>
            <ns1:ext cx="1719072" cy="219456"/>
          </ns1:xfrm>
          <ns1:prstGeom prst="roundRect">
            <ns1:avLst/>
          </ns1:prstGeom>
          <ns1:solidFill>
            <ns1:srgbClr val="BE612F"/>
          </ns1:solidFill>
          <ns1:ln w="10160">
            <ns1:solidFill>
              <ns1:srgbClr val="BE612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100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Reset The Lens</ns1:t>
            </ns1:r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713232" y="493776"/>
            <ns1:ext cx="12198096" cy="51206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24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市场不是在做技术评测，市场是在给协同风险定价</ns1:t>
            </ns1:r>
          </ns1:p>
        </ns0:txBody>
      </ns0:sp>
      <ns0:sp>
        <ns0:nvSpPr>
          <ns0:cNvPr id="4" name="TextBox 3"/>
          <ns0:cNvSpPr txBox="1"/>
          <ns0:nvPr/>
        </ns0:nvSpPr>
        <ns0:spPr>
          <ns1:xfrm>
            <ns1:off x="713232" y="896112"/>
            <ns1:ext cx="12289536" cy="23774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5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技术性能只解释局部优劣，采用风险才解释谁能成为标准。</ns1:t>
            </ns1:r>
          </ns1:p>
        </ns0:txBody>
      </ns0:sp>
      <ns0:sp>
        <ns0:nvSpPr>
          <ns0:cNvPr id="5" name="Rectangle 4"/>
          <ns0:cNvSpPr/>
          <ns0:nvPr/>
        </ns0:nvSpPr>
        <ns0:spPr>
          <ns1:xfrm>
            <ns1:off x="713232" y="1115568"/>
            <ns1:ext cx="1691640" cy="36576"/>
          </ns1:xfrm>
          <ns1:prstGeom prst="rect">
            <ns1:avLst/>
          </ns1:prstGeom>
          <ns1:solidFill>
            <ns1:srgbClr val="BE612F"/>
          </ns1:solidFill>
          <ns1:ln>
            <ns1:solidFill>
              <ns1:srgbClr val="BE612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13405104" y="7772400"/>
            <ns1:ext cx="438912" cy="14630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r">
              <ns1:spcBef>
                <ns1:spcPts val="0"/>
              </ns1:spcBef>
              <ns1:spcAft>
                <ns1:spcPts val="0"/>
              </ns1:spcAft>
              <ns1:defRPr sz="1000" b="1" i="0">
                <ns1:solidFill>
                  <ns1:srgbClr val="8C877E"/>
                </ns1:solidFill>
                <ns1:latin typeface="Arial"/>
                <ns1:ea typeface="黑体"/>
                <ns1:cs typeface="Arial"/>
              </ns1:defRPr>
            </ns1:pPr>
            <ns1:r>
              <ns1:t>S02</ns1:t>
            </ns1:r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713232" y="1298448"/>
            <ns1:ext cx="5943600" cy="416052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59878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t" wrap="square" lIns="201168" rIns="164592" tIns="164592" bIns="73152"/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6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我们习惯把市场想成技术评委</ns1:t>
            </ns1:r>
          </ns1:p>
          <ns1:p>
            <ns1:pPr algn="l">
              <ns1:spcBef>
                <ns1:spcPts val="0"/>
              </ns1:spcBef>
              <ns1:spcAft>
                <ns1:spcPts val="0"/>
              </ns1:spcAft>
              <ns1:defRPr sz="135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更高清、更优雅、更完整的方案，理应拿到更高分。</ns1:t>
            </ns1:r>
          </ns1:p>
          <ns1:p>
            <ns1:pPr algn="l">
              <ns1:spcBef>
                <ns1:spcPts val="0"/>
              </ns1:spcBef>
              <ns1:spcAft>
                <ns1:spcPts val="0"/>
              </ns1:spcAft>
              <ns1:defRPr sz="135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于是技术人会先看规格表、协议层级、编码参数、设计纯度。</ns1:t>
            </ns1:r>
          </ns1:p>
        </ns0:txBody>
      </ns0:sp>
      <ns0:sp>
        <ns0:nvSpPr>
          <ns0:cNvPr id="8" name="Rectangle 7"/>
          <ns0:cNvSpPr/>
          <ns0:nvPr/>
        </ns0:nvSpPr>
        <ns0:spPr>
          <ns1:xfrm>
            <ns1:off x="713232" y="1298448"/>
            <ns1:ext cx="5943600" cy="91440"/>
          </ns1:xfrm>
          <ns1:prstGeom prst="rect">
            <ns1:avLst/>
          </ns1:prstGeom>
          <ns1:solidFill>
            <ns1:srgbClr val="C36E40"/>
          </ns1:solidFill>
          <ns1:ln>
            <ns1:solidFill>
              <ns1:srgbClr val="C36E40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9" name="Picture 8" descr="zoom-code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877824" y="1481328"/>
            <ns1:ext cx="237744" cy="237744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896112" y="2724912"/>
            <ns1:ext cx="5358384" cy="256032"/>
          </ns1:xfrm>
          <ns1:prstGeom prst="roundRect">
            <ns1:avLst/>
          </ns1:prstGeom>
          <ns1:solidFill>
            <ns1:srgbClr val="C67448"/>
          </ns1:solidFill>
          <ns1:ln w="10160">
            <ns1:solidFill>
              <ns1:srgbClr val="C67448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1100" b="1" i="0">
                <ns1:solidFill>
                  <ns1:srgbClr val="192638"/>
                </ns1:solidFill>
                <ns1:latin typeface="Arial"/>
                <ns1:ea typeface="黑体"/>
                <ns1:cs typeface="Arial"/>
              </ns1:defRPr>
            </ns1:pPr>
            <ns1:r>
              <ns1:t>更高峰值性能 = 更大获胜概率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896112" y="3163824"/>
            <ns1:ext cx="5358384" cy="256032"/>
          </ns1:xfrm>
          <ns1:prstGeom prst="roundRect">
            <ns1:avLst/>
          </ns1:prstGeom>
          <ns1:solidFill>
            <ns1:srgbClr val="C67448"/>
          </ns1:solidFill>
          <ns1:ln w="10160">
            <ns1:solidFill>
              <ns1:srgbClr val="C67448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1100" b="1" i="0">
                <ns1:solidFill>
                  <ns1:srgbClr val="192638"/>
                </ns1:solidFill>
                <ns1:latin typeface="Arial"/>
                <ns1:ea typeface="黑体"/>
                <ns1:cs typeface="Arial"/>
              </ns1:defRPr>
            </ns1:pPr>
            <ns1:r>
              <ns1:t>更完整架构 = 更合理的长期标准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896112" y="3602736"/>
            <ns1:ext cx="5358384" cy="256032"/>
          </ns1:xfrm>
          <ns1:prstGeom prst="roundRect">
            <ns1:avLst/>
          </ns1:prstGeom>
          <ns1:solidFill>
            <ns1:srgbClr val="C67448"/>
          </ns1:solidFill>
          <ns1:ln w="10160">
            <ns1:solidFill>
              <ns1:srgbClr val="C67448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1100" b="1" i="0">
                <ns1:solidFill>
                  <ns1:srgbClr val="192638"/>
                </ns1:solidFill>
                <ns1:latin typeface="Arial"/>
                <ns1:ea typeface="黑体"/>
                <ns1:cs typeface="Arial"/>
              </ns1:defRPr>
            </ns1:pPr>
            <ns1:r>
              <ns1:t>更漂亮的设计 = 更强的市场吸引力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912864" y="1298448"/>
            <ns1:ext cx="7004304" cy="416052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728EB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t" wrap="square" lIns="201168" rIns="164592" tIns="164592" bIns="73152"/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6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市场真正定价的是采用风险</ns1:t>
            </ns1:r>
          </ns1:p>
          <ns1:p>
            <ns1:pPr algn="l">
              <ns1:spcBef>
                <ns1:spcPts val="0"/>
              </ns1:spcBef>
              <ns1:spcAft>
                <ns1:spcPts val="0"/>
              </ns1:spcAft>
              <ns1:defRPr sz="135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标准战里，买方、渠道、补充品和制造方需要同时判断“现在下注会不会错”。</ns1:t>
            </ns1:r>
          </ns1:p>
        </ns0:txBody>
      </ns0:sp>
      <ns0:sp>
        <ns0:nvSpPr>
          <ns0:cNvPr id="14" name="Rectangle 13"/>
          <ns0:cNvSpPr/>
          <ns0:nvPr/>
        </ns0:nvSpPr>
        <ns0:spPr>
          <ns1:xfrm>
            <ns1:off x="6912864" y="1298448"/>
            <ns1:ext cx="7004304" cy="91440"/>
          </ns1:xfrm>
          <ns1:prstGeom prst="rect">
            <ns1:avLst/>
          </ns1:prstGeom>
          <ns1:solidFill>
            <ns1:srgbClr val="345C9A"/>
          </ns1:solidFill>
          <ns1:ln>
            <ns1:solidFill>
              <ns1:srgbClr val="345C9A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15" name="Picture 14" descr="users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7077456" y="1481328"/>
            <ns1:ext cx="237744" cy="237744"/>
          </ns1:xfrm>
          <ns1:prstGeom prst="rect">
            <ns1:avLst/>
          </ns1:prstGeom>
        </ns0:spPr>
      </ns0:pic>
      <ns0:sp>
        <ns0:nvSpPr>
          <ns0:cNvPr id="16" name="Rounded Rectangle 15"/>
          <ns0:cNvSpPr/>
          <ns0:nvPr/>
        </ns0:nvSpPr>
        <ns0:spPr>
          <ns1:xfrm>
            <ns1:off x="7095744" y="2432304"/>
            <ns1:ext cx="6510528" cy="804672"/>
          </ns1:xfrm>
          <ns1:prstGeom prst="roundRect">
            <ns1:avLst/>
          </ns1:prstGeom>
          <ns1:solidFill>
            <ns1:srgbClr val="EDF1F6"/>
          </ns1:solidFill>
          <ns1:ln w="12700">
            <ns1:solidFill>
              <ns1:srgbClr val="859EC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17" name="Picture 16" descr="presentation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7223760" y="2651760"/>
            <ns1:ext cx="201168" cy="201168"/>
          </ns1:xfrm>
          <ns1:prstGeom prst="rect">
            <ns1:avLst/>
          </ns1:prstGeom>
        </ns0:spPr>
      </ns0:pic>
      <ns0:sp>
        <ns0:nvSpPr>
          <ns0:cNvPr id="18" name="TextBox 17"/>
          <ns0:cNvSpPr txBox="1"/>
          <ns0:nvPr/>
        </ns0:nvSpPr>
        <ns0:spPr>
          <ns1:xfrm>
            <ns1:off x="7516368" y="2560320"/>
            <ns1:ext cx="5779008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2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Claim 1 | 任务匹配和联盟速度会压过峰值规格</ns1:t>
            </ns1:r>
          </ns1:p>
        </ns0:txBody>
      </ns0:sp>
      <ns0:sp>
        <ns0:nvSpPr>
          <ns0:cNvPr id="19" name="TextBox 18"/>
          <ns0:cNvSpPr txBox="1"/>
          <ns0:nvPr/>
        </ns0:nvSpPr>
        <ns0:spPr>
          <ns1:xfrm>
            <ns1:off x="7516368" y="2779776"/>
            <ns1:ext cx="5650992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9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Home Video 会证明：用户任务与阵营扩张会先于画质神话决定标准走向。</ns1:t>
            </ns1:r>
          </ns1:p>
        </ns0:txBody>
      </ns0:sp>
      <ns0:sp>
        <ns0:nvSpPr>
          <ns0:cNvPr id="20" name="Rounded Rectangle 19"/>
          <ns0:cNvSpPr/>
          <ns0:nvPr/>
        </ns0:nvSpPr>
        <ns0:spPr>
          <ns1:xfrm>
            <ns1:off x="7095744" y="3383280"/>
            <ns1:ext cx="6510528" cy="804672"/>
          </ns1:xfrm>
          <ns1:prstGeom prst="roundRect">
            <ns1:avLst/>
          </ns1:prstGeom>
          <ns1:solidFill>
            <ns1:srgbClr val="EDF1F6"/>
          </ns1:solidFill>
          <ns1:ln w="12700">
            <ns1:solidFill>
              <ns1:srgbClr val="859EC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21" name="Picture 20" descr="rocket.png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7223760" y="3602736"/>
            <ns1:ext cx="201168" cy="201168"/>
          </ns1:xfrm>
          <ns1:prstGeom prst="rect">
            <ns1:avLst/>
          </ns1:prstGeom>
        </ns0:spPr>
      </ns0:pic>
      <ns0:sp>
        <ns0:nvSpPr>
          <ns0:cNvPr id="22" name="TextBox 21"/>
          <ns0:cNvSpPr txBox="1"/>
          <ns0:nvPr/>
        </ns0:nvSpPr>
        <ns0:spPr>
          <ns1:xfrm>
            <ns1:off x="7516368" y="3511296"/>
            <ns1:ext cx="5779008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2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Claim 2 | 先跑起来并得到反馈的体系会定义现实</ns1:t>
            </ns1:r>
          </ns1:p>
        </ns0:txBody>
      </ns0:sp>
      <ns0:sp>
        <ns0:nvSpPr>
          <ns0:cNvPr id="23" name="TextBox 22"/>
          <ns0:cNvSpPr txBox="1"/>
          <ns0:nvPr/>
        </ns0:nvSpPr>
        <ns0:spPr>
          <ns1:xfrm>
            <ns1:off x="7516368" y="3730752"/>
            <ns1:ext cx="5650992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9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Networking 会证明：更早落地并获得反馈的协议，会重写“应该如何”的辩论。</ns1:t>
            </ns1:r>
          </ns1:p>
        </ns0:txBody>
      </ns0:sp>
      <ns0:sp>
        <ns0:nvSpPr>
          <ns0:cNvPr id="24" name="Rounded Rectangle 23"/>
          <ns0:cNvSpPr/>
          <ns0:nvPr/>
        </ns0:nvSpPr>
        <ns0:spPr>
          <ns1:xfrm>
            <ns1:off x="7095744" y="4334256"/>
            <ns1:ext cx="6510528" cy="804672"/>
          </ns1:xfrm>
          <ns1:prstGeom prst="roundRect">
            <ns1:avLst/>
          </ns1:prstGeom>
          <ns1:solidFill>
            <ns1:srgbClr val="EDF1F6"/>
          </ns1:solidFill>
          <ns1:ln w="12700">
            <ns1:solidFill>
              <ns1:srgbClr val="859EC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25" name="Picture 24" descr="circles-relati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7223760" y="4553712"/>
            <ns1:ext cx="201168" cy="201168"/>
          </ns1:xfrm>
          <ns1:prstGeom prst="rect">
            <ns1:avLst/>
          </ns1:prstGeom>
        </ns0:spPr>
      </ns0:pic>
      <ns0:sp>
        <ns0:nvSpPr>
          <ns0:cNvPr id="26" name="TextBox 25"/>
          <ns0:cNvSpPr txBox="1"/>
          <ns0:nvPr/>
        </ns0:nvSpPr>
        <ns0:spPr>
          <ns1:xfrm>
            <ns1:off x="7516368" y="4462272"/>
            <ns1:ext cx="5779008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2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Claim 3 | 补充品和 bundle 会在不透明市场替用户下注</ns1:t>
            </ns1:r>
          </ns1:p>
        </ns0:txBody>
      </ns0:sp>
      <ns0:sp>
        <ns0:nvSpPr>
          <ns0:cNvPr id="27" name="TextBox 26"/>
          <ns0:cNvSpPr txBox="1"/>
          <ns0:nvPr/>
        </ns0:nvSpPr>
        <ns0:spPr>
          <ns1:xfrm>
            <ns1:off x="7516368" y="4681728"/>
            <ns1:ext cx="5650992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9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HD Optical 会证明：当用户看不懂技术差距时，内容、渠道与默认装机会替他们表态。</ns1:t>
            </ns1:r>
          </ns1:p>
        </ns0:txBody>
      </ns0:sp>
      <ns0:sp>
        <ns0:nvSpPr>
          <ns0:cNvPr id="28" name="Rounded Rectangle 27"/>
          <ns0:cNvSpPr/>
          <ns0:nvPr/>
        </ns0:nvSpPr>
        <ns0:spPr>
          <ns1:xfrm>
            <ns1:off x="713232" y="5650992"/>
            <ns1:ext cx="13203936" cy="1261872"/>
          </ns1:xfrm>
          <ns1:prstGeom prst="roundRect">
            <ns1:avLst/>
          </ns1:prstGeom>
          <ns1:solidFill>
            <ns1:srgbClr val="ECF0EF"/>
          </ns1:solidFill>
          <ns1:ln w="12700">
            <ns1:solidFill>
              <ns1:srgbClr val="93AAA0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t" wrap="square" lIns="512064" rIns="128016" tIns="137160" bIns="73152"/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5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接下来 6 页的工作，就是把这三条 claim 一条一条坐实。</ns1:t>
            </ns1:r>
          </ns1:p>
          <ns1:p>
            <ns1:pPr algn="l">
              <ns1:spcBef>
                <ns1:spcPts val="0"/>
              </ns1:spcBef>
              <ns1:spcAft>
                <ns1:spcPts val="0"/>
              </ns1:spcAft>
              <ns1:defRPr sz="130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而第 3 页会给出这些 claim 背后的共同解释器：采用风险与网络效应如何放大早期差异。</ns1:t>
            </ns1:r>
          </ns1:p>
        </ns0:txBody>
      </ns0:sp>
      <ns0:pic>
        <ns0:nvPicPr>
          <ns0:cNvPr id="29" name="Picture 28" descr="arrows-transfer-up-down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896112" y="5833872"/>
            <ns1:ext cx="256032" cy="256032"/>
          </ns1:xfrm>
          <ns1:prstGeom prst="rect">
            <ns1:avLst/>
          </ns1:prstGeom>
        </ns0:spPr>
      </ns0:pic>
      <ns0:sp>
        <ns0:nvSpPr>
          <ns0:cNvPr id="30" name="TextBox 29"/>
          <ns0:cNvSpPr txBox="1"/>
          <ns0:nvPr/>
        </ns0:nvSpPr>
        <ns0:spPr>
          <ns1:xfrm>
            <ns1:off x="713232" y="7754112"/>
            <ns1:ext cx="12527280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50" b="0" i="0">
                <ns1:solidFill>
                  <ns1:srgbClr val="8C877E"/>
                </ns1:solidFill>
                <ns1:latin typeface="Arial"/>
                <ns1:ea typeface="黑体"/>
                <ns1:cs typeface="Arial"/>
              </ns1:defRPr>
            </ns1:pPr>
            <ns1:r>
              <ns1:t>从这一页开始，整个 deck 的判断轴已经从“性能对比”切换到“采用风险对比”。</ns1:t>
            </ns1:r>
          </ns1:p>
        </ns0:txBody>
      </ns0:sp>
    </ns0:spTree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6F4EE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ounded Rectangle 1"/>
          <ns0:cNvSpPr/>
          <ns0:nvPr/>
        </ns0:nvSpPr>
        <ns0:spPr>
          <ns1:xfrm>
            <ns1:off x="713232" y="182880"/>
            <ns1:ext cx="2020824" cy="219456"/>
          </ns1:xfrm>
          <ns1:prstGeom prst="roundRect">
            <ns1:avLst/>
          </ns1:prstGeom>
          <ns1:solidFill>
            <ns1:srgbClr val="224E91"/>
          </ns1:solidFill>
          <ns1:ln w="10160">
            <ns1:solidFill>
              <ns1:srgbClr val="224E9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100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Five-Factor Frame</ns1:t>
            </ns1:r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713232" y="493776"/>
            <ns1:ext cx="12198096" cy="51206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24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标准战真正结算的是五个变量：兼容、装机基盘、补充品、部署速度和预期管理</ns1:t>
            </ns1:r>
          </ns1:p>
        </ns0:txBody>
      </ns0:sp>
      <ns0:sp>
        <ns0:nvSpPr>
          <ns0:cNvPr id="4" name="TextBox 3"/>
          <ns0:cNvSpPr txBox="1"/>
          <ns0:nvPr/>
        </ns0:nvSpPr>
        <ns0:spPr>
          <ns1:xfrm>
            <ns1:off x="713232" y="896112"/>
            <ns1:ext cx="12289536" cy="23774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5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标准战的主变量是协同成本及其放大器，而不是单点技术最优。</ns1:t>
            </ns1:r>
          </ns1:p>
        </ns0:txBody>
      </ns0:sp>
      <ns0:sp>
        <ns0:nvSpPr>
          <ns0:cNvPr id="5" name="Rectangle 4"/>
          <ns0:cNvSpPr/>
          <ns0:nvPr/>
        </ns0:nvSpPr>
        <ns0:spPr>
          <ns1:xfrm>
            <ns1:off x="713232" y="1115568"/>
            <ns1:ext cx="1691640" cy="36576"/>
          </ns1:xfrm>
          <ns1:prstGeom prst="rect">
            <ns1:avLst/>
          </ns1:prstGeom>
          <ns1:solidFill>
            <ns1:srgbClr val="224E91"/>
          </ns1:solidFill>
          <ns1:ln>
            <ns1:solidFill>
              <ns1:srgbClr val="224E9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13405104" y="7772400"/>
            <ns1:ext cx="438912" cy="14630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r">
              <ns1:spcBef>
                <ns1:spcPts val="0"/>
              </ns1:spcBef>
              <ns1:spcAft>
                <ns1:spcPts val="0"/>
              </ns1:spcAft>
              <ns1:defRPr sz="1000" b="1" i="0">
                <ns1:solidFill>
                  <ns1:srgbClr val="8C877E"/>
                </ns1:solidFill>
                <ns1:latin typeface="Arial"/>
                <ns1:ea typeface="黑体"/>
                <ns1:cs typeface="Arial"/>
              </ns1:defRPr>
            </ns1:pPr>
            <ns1:r>
              <ns1:t>S03</ns1:t>
            </ns1:r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713232" y="1298448"/>
            <ns1:ext cx="8549640" cy="5724144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7691B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t" wrap="square" lIns="164592" rIns="128016" tIns="73152" bIns="18288"/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00" b="1" i="0">
                <ns1:solidFill>
                  <ns1:srgbClr val="224E91"/>
                </ns1:solidFill>
                <ns1:latin typeface="Arial"/>
                <ns1:ea typeface="黑体"/>
                <ns1:cs typeface="Arial"/>
              </ns1:defRPr>
            </ns1:pPr>
            <ns1:r>
              <ns1:t>市场投票路径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896112" y="1682495"/>
            <ns1:ext cx="8138160" cy="274320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5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局部技术优势只有在被兼容路径、联盟速度和部署反馈接住时，才会真正转化成标准地位。</ns1:t>
            </ns1:r>
          </ns1:p>
        </ns0:txBody>
      </ns0:sp>
      <ns0:sp>
        <ns0:nvSpPr>
          <ns0:cNvPr id="9" name="Node Tech"/>
          <ns0:cNvSpPr/>
          <ns0:nvPr/>
        </ns0:nvSpPr>
        <ns0:spPr>
          <ns1:xfrm>
            <ns1:off x="1078992" y="2743200"/>
            <ns1:ext cx="1335024" cy="713232"/>
          </ns1:xfrm>
          <ns1:prstGeom prst="rect">
            <ns1:avLst/>
          </ns1:prstGeom>
          <ns1:solidFill>
            <ns1:srgbClr val="E4EAF2"/>
          </ns1:solidFill>
          <ns1:ln w="15875">
            <ns1:solidFill>
              <ns1:srgbClr val="5778A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>
              <ns1:defRPr sz="1300" b="1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局部技术优势</ns1:t>
            </ns1:r>
          </ns1:p>
        </ns0:txBody>
      </ns0:sp>
      <ns0:sp>
        <ns0:nvSpPr>
          <ns0:cNvPr id="10" name="Node Compatibility"/>
          <ns0:cNvSpPr/>
          <ns0:nvPr/>
        </ns0:nvSpPr>
        <ns0:spPr>
          <ns1:xfrm>
            <ns1:off x="2706624" y="2432304"/>
            <ns1:ext cx="1536192" cy="841248"/>
          </ns1:xfrm>
          <ns1:prstGeom prst="rect">
            <ns1:avLst/>
          </ns1:prstGeom>
          <ns1:solidFill>
            <ns1:srgbClr val="F7ECE6"/>
          </ns1:solidFill>
          <ns1:ln w="15875">
            <ns1:solidFill>
              <ns1:srgbClr val="CE876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>
              <ns1:defRPr sz="1300" b="1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兼容与迁移</ns1:t>
            </ns1:r>
          </ns1:p>
        </ns0:txBody>
      </ns0:sp>
      <ns0:sp>
        <ns0:nvSpPr>
          <ns0:cNvPr id="11" name="Node Base"/>
          <ns0:cNvSpPr/>
          <ns0:nvPr/>
        </ns0:nvSpPr>
        <ns0:spPr>
          <ns1:xfrm>
            <ns1:off x="4462272" y="3090672"/>
            <ns1:ext cx="1463040" cy="841248"/>
          </ns1:xfrm>
          <ns1:prstGeom prst="rect">
            <ns1:avLst/>
          </ns1:prstGeom>
          <ns1:solidFill>
            <ns1:srgbClr val="E4EAF2"/>
          </ns1:solidFill>
          <ns1:ln w="15875">
            <ns1:solidFill>
              <ns1:srgbClr val="5778A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>
              <ns1:defRPr sz="1300" b="1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装机基盘</ns1:t>
            </ns1:r>
          </ns1:p>
        </ns0:txBody>
      </ns0:sp>
      <ns0:sp>
        <ns0:nvSpPr>
          <ns0:cNvPr id="12" name="Node Complements"/>
          <ns0:cNvSpPr/>
          <ns0:nvPr/>
        </ns0:nvSpPr>
        <ns0:spPr>
          <ns1:xfrm>
            <ns1:off x="6199632" y="2432304"/>
            <ns1:ext cx="1664208" cy="841248"/>
          </ns1:xfrm>
          <ns1:prstGeom prst="rect">
            <ns1:avLst/>
          </ns1:prstGeom>
          <ns1:solidFill>
            <ns1:srgbClr val="F7ECE6"/>
          </ns1:solidFill>
          <ns1:ln w="15875">
            <ns1:solidFill>
              <ns1:srgbClr val="CE876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>
              <ns1:defRPr sz="1300" b="1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补充品联盟</ns1:t>
            </ns1:r>
          </ns1:p>
        </ns0:txBody>
      </ns0:sp>
      <ns0:sp>
        <ns0:nvSpPr>
          <ns0:cNvPr id="13" name="Node Speed"/>
          <ns0:cNvSpPr/>
          <ns0:nvPr/>
        </ns0:nvSpPr>
        <ns0:spPr>
          <ns1:xfrm>
            <ns1:off x="7982712" y="3090672"/>
            <ns1:ext cx="1426464" cy="841248"/>
          </ns1:xfrm>
          <ns1:prstGeom prst="rect">
            <ns1:avLst/>
          </ns1:prstGeom>
          <ns1:solidFill>
            <ns1:srgbClr val="E4EAF2"/>
          </ns1:solidFill>
          <ns1:ln w="15875">
            <ns1:solidFill>
              <ns1:srgbClr val="5778A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>
              <ns1:defRPr sz="1300" b="1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部署速度</ns1:t>
            </ns1:r>
          </ns1:p>
        </ns0:txBody>
      </ns0:sp>
      <ns0:sp>
        <ns0:nvSpPr>
          <ns0:cNvPr id="14" name="Node Expectation"/>
          <ns0:cNvSpPr/>
          <ns0:nvPr/>
        </ns0:nvSpPr>
        <ns0:spPr>
          <ns1:xfrm>
            <ns1:off x="6153912" y="4279392"/>
            <ns1:ext cx="1664208" cy="841248"/>
          </ns1:xfrm>
          <ns1:prstGeom prst="rect">
            <ns1:avLst/>
          </ns1:prstGeom>
          <ns1:solidFill>
            <ns1:srgbClr val="F7ECE6"/>
          </ns1:solidFill>
          <ns1:ln w="15875">
            <ns1:solidFill>
              <ns1:srgbClr val="CE876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>
              <ns1:defRPr sz="1300" b="1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预期管理</ns1:t>
            </ns1:r>
          </ns1:p>
        </ns0:txBody>
      </ns0:sp>
      <ns0:sp>
        <ns0:nvSpPr>
          <ns0:cNvPr id="15" name="Node Result"/>
          <ns0:cNvSpPr/>
          <ns0:nvPr/>
        </ns0:nvSpPr>
        <ns0:spPr>
          <ns1:xfrm>
            <ns1:off x="4242816" y="5193792"/>
            <ns1:ext cx="1664208" cy="914400"/>
          </ns1:xfrm>
          <ns1:prstGeom prst="rect">
            <ns1:avLst/>
          </ns1:prstGeom>
          <ns1:solidFill>
            <ns1:srgbClr val="E9EDEB"/>
          </ns1:solidFill>
          <ns1:ln w="15875">
            <ns1:solidFill>
              <ns1:srgbClr val="719083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>
              <ns1:defRPr sz="1300" b="1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标准结果</ns1:t>
            </ns1:r>
          </ns1:p>
        </ns0:txBody>
      </ns0:sp>
      <ns0:cxnSp>
        <ns0:nvCxnSpPr>
          <ns0:cNvPr id="16" name="Connector 15"/>
          <ns0:cNvCxnSpPr>
            <ns1:stCxn id="9" idx="3"/>
            <ns1:endCxn id="10" idx="1"/>
          </ns0:cNvCxnSpPr>
          <ns0:nvPr/>
        </ns0:nvCxnSpPr>
        <ns0:spPr>
          <ns1:xfrm flipV="1">
            <ns1:off x="2414016" y="2852928"/>
            <ns1:ext cx="292608" cy="246888"/>
          </ns1:xfrm>
          <ns1:prstGeom prst="bentConnector3">
            <ns1:avLst/>
          </ns1:prstGeom>
          <ns1:ln w="20320">
            <ns1:solidFill>
              <ns1:srgbClr val="6483B2"/>
            </ns1:solidFill>
          </ns1:ln>
          <ns1:effectLst/>
        </ns0:spPr>
        <ns0:style>
          <ns1:lnRef idx="2">
            <ns1:schemeClr val="accent1"/>
          </ns1:lnRef>
          <ns1:fillRef idx="0">
            <ns1:schemeClr val="accent1"/>
          </ns1:fillRef>
          <ns1:effectRef idx="1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17" name="Connector 16"/>
          <ns0:cNvCxnSpPr>
            <ns1:stCxn id="10" idx="3"/>
            <ns1:endCxn id="11" idx="1"/>
          </ns0:cNvCxnSpPr>
          <ns0:nvPr/>
        </ns0:nvCxnSpPr>
        <ns0:spPr>
          <ns1:xfrm>
            <ns1:off x="4242816" y="2852928"/>
            <ns1:ext cx="219456" cy="658368"/>
          </ns1:xfrm>
          <ns1:prstGeom prst="bentConnector3">
            <ns1:avLst/>
          </ns1:prstGeom>
          <ns1:ln w="20320">
            <ns1:solidFill>
              <ns1:srgbClr val="6483B2"/>
            </ns1:solidFill>
          </ns1:ln>
          <ns1:effectLst/>
        </ns0:spPr>
        <ns0:style>
          <ns1:lnRef idx="2">
            <ns1:schemeClr val="accent1"/>
          </ns1:lnRef>
          <ns1:fillRef idx="0">
            <ns1:schemeClr val="accent1"/>
          </ns1:fillRef>
          <ns1:effectRef idx="1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18" name="Connector 17"/>
          <ns0:cNvCxnSpPr>
            <ns1:stCxn id="11" idx="3"/>
            <ns1:endCxn id="12" idx="1"/>
          </ns0:cNvCxnSpPr>
          <ns0:nvPr/>
        </ns0:nvCxnSpPr>
        <ns0:spPr>
          <ns1:xfrm flipV="1">
            <ns1:off x="5925312" y="2852928"/>
            <ns1:ext cx="274320" cy="658368"/>
          </ns1:xfrm>
          <ns1:prstGeom prst="bentConnector3">
            <ns1:avLst/>
          </ns1:prstGeom>
          <ns1:ln w="20320">
            <ns1:solidFill>
              <ns1:srgbClr val="6483B2"/>
            </ns1:solidFill>
          </ns1:ln>
          <ns1:effectLst/>
        </ns0:spPr>
        <ns0:style>
          <ns1:lnRef idx="2">
            <ns1:schemeClr val="accent1"/>
          </ns1:lnRef>
          <ns1:fillRef idx="0">
            <ns1:schemeClr val="accent1"/>
          </ns1:fillRef>
          <ns1:effectRef idx="1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19" name="Connector 18"/>
          <ns0:cNvCxnSpPr>
            <ns1:stCxn id="12" idx="3"/>
            <ns1:endCxn id="13" idx="1"/>
          </ns0:cNvCxnSpPr>
          <ns0:nvPr/>
        </ns0:nvCxnSpPr>
        <ns0:spPr>
          <ns1:xfrm>
            <ns1:off x="7863840" y="2852928"/>
            <ns1:ext cx="118872" cy="658368"/>
          </ns1:xfrm>
          <ns1:prstGeom prst="bentConnector3">
            <ns1:avLst/>
          </ns1:prstGeom>
          <ns1:ln w="20320">
            <ns1:solidFill>
              <ns1:srgbClr val="6483B2"/>
            </ns1:solidFill>
          </ns1:ln>
          <ns1:effectLst/>
        </ns0:spPr>
        <ns0:style>
          <ns1:lnRef idx="2">
            <ns1:schemeClr val="accent1"/>
          </ns1:lnRef>
          <ns1:fillRef idx="0">
            <ns1:schemeClr val="accent1"/>
          </ns1:fillRef>
          <ns1:effectRef idx="1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20" name="Connector 19"/>
          <ns0:cNvCxnSpPr>
            <ns1:stCxn id="13" idx="2"/>
            <ns1:endCxn id="14" idx="3"/>
          </ns0:cNvCxnSpPr>
          <ns0:nvPr/>
        </ns0:nvCxnSpPr>
        <ns0:spPr>
          <ns1:xfrm flipH="1">
            <ns1:off x="7818120" y="3931920"/>
            <ns1:ext cx="877824" cy="768096"/>
          </ns1:xfrm>
          <ns1:prstGeom prst="bentConnector3">
            <ns1:avLst/>
          </ns1:prstGeom>
          <ns1:ln w="20320">
            <ns1:solidFill>
              <ns1:srgbClr val="6483B2"/>
            </ns1:solidFill>
          </ns1:ln>
          <ns1:effectLst/>
        </ns0:spPr>
        <ns0:style>
          <ns1:lnRef idx="2">
            <ns1:schemeClr val="accent1"/>
          </ns1:lnRef>
          <ns1:fillRef idx="0">
            <ns1:schemeClr val="accent1"/>
          </ns1:fillRef>
          <ns1:effectRef idx="1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21" name="Connector 20"/>
          <ns0:cNvCxnSpPr>
            <ns1:stCxn id="14" idx="1"/>
            <ns1:endCxn id="15" idx="3"/>
          </ns0:cNvCxnSpPr>
          <ns0:nvPr/>
        </ns0:nvCxnSpPr>
        <ns0:spPr>
          <ns1:xfrm flipH="1">
            <ns1:off x="5907024" y="4700016"/>
            <ns1:ext cx="246888" cy="950976"/>
          </ns1:xfrm>
          <ns1:prstGeom prst="bentConnector3">
            <ns1:avLst/>
          </ns1:prstGeom>
          <ns1:ln w="20320">
            <ns1:solidFill>
              <ns1:srgbClr val="6483B2"/>
            </ns1:solidFill>
          </ns1:ln>
          <ns1:effectLst/>
        </ns0:spPr>
        <ns0:style>
          <ns1:lnRef idx="2">
            <ns1:schemeClr val="accent1"/>
          </ns1:lnRef>
          <ns1:fillRef idx="0">
            <ns1:schemeClr val="accent1"/>
          </ns1:fillRef>
          <ns1:effectRef idx="1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22" name="Connector 21"/>
          <ns0:cNvCxnSpPr>
            <ns1:stCxn id="11" idx="2"/>
            <ns1:endCxn id="15" idx="0"/>
          </ns0:cNvCxnSpPr>
          <ns0:nvPr/>
        </ns0:nvCxnSpPr>
        <ns0:spPr>
          <ns1:xfrm flipH="1">
            <ns1:off x="5074920" y="3931920"/>
            <ns1:ext cx="118872" cy="1261872"/>
          </ns1:xfrm>
          <ns1:prstGeom prst="bentConnector3">
            <ns1:avLst/>
          </ns1:prstGeom>
          <ns1:ln w="20320">
            <ns1:solidFill>
              <ns1:srgbClr val="6483B2"/>
            </ns1:solidFill>
          </ns1:ln>
          <ns1:effectLst/>
        </ns0:spPr>
        <ns0:style>
          <ns1:lnRef idx="2">
            <ns1:schemeClr val="accent1"/>
          </ns1:lnRef>
          <ns1:fillRef idx="0">
            <ns1:schemeClr val="accent1"/>
          </ns1:fillRef>
          <ns1:effectRef idx="1">
            <ns1:schemeClr val="accent1"/>
          </ns1:effectRef>
          <ns1:fontRef idx="minor">
            <ns1:schemeClr val="tx1"/>
          </ns1:fontRef>
        </ns0:style>
      </ns0:cxnSp>
      <ns0:sp>
        <ns0:nvSpPr>
          <ns0:cNvPr id="23" name="Rounded Rectangle 22"/>
          <ns0:cNvSpPr/>
          <ns0:nvPr/>
        </ns0:nvSpPr>
        <ns0:spPr>
          <ns1:xfrm>
            <ns1:off x="1115568" y="6272784"/>
            <ns1:ext cx="1389888" cy="201168"/>
          </ns1:xfrm>
          <ns1:prstGeom prst="roundRect">
            <ns1:avLst/>
          </ns1:prstGeom>
          <ns1:solidFill>
            <ns1:srgbClr val="C36E40"/>
          </ns1:solidFill>
          <ns1:ln w="10160">
            <ns1:solidFill>
              <ns1:srgbClr val="C36E40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1000" b="1" i="0">
                <ns1:solidFill>
                  <ns1:srgbClr val="192638"/>
                </ns1:solidFill>
                <ns1:latin typeface="Arial"/>
                <ns1:ea typeface="黑体"/>
                <ns1:cs typeface="Arial"/>
              </ns1:defRPr>
            </ns1:pPr>
            <ns1:r>
              <ns1:t>规格表只解释左边</ns1:t>
            </ns1:r>
          </ns1:p>
        </ns0:txBody>
      </ns0:sp>
      <ns0:sp>
        <ns0:nvSpPr>
          <ns0:cNvPr id="24" name="Rounded Rectangle 23"/>
          <ns0:cNvSpPr/>
          <ns0:nvPr/>
        </ns0:nvSpPr>
        <ns0:spPr>
          <ns1:xfrm>
            <ns1:off x="2706624" y="6272784"/>
            <ns1:ext cx="2121408" cy="201168"/>
          </ns1:xfrm>
          <ns1:prstGeom prst="roundRect">
            <ns1:avLst/>
          </ns1:prstGeom>
          <ns1:solidFill>
            <ns1:srgbClr val="38609C"/>
          </ns1:solidFill>
          <ns1:ln w="10160">
            <ns1:solidFill>
              <ns1:srgbClr val="38609C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100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采用结果由整条路径共同决定</ns1:t>
            </ns1:r>
          </ns1:p>
        </ns0:txBody>
      </ns0:sp>
      <ns0:sp>
        <ns0:nvSpPr>
          <ns0:cNvPr id="25" name="TextBox 24"/>
          <ns0:cNvSpPr txBox="1"/>
          <ns0:nvPr/>
        </ns0:nvSpPr>
        <ns0:spPr>
          <ns1:xfrm>
            <ns1:off x="9509759" y="1298448"/>
            <ns1:ext cx="4800600" cy="25603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5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五个变量各自压住什么风险</ns1:t>
            </ns1:r>
          </ns1:p>
        </ns0:txBody>
      </ns0:sp>
      <ns0:sp>
        <ns0:nvSpPr>
          <ns0:cNvPr id="26" name="Rounded Rectangle 25"/>
          <ns0:cNvSpPr/>
          <ns0:nvPr/>
        </ns0:nvSpPr>
        <ns0:spPr>
          <ns1:xfrm>
            <ns1:off x="9509759" y="1682495"/>
            <ns1:ext cx="4736592" cy="859536"/>
          </ns1:xfrm>
          <ns1:prstGeom prst="roundRect">
            <ns1:avLst/>
          </ns1:prstGeom>
          <ns1:solidFill>
            <ns1:srgbClr val="FFFFFF"/>
          </ns1:solidFill>
          <ns1:ln w="10160">
            <ns1:solidFill>
              <ns1:srgbClr val="CAC4BA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7" name="Rounded Rectangle 26"/>
          <ns0:cNvSpPr/>
          <ns0:nvPr/>
        </ns0:nvSpPr>
        <ns0:spPr>
          <ns1:xfrm>
            <ns1:off x="9619487" y="1792224"/>
            <ns1:ext cx="804672" cy="164592"/>
          </ns1:xfrm>
          <ns1:prstGeom prst="roundRect">
            <ns1:avLst/>
          </ns1:prstGeom>
          <ns1:solidFill>
            <ns1:srgbClr val="224E91"/>
          </ns1:solidFill>
          <ns1:ln w="10160">
            <ns1:solidFill>
              <ns1:srgbClr val="224E9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95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兼容/迁移</ns1:t>
            </ns1:r>
          </ns1:p>
        </ns0:txBody>
      </ns0:sp>
      <ns0:sp>
        <ns0:nvSpPr>
          <ns0:cNvPr id="28" name="TextBox 27"/>
          <ns0:cNvSpPr txBox="1"/>
          <ns0:nvPr/>
        </ns0:nvSpPr>
        <ns0:spPr>
          <ns1:xfrm>
            <ns1:off x="10533888" y="1755648"/>
            <ns1:ext cx="3566160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5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新方案是否沿着既有使用习惯与基础设施演进</ns1:t>
            </ns1:r>
          </ns1:p>
        </ns0:txBody>
      </ns0:sp>
      <ns0:sp>
        <ns0:nvSpPr>
          <ns0:cNvPr id="29" name="TextBox 28"/>
          <ns0:cNvSpPr txBox="1"/>
          <ns0:nvPr/>
        </ns0:nvSpPr>
        <ns0:spPr>
          <ns1:xfrm>
            <ns1:off x="10533888" y="1975104"/>
            <ns1:ext cx="3566160" cy="219456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8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兼容路径越顺滑，协调成本越低</ns1:t>
            </ns1:r>
          </ns1:p>
        </ns0:txBody>
      </ns0:sp>
      <ns0:sp>
        <ns0:nvSpPr>
          <ns0:cNvPr id="30" name="Rounded Rectangle 29"/>
          <ns0:cNvSpPr/>
          <ns0:nvPr/>
        </ns0:nvSpPr>
        <ns0:spPr>
          <ns1:xfrm>
            <ns1:off x="9509759" y="2688336"/>
            <ns1:ext cx="4736592" cy="859536"/>
          </ns1:xfrm>
          <ns1:prstGeom prst="roundRect">
            <ns1:avLst/>
          </ns1:prstGeom>
          <ns1:solidFill>
            <ns1:srgbClr val="FFFFFF"/>
          </ns1:solidFill>
          <ns1:ln w="10160">
            <ns1:solidFill>
              <ns1:srgbClr val="CAC4BA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1" name="Rounded Rectangle 30"/>
          <ns0:cNvSpPr/>
          <ns0:nvPr/>
        </ns0:nvSpPr>
        <ns0:spPr>
          <ns1:xfrm>
            <ns1:off x="9619487" y="2798064"/>
            <ns1:ext cx="804672" cy="164592"/>
          </ns1:xfrm>
          <ns1:prstGeom prst="roundRect">
            <ns1:avLst/>
          </ns1:prstGeom>
          <ns1:solidFill>
            <ns1:srgbClr val="BE612F"/>
          </ns1:solidFill>
          <ns1:ln w="10160">
            <ns1:solidFill>
              <ns1:srgbClr val="BE612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95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装机基盘</ns1:t>
            </ns1:r>
          </ns1:p>
        </ns0:txBody>
      </ns0:sp>
      <ns0:sp>
        <ns0:nvSpPr>
          <ns0:cNvPr id="32" name="TextBox 31"/>
          <ns0:cNvSpPr txBox="1"/>
          <ns0:nvPr/>
        </ns0:nvSpPr>
        <ns0:spPr>
          <ns1:xfrm>
            <ns1:off x="10533888" y="2761488"/>
            <ns1:ext cx="3566160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5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现有用户和设备会不会自动站到这一边</ns1:t>
            </ns1:r>
          </ns1:p>
        </ns0:txBody>
      </ns0:sp>
      <ns0:sp>
        <ns0:nvSpPr>
          <ns0:cNvPr id="33" name="TextBox 32"/>
          <ns0:cNvSpPr txBox="1"/>
          <ns0:nvPr/>
        </ns0:nvSpPr>
        <ns0:spPr>
          <ns1:xfrm>
            <ns1:off x="10533888" y="2980944"/>
            <ns1:ext cx="3566160" cy="219456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8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默认需求越大，越容易跨过 tipping point</ns1:t>
            </ns1:r>
          </ns1:p>
        </ns0:txBody>
      </ns0:sp>
      <ns0:sp>
        <ns0:nvSpPr>
          <ns0:cNvPr id="34" name="Rounded Rectangle 33"/>
          <ns0:cNvSpPr/>
          <ns0:nvPr/>
        </ns0:nvSpPr>
        <ns0:spPr>
          <ns1:xfrm>
            <ns1:off x="9509759" y="3694176"/>
            <ns1:ext cx="4736592" cy="859536"/>
          </ns1:xfrm>
          <ns1:prstGeom prst="roundRect">
            <ns1:avLst/>
          </ns1:prstGeom>
          <ns1:solidFill>
            <ns1:srgbClr val="FFFFFF"/>
          </ns1:solidFill>
          <ns1:ln w="10160">
            <ns1:solidFill>
              <ns1:srgbClr val="CAC4BA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5" name="Rounded Rectangle 34"/>
          <ns0:cNvSpPr/>
          <ns0:nvPr/>
        </ns0:nvSpPr>
        <ns0:spPr>
          <ns1:xfrm>
            <ns1:off x="9619487" y="3803904"/>
            <ns1:ext cx="804672" cy="164592"/>
          </ns1:xfrm>
          <ns1:prstGeom prst="roundRect">
            <ns1:avLst/>
          </ns1:prstGeom>
          <ns1:solidFill>
            <ns1:srgbClr val="224E91"/>
          </ns1:solidFill>
          <ns1:ln w="10160">
            <ns1:solidFill>
              <ns1:srgbClr val="224E9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95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补充品联盟</ns1:t>
            </ns1:r>
          </ns1:p>
        </ns0:txBody>
      </ns0:sp>
      <ns0:sp>
        <ns0:nvSpPr>
          <ns0:cNvPr id="36" name="TextBox 35"/>
          <ns0:cNvSpPr txBox="1"/>
          <ns0:nvPr/>
        </ns0:nvSpPr>
        <ns0:spPr>
          <ns1:xfrm>
            <ns1:off x="10533888" y="3767328"/>
            <ns1:ext cx="3566160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5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内容方渠道方工具方是否愿意一起押注</ns1:t>
            </ns1:r>
          </ns1:p>
        </ns0:txBody>
      </ns0:sp>
      <ns0:sp>
        <ns0:nvSpPr>
          <ns0:cNvPr id="37" name="TextBox 36"/>
          <ns0:cNvSpPr txBox="1"/>
          <ns0:nvPr/>
        </ns0:nvSpPr>
        <ns0:spPr>
          <ns1:xfrm>
            <ns1:off x="10533888" y="3986784"/>
            <ns1:ext cx="3566160" cy="219456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8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补充品决定标准是否能形成自强化扩散</ns1:t>
            </ns1:r>
          </ns1:p>
        </ns0:txBody>
      </ns0:sp>
      <ns0:sp>
        <ns0:nvSpPr>
          <ns0:cNvPr id="38" name="Rounded Rectangle 37"/>
          <ns0:cNvSpPr/>
          <ns0:nvPr/>
        </ns0:nvSpPr>
        <ns0:spPr>
          <ns1:xfrm>
            <ns1:off x="9509759" y="4700016"/>
            <ns1:ext cx="4736592" cy="859536"/>
          </ns1:xfrm>
          <ns1:prstGeom prst="roundRect">
            <ns1:avLst/>
          </ns1:prstGeom>
          <ns1:solidFill>
            <ns1:srgbClr val="FFFFFF"/>
          </ns1:solidFill>
          <ns1:ln w="10160">
            <ns1:solidFill>
              <ns1:srgbClr val="CAC4BA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9" name="Rounded Rectangle 38"/>
          <ns0:cNvSpPr/>
          <ns0:nvPr/>
        </ns0:nvSpPr>
        <ns0:spPr>
          <ns1:xfrm>
            <ns1:off x="9619487" y="4809744"/>
            <ns1:ext cx="804672" cy="164592"/>
          </ns1:xfrm>
          <ns1:prstGeom prst="roundRect">
            <ns1:avLst/>
          </ns1:prstGeom>
          <ns1:solidFill>
            <ns1:srgbClr val="BE612F"/>
          </ns1:solidFill>
          <ns1:ln w="10160">
            <ns1:solidFill>
              <ns1:srgbClr val="BE612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95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部署速度</ns1:t>
            </ns1:r>
          </ns1:p>
        </ns0:txBody>
      </ns0:sp>
      <ns0:sp>
        <ns0:nvSpPr>
          <ns0:cNvPr id="40" name="TextBox 39"/>
          <ns0:cNvSpPr txBox="1"/>
          <ns0:nvPr/>
        </ns0:nvSpPr>
        <ns0:spPr>
          <ns1:xfrm>
            <ns1:off x="10533888" y="4773168"/>
            <ns1:ext cx="3566160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5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方案能否更快落地并形成真实反馈</ns1:t>
            </ns1:r>
          </ns1:p>
        </ns0:txBody>
      </ns0:sp>
      <ns0:sp>
        <ns0:nvSpPr>
          <ns0:cNvPr id="41" name="TextBox 40"/>
          <ns0:cNvSpPr txBox="1"/>
          <ns0:nvPr/>
        </ns0:nvSpPr>
        <ns0:spPr>
          <ns1:xfrm>
            <ns1:off x="10533888" y="4992624"/>
            <ns1:ext cx="3566160" cy="219456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8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先跑起来的一方更容易定义现实</ns1:t>
            </ns1:r>
          </ns1:p>
        </ns0:txBody>
      </ns0:sp>
      <ns0:sp>
        <ns0:nvSpPr>
          <ns0:cNvPr id="42" name="Rounded Rectangle 41"/>
          <ns0:cNvSpPr/>
          <ns0:nvPr/>
        </ns0:nvSpPr>
        <ns0:spPr>
          <ns1:xfrm>
            <ns1:off x="9509759" y="5705856"/>
            <ns1:ext cx="4736592" cy="859536"/>
          </ns1:xfrm>
          <ns1:prstGeom prst="roundRect">
            <ns1:avLst/>
          </ns1:prstGeom>
          <ns1:solidFill>
            <ns1:srgbClr val="FFFFFF"/>
          </ns1:solidFill>
          <ns1:ln w="10160">
            <ns1:solidFill>
              <ns1:srgbClr val="CAC4BA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3" name="Rounded Rectangle 42"/>
          <ns0:cNvSpPr/>
          <ns0:nvPr/>
        </ns0:nvSpPr>
        <ns0:spPr>
          <ns1:xfrm>
            <ns1:off x="9619487" y="5815584"/>
            <ns1:ext cx="804672" cy="164592"/>
          </ns1:xfrm>
          <ns1:prstGeom prst="roundRect">
            <ns1:avLst/>
          </ns1:prstGeom>
          <ns1:solidFill>
            <ns1:srgbClr val="224E91"/>
          </ns1:solidFill>
          <ns1:ln w="10160">
            <ns1:solidFill>
              <ns1:srgbClr val="224E9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95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预期管理</ns1:t>
            </ns1:r>
          </ns1:p>
        </ns0:txBody>
      </ns0:sp>
      <ns0:sp>
        <ns0:nvSpPr>
          <ns0:cNvPr id="44" name="TextBox 43"/>
          <ns0:cNvSpPr txBox="1"/>
          <ns0:nvPr/>
        </ns0:nvSpPr>
        <ns0:spPr>
          <ns1:xfrm>
            <ns1:off x="10533888" y="5779008"/>
            <ns1:ext cx="3566160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5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买方是否相信它会成为 dominant standard</ns1:t>
            </ns1:r>
          </ns1:p>
        </ns0:txBody>
      </ns0:sp>
      <ns0:sp>
        <ns0:nvSpPr>
          <ns0:cNvPr id="45" name="TextBox 44"/>
          <ns0:cNvSpPr txBox="1"/>
          <ns0:nvPr/>
        </ns0:nvSpPr>
        <ns0:spPr>
          <ns1:xfrm>
            <ns1:off x="10533888" y="5998464"/>
            <ns1:ext cx="3566160" cy="219456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8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预期会影响站队投资与等待行为</ns1:t>
            </ns1:r>
          </ns1:p>
        </ns0:txBody>
      </ns0:sp>
      <ns0:sp>
        <ns0:nvSpPr>
          <ns0:cNvPr id="46" name="TextBox 45"/>
          <ns0:cNvSpPr txBox="1"/>
          <ns0:nvPr/>
        </ns0:nvSpPr>
        <ns0:spPr>
          <ns1:xfrm>
            <ns1:off x="713232" y="7754112"/>
            <ns1:ext cx="12527280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50" b="0" i="0">
                <ns1:solidFill>
                  <ns1:srgbClr val="8C877E"/>
                </ns1:solidFill>
                <ns1:latin typeface="Arial"/>
                <ns1:ea typeface="黑体"/>
                <ns1:cs typeface="Arial"/>
              </ns1:defRPr>
            </ns1:pPr>
            <ns1:r>
              <ns1:t>结构图使用真 connector，后续校验会确认连线确实绑定在业务节点上。</ns1:t>
            </ns1:r>
          </ns1:p>
        </ns0:txBody>
      </ns0:sp>
    </ns0:spTree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6F4EE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ounded Rectangle 1"/>
          <ns0:cNvSpPr/>
          <ns0:nvPr/>
        </ns0:nvSpPr>
        <ns0:spPr>
          <ns1:xfrm>
            <ns1:off x="713232" y="182880"/>
            <ns1:ext cx="2103120" cy="219456"/>
          </ns1:xfrm>
          <ns1:prstGeom prst="roundRect">
            <ns1:avLst/>
          </ns1:prstGeom>
          <ns1:solidFill>
            <ns1:srgbClr val="BE612F"/>
          </ns1:solidFill>
          <ns1:ln w="10160">
            <ns1:solidFill>
              <ns1:srgbClr val="BE612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100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Case 01 | Home Video</ns1:t>
            </ns1:r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713232" y="493776"/>
            <ns1:ext cx="12198096" cy="51206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24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Betamax 输掉的不是画质，它先输给了家庭任务匹配和联盟扩张速度</ns1:t>
            </ns1:r>
          </ns1:p>
        </ns0:txBody>
      </ns0:sp>
      <ns0:sp>
        <ns0:nvSpPr>
          <ns0:cNvPr id="4" name="TextBox 3"/>
          <ns0:cNvSpPr txBox="1"/>
          <ns0:nvPr/>
        </ns0:nvSpPr>
        <ns0:spPr>
          <ns1:xfrm>
            <ns1:off x="713232" y="896112"/>
            <ns1:ext cx="12289536" cy="23774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5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客厅先为“能不能录完整场比赛”投票，然后才轮到规格表发言。</ns1:t>
            </ns1:r>
          </ns1:p>
        </ns0:txBody>
      </ns0:sp>
      <ns0:sp>
        <ns0:nvSpPr>
          <ns0:cNvPr id="5" name="Rectangle 4"/>
          <ns0:cNvSpPr/>
          <ns0:nvPr/>
        </ns0:nvSpPr>
        <ns0:spPr>
          <ns1:xfrm>
            <ns1:off x="713232" y="1115568"/>
            <ns1:ext cx="1691640" cy="36576"/>
          </ns1:xfrm>
          <ns1:prstGeom prst="rect">
            <ns1:avLst/>
          </ns1:prstGeom>
          <ns1:solidFill>
            <ns1:srgbClr val="BE612F"/>
          </ns1:solidFill>
          <ns1:ln>
            <ns1:solidFill>
              <ns1:srgbClr val="BE612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13405104" y="7772400"/>
            <ns1:ext cx="438912" cy="14630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r">
              <ns1:spcBef>
                <ns1:spcPts val="0"/>
              </ns1:spcBef>
              <ns1:spcAft>
                <ns1:spcPts val="0"/>
              </ns1:spcAft>
              <ns1:defRPr sz="1000" b="1" i="0">
                <ns1:solidFill>
                  <ns1:srgbClr val="8C877E"/>
                </ns1:solidFill>
                <ns1:latin typeface="Arial"/>
                <ns1:ea typeface="黑体"/>
                <ns1:cs typeface="Arial"/>
              </ns1:defRPr>
            </ns1:pPr>
            <ns1:r>
              <ns1:t>S04</ns1:t>
            </ns1:r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713232" y="1298448"/>
            <ns1:ext cx="13203936" cy="1005840"/>
          </ns1:xfrm>
          <ns1:prstGeom prst="roundRect">
            <ns1:avLst/>
          </ns1:prstGeom>
          <ns1:solidFill>
            <ns1:srgbClr val="F8EFEA"/>
          </ns1:solidFill>
          <ns1:ln w="12700">
            <ns1:solidFill>
              <ns1:srgbClr val="D79D7E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548640" rIns="146304" tIns="164592" bIns="73152"/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6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客厅不会为画质投票，它先为“整场球赛能不能录完”和“厂商愿不愿意一起押注”投票。</ns1:t>
            </ns1:r>
          </ns1:p>
        </ns0:txBody>
      </ns0:sp>
      <ns0:pic>
        <ns0:nvPicPr>
          <ns0:cNvPr id="8" name="Picture 7" descr="presentation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877824" y="1499616"/>
            <ns1:ext cx="274320" cy="274320"/>
          </ns1:xfrm>
          <ns1:prstGeom prst="rect">
            <ns1:avLst/>
          </ns1:prstGeom>
        </ns0:spPr>
      </ns0:pic>
      <ns0:sp>
        <ns0:nvSpPr>
          <ns0:cNvPr id="9" name="Rounded Rectangle 8"/>
          <ns0:cNvSpPr/>
          <ns0:nvPr/>
        </ns0:nvSpPr>
        <ns0:spPr>
          <ns1:xfrm>
            <ns1:off x="9015984" y="1499616"/>
            <ns1:ext cx="1426464" cy="182880"/>
          </ns1:xfrm>
          <ns1:prstGeom prst="roundRect">
            <ns1:avLst/>
          </ns1:prstGeom>
          <ns1:solidFill>
            <ns1:srgbClr val="537969"/>
          </ns1:solidFill>
          <ns1:ln w="10160">
            <ns1:solidFill>
              <ns1:srgbClr val="53796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95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正在验证 Claim 1</ns1:t>
            </ns1:r>
          </ns1:p>
        </ns0:txBody>
      </ns0:sp>
      <ns0:sp>
        <ns0:nvSpPr>
          <ns0:cNvPr id="10" name="Rounded Rectangle 9"/>
          <ns0:cNvSpPr/>
          <ns0:nvPr/>
        </ns0:nvSpPr>
        <ns0:spPr>
          <ns1:xfrm>
            <ns1:off x="10680192" y="1499616"/>
            <ns1:ext cx="1078992" cy="182880"/>
          </ns1:xfrm>
          <ns1:prstGeom prst="roundRect">
            <ns1:avLst/>
          </ns1:prstGeom>
          <ns1:solidFill>
            <ns1:srgbClr val="BE612F"/>
          </ns1:solidFill>
          <ns1:ln w="10160">
            <ns1:solidFill>
              <ns1:srgbClr val="BE612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95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1 小时 vs 2 小时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11850624" y="1499616"/>
            <ns1:ext cx="1810512" cy="182880"/>
          </ns1:xfrm>
          <ns1:prstGeom prst="roundRect">
            <ns1:avLst/>
          </ns1:prstGeom>
          <ns1:solidFill>
            <ns1:srgbClr val="224E91"/>
          </ns1:solidFill>
          <ns1:ln w="10160">
            <ns1:solidFill>
              <ns1:srgbClr val="224E9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95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谨慎授权 vs 更广阵营</ns1:t>
            </ns1:r>
          </ns1:p>
        </ns0:txBody>
      </ns0:sp>
      <ns0:sp>
        <ns0:nvSpPr>
          <ns0:cNvPr id="12" name="Rectangle 11"/>
          <ns0:cNvSpPr/>
          <ns0:nvPr/>
        </ns0:nvSpPr>
        <ns0:spPr>
          <ns1:xfrm>
            <ns1:off x="713232" y="2889503"/>
            <ns1:ext cx="7973568" cy="27432"/>
          </ns1:xfrm>
          <ns1:prstGeom prst="rect">
            <ns1:avLst/>
          </ns1:prstGeom>
          <ns1:solidFill>
            <ns1:srgbClr val="D59878"/>
          </ns1:solidFill>
          <ns1:ln>
            <ns1:solidFill>
              <ns1:srgbClr val="D59878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731520" y="2596896"/>
            <ns1:ext cx="603504" cy="219456"/>
          </ns1:xfrm>
          <ns1:prstGeom prst="roundRect">
            <ns1:avLst/>
          </ns1:prstGeom>
          <ns1:solidFill>
            <ns1:srgbClr val="DBA88D"/>
          </ns1:solidFill>
          <ns1:ln w="10160">
            <ns1:solidFill>
              <ns1:srgbClr val="DBA88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1050" b="1" i="0">
                <ns1:solidFill>
                  <ns1:srgbClr val="192638"/>
                </ns1:solidFill>
                <ns1:latin typeface="Arial"/>
                <ns1:ea typeface="黑体"/>
                <ns1:cs typeface="Arial"/>
              </ns1:defRPr>
            </ns1:pPr>
            <ns1:r>
              <ns1:t>1975</ns1:t>
            </ns1:r>
          </ns1:p>
        </ns0:txBody>
      </ns0:sp>
      <ns0:sp>
        <ns0:nvSpPr>
          <ns0:cNvPr id="14" name="Oval 13"/>
          <ns0:cNvSpPr/>
          <ns0:nvPr/>
        </ns0:nvSpPr>
        <ns0:spPr>
          <ns1:xfrm>
            <ns1:off x="914400" y="2852928"/>
            <ns1:ext cx="146304" cy="146304"/>
          </ns1:xfrm>
          <ns1:prstGeom prst="ellipse">
            <ns1:avLst/>
          </ns1:prstGeom>
          <ns1:solidFill>
            <ns1:srgbClr val="BE612F"/>
          </ns1:solidFill>
          <ns1:ln>
            <ns1:solidFill>
              <ns1:srgbClr val="BE612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5" name="TextBox 14"/>
          <ns0:cNvSpPr txBox="1"/>
          <ns0:nvPr/>
        </ns0:nvSpPr>
        <ns0:spPr>
          <ns1:xfrm>
            <ns1:off x="731520" y="3054096"/>
            <ns1:ext cx="2584704" cy="182880"/>
          </ns1:xfrm>
          <ns1:prstGeom prst="rect">
            <ns1:avLst/>
          </ns1:prstGeom>
          <ns1:noFill/>
        </ns0:spPr>
        <ns0:txBody>
          <ns1:bodyPr wrap="square" lIns="0" rIns="0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Sony 推出 Betamax</ns1:t>
            </ns1:r>
          </ns1:p>
        </ns0:txBody>
      </ns0:sp>
      <ns0:sp>
        <ns0:nvSpPr>
          <ns0:cNvPr id="16" name="TextBox 15"/>
          <ns0:cNvSpPr txBox="1"/>
          <ns0:nvPr/>
        </ns0:nvSpPr>
        <ns0:spPr>
          <ns1:xfrm>
            <ns1:off x="731520" y="3255263"/>
            <ns1:ext cx="2584704" cy="384048"/>
          </ns1:xfrm>
          <ns1:prstGeom prst="rect">
            <ns1:avLst/>
          </ns1:prstGeom>
          <ns1:noFill/>
        </ns0:spPr>
        <ns0:txBody>
          <ns1:bodyPr wrap="square" lIns="0" rIns="0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5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早期录制时长偏短且授权更谨慎</ns1:t>
            </ns1:r>
          </ns1:p>
        </ns0:txBody>
      </ns0:sp>
      <ns0:sp>
        <ns0:nvSpPr>
          <ns0:cNvPr id="17" name="Rounded Rectangle 16"/>
          <ns0:cNvSpPr/>
          <ns0:nvPr/>
        </ns0:nvSpPr>
        <ns0:spPr>
          <ns1:xfrm>
            <ns1:off x="3389376" y="2596896"/>
            <ns1:ext cx="603504" cy="219456"/>
          </ns1:xfrm>
          <ns1:prstGeom prst="roundRect">
            <ns1:avLst/>
          </ns1:prstGeom>
          <ns1:solidFill>
            <ns1:srgbClr val="BE612F"/>
          </ns1:solidFill>
          <ns1:ln w="10160">
            <ns1:solidFill>
              <ns1:srgbClr val="BE612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105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1976</ns1:t>
            </ns1:r>
          </ns1:p>
        </ns0:txBody>
      </ns0:sp>
      <ns0:sp>
        <ns0:nvSpPr>
          <ns0:cNvPr id="18" name="Oval 17"/>
          <ns0:cNvSpPr/>
          <ns0:nvPr/>
        </ns0:nvSpPr>
        <ns0:spPr>
          <ns1:xfrm>
            <ns1:off x="3572256" y="2852928"/>
            <ns1:ext cx="146304" cy="146304"/>
          </ns1:xfrm>
          <ns1:prstGeom prst="ellipse">
            <ns1:avLst/>
          </ns1:prstGeom>
          <ns1:solidFill>
            <ns1:srgbClr val="BE612F"/>
          </ns1:solidFill>
          <ns1:ln>
            <ns1:solidFill>
              <ns1:srgbClr val="BE612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TextBox 18"/>
          <ns0:cNvSpPr txBox="1"/>
          <ns0:nvPr/>
        </ns0:nvSpPr>
        <ns0:spPr>
          <ns1:xfrm>
            <ns1:off x="3389376" y="3054096"/>
            <ns1:ext cx="2584704" cy="182880"/>
          </ns1:xfrm>
          <ns1:prstGeom prst="rect">
            <ns1:avLst/>
          </ns1:prstGeom>
          <ns1:noFill/>
        </ns0:spPr>
        <ns0:txBody>
          <ns1:bodyPr wrap="square" lIns="0" rIns="0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JVC 推出 VHS</ns1:t>
            </ns1:r>
          </ns1:p>
        </ns0:txBody>
      </ns0:sp>
      <ns0:sp>
        <ns0:nvSpPr>
          <ns0:cNvPr id="20" name="TextBox 19"/>
          <ns0:cNvSpPr txBox="1"/>
          <ns0:nvPr/>
        </ns0:nvSpPr>
        <ns0:spPr>
          <ns1:xfrm>
            <ns1:off x="3389376" y="3255263"/>
            <ns1:ext cx="2584704" cy="384048"/>
          </ns1:xfrm>
          <ns1:prstGeom prst="rect">
            <ns1:avLst/>
          </ns1:prstGeom>
          <ns1:noFill/>
        </ns0:spPr>
        <ns0:txBody>
          <ns1:bodyPr wrap="square" lIns="0" rIns="0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5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直接主打更长录制时长与更低制造复杂度</ns1:t>
            </ns1:r>
          </ns1:p>
        </ns0:txBody>
      </ns0:sp>
      <ns0:sp>
        <ns0:nvSpPr>
          <ns0:cNvPr id="21" name="Rounded Rectangle 20"/>
          <ns0:cNvSpPr/>
          <ns0:nvPr/>
        </ns0:nvSpPr>
        <ns0:spPr>
          <ns1:xfrm>
            <ns1:off x="6047232" y="2596896"/>
            <ns1:ext cx="603504" cy="219456"/>
          </ns1:xfrm>
          <ns1:prstGeom prst="roundRect">
            <ns1:avLst/>
          </ns1:prstGeom>
          <ns1:solidFill>
            <ns1:srgbClr val="BE612F"/>
          </ns1:solidFill>
          <ns1:ln w="10160">
            <ns1:solidFill>
              <ns1:srgbClr val="BE612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105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1978</ns1:t>
            </ns1:r>
          </ns1:p>
        </ns0:txBody>
      </ns0:sp>
      <ns0:sp>
        <ns0:nvSpPr>
          <ns0:cNvPr id="22" name="Oval 21"/>
          <ns0:cNvSpPr/>
          <ns0:nvPr/>
        </ns0:nvSpPr>
        <ns0:spPr>
          <ns1:xfrm>
            <ns1:off x="6230112" y="2852928"/>
            <ns1:ext cx="146304" cy="146304"/>
          </ns1:xfrm>
          <ns1:prstGeom prst="ellipse">
            <ns1:avLst/>
          </ns1:prstGeom>
          <ns1:solidFill>
            <ns1:srgbClr val="BE612F"/>
          </ns1:solidFill>
          <ns1:ln>
            <ns1:solidFill>
              <ns1:srgbClr val="BE612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3" name="TextBox 22"/>
          <ns0:cNvSpPr txBox="1"/>
          <ns0:nvPr/>
        </ns0:nvSpPr>
        <ns0:spPr>
          <ns1:xfrm>
            <ns1:off x="6047232" y="3054096"/>
            <ns1:ext cx="2584704" cy="182880"/>
          </ns1:xfrm>
          <ns1:prstGeom prst="rect">
            <ns1:avLst/>
          </ns1:prstGeom>
          <ns1:noFill/>
        </ns0:spPr>
        <ns0:txBody>
          <ns1:bodyPr wrap="square" lIns="0" rIns="0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VHS 阵营快速扩张</ns1:t>
            </ns1:r>
          </ns1:p>
        </ns0:txBody>
      </ns0:sp>
      <ns0:sp>
        <ns0:nvSpPr>
          <ns0:cNvPr id="24" name="TextBox 23"/>
          <ns0:cNvSpPr txBox="1"/>
          <ns0:nvPr/>
        </ns0:nvSpPr>
        <ns0:spPr>
          <ns1:xfrm>
            <ns1:off x="6047232" y="3255263"/>
            <ns1:ext cx="2584704" cy="384048"/>
          </ns1:xfrm>
          <ns1:prstGeom prst="rect">
            <ns1:avLst/>
          </ns1:prstGeom>
          <ns1:noFill/>
        </ns0:spPr>
        <ns0:txBody>
          <ns1:bodyPr wrap="square" lIns="0" rIns="0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5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更广泛厂商支持加速 installed base 形成</ns1:t>
            </ns1:r>
          </ns1:p>
        </ns0:txBody>
      </ns0:sp>
      <ns0:sp>
        <ns0:nvSpPr>
          <ns0:cNvPr id="25" name="Rounded Rectangle 24"/>
          <ns0:cNvSpPr/>
          <ns0:nvPr/>
        </ns0:nvSpPr>
        <ns0:spPr>
          <ns1:xfrm>
            <ns1:off x="9015984" y="2596896"/>
            <ns1:ext cx="4901184" cy="1225296"/>
          </ns1:xfrm>
          <ns1:prstGeom prst="roundRect">
            <ns1:avLst/>
          </ns1:prstGeom>
          <ns1:solidFill>
            <ns1:srgbClr val="FFFFFF"/>
          </ns1:solidFill>
          <ns1:ln w="10160">
            <ns1:solidFill>
              <ns1:srgbClr val="CAC4BA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26" name="Picture 25" descr="users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9162288" y="2779776"/>
            <ns1:ext cx="219456" cy="219456"/>
          </ns1:xfrm>
          <ns1:prstGeom prst="rect">
            <ns1:avLst/>
          </ns1:prstGeom>
        </ns0:spPr>
      </ns0:pic>
      <ns0:sp>
        <ns0:nvSpPr>
          <ns0:cNvPr id="27" name="TextBox 26"/>
          <ns0:cNvSpPr txBox="1"/>
          <ns0:nvPr/>
        </ns0:nvSpPr>
        <ns0:spPr>
          <ns1:xfrm>
            <ns1:off x="9454896" y="2743200"/>
            <ns1:ext cx="4206240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5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家庭任务匹配</ns1:t>
            </ns1:r>
          </ns1:p>
        </ns0:txBody>
      </ns0:sp>
      <ns0:sp>
        <ns0:nvSpPr>
          <ns0:cNvPr id="28" name="TextBox 27"/>
          <ns0:cNvSpPr txBox="1"/>
          <ns0:nvPr/>
        </ns0:nvSpPr>
        <ns0:spPr>
          <ns1:xfrm>
            <ns1:off x="9162288" y="3017520"/>
            <ns1:ext cx="4498848" cy="43891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4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VHS 一上来就更接近主流家庭录制整场节目、赛事和电影的任务需求。</ns1:t>
            </ns1:r>
          </ns1:p>
        </ns0:txBody>
      </ns0:sp>
      <ns0:sp>
        <ns0:nvSpPr>
          <ns0:cNvPr id="29" name="Rounded Rectangle 28"/>
          <ns0:cNvSpPr/>
          <ns0:nvPr/>
        </ns0:nvSpPr>
        <ns0:spPr>
          <ns1:xfrm>
            <ns1:off x="9015984" y="4005072"/>
            <ns1:ext cx="4901184" cy="1225296"/>
          </ns1:xfrm>
          <ns1:prstGeom prst="roundRect">
            <ns1:avLst/>
          </ns1:prstGeom>
          <ns1:solidFill>
            <ns1:srgbClr val="FFFFFF"/>
          </ns1:solidFill>
          <ns1:ln w="10160">
            <ns1:solidFill>
              <ns1:srgbClr val="CAC4BA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0" name="Picture 29" descr="stack-2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9162288" y="4187952"/>
            <ns1:ext cx="219456" cy="219456"/>
          </ns1:xfrm>
          <ns1:prstGeom prst="rect">
            <ns1:avLst/>
          </ns1:prstGeom>
        </ns0:spPr>
      </ns0:pic>
      <ns0:sp>
        <ns0:nvSpPr>
          <ns0:cNvPr id="31" name="TextBox 30"/>
          <ns0:cNvSpPr txBox="1"/>
          <ns0:nvPr/>
        </ns0:nvSpPr>
        <ns0:spPr>
          <ns1:xfrm>
            <ns1:off x="9454896" y="4151376"/>
            <ns1:ext cx="4206240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5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制造成本与介质经济性</ns1:t>
            </ns1:r>
          </ns1:p>
        </ns0:txBody>
      </ns0:sp>
      <ns0:sp>
        <ns0:nvSpPr>
          <ns0:cNvPr id="32" name="TextBox 31"/>
          <ns0:cNvSpPr txBox="1"/>
          <ns0:nvPr/>
        </ns0:nvSpPr>
        <ns0:spPr>
          <ns1:xfrm>
            <ns1:off x="9162288" y="4425696"/>
            <ns1:ext cx="4498848" cy="43891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4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更少组件和更低制造复杂度，让 VHS 更容易形成规模化供给。</ns1:t>
            </ns1:r>
          </ns1:p>
        </ns0:txBody>
      </ns0:sp>
      <ns0:sp>
        <ns0:nvSpPr>
          <ns0:cNvPr id="33" name="Rounded Rectangle 32"/>
          <ns0:cNvSpPr/>
          <ns0:nvPr/>
        </ns0:nvSpPr>
        <ns0:spPr>
          <ns1:xfrm>
            <ns1:off x="9015984" y="5413248"/>
            <ns1:ext cx="4901184" cy="1225296"/>
          </ns1:xfrm>
          <ns1:prstGeom prst="roundRect">
            <ns1:avLst/>
          </ns1:prstGeom>
          <ns1:solidFill>
            <ns1:srgbClr val="FFFFFF"/>
          </ns1:solidFill>
          <ns1:ln w="10160">
            <ns1:solidFill>
              <ns1:srgbClr val="CAC4BA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4" name="Picture 33" descr="circles-relation.png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9162288" y="5596128"/>
            <ns1:ext cx="219456" cy="219456"/>
          </ns1:xfrm>
          <ns1:prstGeom prst="rect">
            <ns1:avLst/>
          </ns1:prstGeom>
        </ns0:spPr>
      </ns0:pic>
      <ns0:sp>
        <ns0:nvSpPr>
          <ns0:cNvPr id="35" name="TextBox 34"/>
          <ns0:cNvSpPr txBox="1"/>
          <ns0:nvPr/>
        </ns0:nvSpPr>
        <ns0:spPr>
          <ns1:xfrm>
            <ns1:off x="9454896" y="5559552"/>
            <ns1:ext cx="4206240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5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授权与阵营扩张</ns1:t>
            </ns1:r>
          </ns1:p>
        </ns0:txBody>
      </ns0:sp>
      <ns0:sp>
        <ns0:nvSpPr>
          <ns0:cNvPr id="36" name="TextBox 35"/>
          <ns0:cNvSpPr txBox="1"/>
          <ns0:nvPr/>
        </ns0:nvSpPr>
        <ns0:spPr>
          <ns1:xfrm>
            <ns1:off x="9162288" y="5833872"/>
            <ns1:ext cx="4498848" cy="43891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4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更广泛的厂商支持更快堆出 installed base，并放大后续补充品供给。</ns1:t>
            </ns1:r>
          </ns1:p>
        </ns0:txBody>
      </ns0:sp>
      <ns0:sp>
        <ns0:nvSpPr>
          <ns0:cNvPr id="37" name="TextBox 36"/>
          <ns0:cNvSpPr txBox="1"/>
          <ns0:nvPr/>
        </ns0:nvSpPr>
        <ns0:spPr>
          <ns1:xfrm>
            <ns1:off x="713232" y="5852160"/>
            <ns1:ext cx="7918704" cy="1188720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3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为什么“更好技术”的神话会误导判断</ns1:t>
            </ns1:r>
          </ns1:p>
          <ns1:p>
            <ns1:pPr algn="l">
              <ns1:spcBef>
                <ns1:spcPts val="0"/>
              </ns1:spcBef>
              <ns1:spcAft>
                <ns1:spcPts val="0"/>
              </ns1:spcAft>
              <ns1:defRPr sz="125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Betamax 后来经常和专业格式 Betacam 的品质记忆混在一起，但家庭录像市场真正放大的，是更低风险的任务完成路径和更大的阵营扩张速度。</ns1:t>
            </ns1:r>
          </ns1:p>
        </ns0:txBody>
      </ns0:sp>
      <ns0:sp>
        <ns0:nvSpPr>
          <ns0:cNvPr id="38" name="TextBox 37"/>
          <ns0:cNvSpPr txBox="1"/>
          <ns0:nvPr/>
        </ns0:nvSpPr>
        <ns0:spPr>
          <ns1:xfrm>
            <ns1:off x="713232" y="7754112"/>
            <ns1:ext cx="12527280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50" b="0" i="0">
                <ns1:solidFill>
                  <ns1:srgbClr val="8C877E"/>
                </ns1:solidFill>
                <ns1:latin typeface="Arial"/>
                <ns1:ea typeface="黑体"/>
                <ns1:cs typeface="Arial"/>
              </ns1:defRPr>
            </ns1:pPr>
            <ns1:r>
              <ns1:t>Sources: Sony corporate history; Smithsonian review; AskHistorians discussion summarized in the design brief.</ns1:t>
            </ns1:r>
          </ns1:p>
        </ns0:txBody>
      </ns0:sp>
    </ns0:spTree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 xmlns:ns2="http://schemas.openxmlformats.org/drawingml/2006/chart" xmlns:ns3="http://schemas.openxmlformats.org/officeDocument/2006/relationships">
  <ns0:cSld>
    <ns0:bg>
      <ns0:bgPr>
        <ns1:solidFill>
          <ns1:srgbClr val="F6F4EE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ounded Rectangle 1"/>
          <ns0:cNvSpPr/>
          <ns0:nvPr/>
        </ns0:nvSpPr>
        <ns0:spPr>
          <ns1:xfrm>
            <ns1:off x="713232" y="182880"/>
            <ns1:ext cx="1920240" cy="219456"/>
          </ns1:xfrm>
          <ns1:prstGeom prst="roundRect">
            <ns1:avLst/>
          </ns1:prstGeom>
          <ns1:solidFill>
            <ns1:srgbClr val="BE612F"/>
          </ns1:solidFill>
          <ns1:ln w="10160">
            <ns1:solidFill>
              <ns1:srgbClr val="BE612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100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Case 01 | Lesson</ns1:t>
            </ns1:r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713232" y="493776"/>
            <ns1:ext cx="12198096" cy="51206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24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VHS 形成了更低风险的集体下注路径，所以规格劣势没有妨碍它成为标准</ns1:t>
            </ns1:r>
          </ns1:p>
        </ns0:txBody>
      </ns0:sp>
      <ns0:sp>
        <ns0:nvSpPr>
          <ns0:cNvPr id="4" name="TextBox 3"/>
          <ns0:cNvSpPr txBox="1"/>
          <ns0:nvPr/>
        </ns0:nvSpPr>
        <ns0:spPr>
          <ns1:xfrm>
            <ns1:off x="713232" y="896112"/>
            <ns1:ext cx="12289536" cy="23774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5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先满足用户任务、再形成制造联盟、再扩大 installed base，才是标准化闭环。</ns1:t>
            </ns1:r>
          </ns1:p>
        </ns0:txBody>
      </ns0:sp>
      <ns0:sp>
        <ns0:nvSpPr>
          <ns0:cNvPr id="5" name="Rectangle 4"/>
          <ns0:cNvSpPr/>
          <ns0:nvPr/>
        </ns0:nvSpPr>
        <ns0:spPr>
          <ns1:xfrm>
            <ns1:off x="713232" y="1115568"/>
            <ns1:ext cx="1691640" cy="36576"/>
          </ns1:xfrm>
          <ns1:prstGeom prst="rect">
            <ns1:avLst/>
          </ns1:prstGeom>
          <ns1:solidFill>
            <ns1:srgbClr val="BE612F"/>
          </ns1:solidFill>
          <ns1:ln>
            <ns1:solidFill>
              <ns1:srgbClr val="BE612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13405104" y="7772400"/>
            <ns1:ext cx="438912" cy="14630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r">
              <ns1:spcBef>
                <ns1:spcPts val="0"/>
              </ns1:spcBef>
              <ns1:spcAft>
                <ns1:spcPts val="0"/>
              </ns1:spcAft>
              <ns1:defRPr sz="1000" b="1" i="0">
                <ns1:solidFill>
                  <ns1:srgbClr val="8C877E"/>
                </ns1:solidFill>
                <ns1:latin typeface="Arial"/>
                <ns1:ea typeface="黑体"/>
                <ns1:cs typeface="Arial"/>
              </ns1:defRPr>
            </ns1:pPr>
            <ns1:r>
              <ns1:t>S05</ns1:t>
            </ns1:r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713232" y="1298448"/>
            <ns1:ext cx="6675120" cy="5468112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79D7E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877824" y="1444751"/>
            <ns1:ext cx="6217920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5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VHS 如何闭合“更低风险下注”的循环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1078992" y="1993391"/>
            <ns1:ext cx="2468880" cy="914400"/>
          </ns1:xfrm>
          <ns1:prstGeom prst="roundRect">
            <ns1:avLst/>
          </ns1:prstGeom>
          <ns1:solidFill>
            <ns1:srgbClr val="F8EFEA"/>
          </ns1:solidFill>
          <ns1:ln w="12700">
            <ns1:solidFill>
              <ns1:srgbClr val="D08D6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t" wrap="square" lIns="128016" rIns="128016" tIns="91440" bIns="73152"/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3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先满足家庭任务</ns1:t>
            </ns1:r>
          </ns1:p>
          <ns1:p>
            <ns1:pPr algn="l">
              <ns1:spcBef>
                <ns1:spcPts val="0"/>
              </ns1:spcBef>
              <ns1:spcAft>
                <ns1:spcPts val="0"/>
              </ns1:spcAft>
              <ns1:defRPr sz="115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更长录制时长先解决了主流使用场景。</ns1:t>
            </ns1:r>
          </ns1:p>
        </ns0:txBody>
      </ns0:sp>
      <ns0:sp>
        <ns0:nvSpPr>
          <ns0:cNvPr id="10" name="Rounded Rectangle 9"/>
          <ns0:cNvSpPr/>
          <ns0:nvPr/>
        </ns0:nvSpPr>
        <ns0:spPr>
          <ns1:xfrm>
            <ns1:off x="4352544" y="1993391"/>
            <ns1:ext cx="2414016" cy="914400"/>
          </ns1:xfrm>
          <ns1:prstGeom prst="roundRect">
            <ns1:avLst/>
          </ns1:prstGeom>
          <ns1:solidFill>
            <ns1:srgbClr val="E9EDF4"/>
          </ns1:solidFill>
          <ns1:ln w="12700">
            <ns1:solidFill>
              <ns1:srgbClr val="6080B0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t" wrap="square" lIns="128016" rIns="128016" tIns="91440" bIns="73152"/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3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再形成厂商联盟</ns1:t>
            </ns1:r>
          </ns1:p>
          <ns1:p>
            <ns1:pPr algn="l">
              <ns1:spcBef>
                <ns1:spcPts val="0"/>
              </ns1:spcBef>
              <ns1:spcAft>
                <ns1:spcPts val="0"/>
              </ns1:spcAft>
              <ns1:defRPr sz="115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更低制造复杂度和更广授权让阵营扩大更快。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4352544" y="3511296"/>
            <ns1:ext cx="2414016" cy="914400"/>
          </ns1:xfrm>
          <ns1:prstGeom prst="roundRect">
            <ns1:avLst/>
          </ns1:prstGeom>
          <ns1:solidFill>
            <ns1:srgbClr val="F8EFEA"/>
          </ns1:solidFill>
          <ns1:ln w="12700">
            <ns1:solidFill>
              <ns1:srgbClr val="D08D6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t" wrap="square" lIns="128016" rIns="128016" tIns="91440" bIns="73152"/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3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再堆大 installed base</ns1:t>
            </ns1:r>
          </ns1:p>
          <ns1:p>
            <ns1:pPr algn="l">
              <ns1:spcBef>
                <ns1:spcPts val="0"/>
              </ns1:spcBef>
              <ns1:spcAft>
                <ns1:spcPts val="0"/>
              </ns1:spcAft>
              <ns1:defRPr sz="115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设备数、内容数与渠道信号开始相互强化。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1078992" y="3511296"/>
            <ns1:ext cx="2468880" cy="914400"/>
          </ns1:xfrm>
          <ns1:prstGeom prst="roundRect">
            <ns1:avLst/>
          </ns1:prstGeom>
          <ns1:solidFill>
            <ns1:srgbClr val="E9EDF4"/>
          </ns1:solidFill>
          <ns1:ln w="12700">
            <ns1:solidFill>
              <ns1:srgbClr val="6080B0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t" wrap="square" lIns="128016" rIns="128016" tIns="91440" bIns="73152"/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3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最后让市场预期锁定</ns1:t>
            </ns1:r>
          </ns1:p>
          <ns1:p>
            <ns1:pPr algn="l">
              <ns1:spcBef>
                <ns1:spcPts val="0"/>
              </ns1:spcBef>
              <ns1:spcAft>
                <ns1:spcPts val="0"/>
              </ns1:spcAft>
              <ns1:defRPr sz="115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“大家都在用 VHS” 让后续下注更轻松。</ns1:t>
            </ns1:r>
          </ns1:p>
        </ns0:txBody>
      </ns0:sp>
      <ns0:sp>
        <ns0:nvSpPr>
          <ns0:cNvPr id="13" name="Chevron 12"/>
          <ns0:cNvSpPr/>
          <ns0:nvPr/>
        </ns0:nvSpPr>
        <ns0:spPr>
          <ns1:xfrm>
            <ns1:off x="3621024" y="2350008"/>
            <ns1:ext cx="475488" cy="109728"/>
          </ns1:xfrm>
          <ns1:prstGeom prst="chevron">
            <ns1:avLst/>
          </ns1:prstGeom>
          <ns1:solidFill>
            <ns1:srgbClr val="CC845D"/>
          </ns1:solidFill>
          <ns1:ln>
            <ns1:solidFill>
              <ns1:srgbClr val="CC84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4" name="Down Arrow 13"/>
          <ns0:cNvSpPr/>
          <ns0:nvPr/>
        </ns0:nvSpPr>
        <ns0:spPr>
          <ns1:xfrm>
            <ns1:off x="5358384" y="3054096"/>
            <ns1:ext cx="146304" cy="347472"/>
          </ns1:xfrm>
          <ns1:prstGeom prst="downArrow">
            <ns1:avLst/>
          </ns1:prstGeom>
          <ns1:solidFill>
            <ns1:srgbClr val="CC845D"/>
          </ns1:solidFill>
          <ns1:ln>
            <ns1:solidFill>
              <ns1:srgbClr val="CC84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5" name="Chevron 14"/>
          <ns0:cNvSpPr/>
          <ns0:nvPr/>
        </ns0:nvSpPr>
        <ns0:spPr>
          <ns1:xfrm>
            <ns1:off x="3621024" y="3877056"/>
            <ns1:ext cx="475488" cy="109728"/>
          </ns1:xfrm>
          <ns1:prstGeom prst="chevron">
            <ns1:avLst/>
          </ns1:prstGeom>
          <ns1:solidFill>
            <ns1:srgbClr val="CC845D"/>
          </ns1:solidFill>
          <ns1:ln>
            <ns1:solidFill>
              <ns1:srgbClr val="CC84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6" name="Up Arrow 15"/>
          <ns0:cNvSpPr/>
          <ns0:nvPr/>
        </ns0:nvSpPr>
        <ns0:spPr>
          <ns1:xfrm>
            <ns1:off x="2103120" y="3054096"/>
            <ns1:ext cx="146304" cy="347472"/>
          </ns1:xfrm>
          <ns1:prstGeom prst="upArrow">
            <ns1:avLst/>
          </ns1:prstGeom>
          <ns1:solidFill>
            <ns1:srgbClr val="CC845D"/>
          </ns1:solidFill>
          <ns1:ln>
            <ns1:solidFill>
              <ns1:srgbClr val="CC84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7" name="Rectangle 16"/>
          <ns0:cNvSpPr/>
          <ns0:nvPr/>
        </ns0:nvSpPr>
        <ns0:spPr>
          <ns1:xfrm>
            <ns1:off x="7626096" y="1627631"/>
            <ns1:ext cx="6291072" cy="2468880"/>
          </ns1:xfrm>
          <ns1:prstGeom prst="rect">
            <ns1:avLst/>
          </ns1:prstGeom>
          <ns1:solidFill>
            <ns1:srgbClr val="FFFFFF"/>
          </ns1:solidFill>
          <ns1:ln w="12700">
            <ns1:solidFill>
              <ns1:srgbClr val="7A95B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/>
        </ns0:txBody>
      </ns0:sp>
      <ns0:sp>
        <ns0:nvSpPr>
          <ns0:cNvPr id="18" name="Rectangle 17"/>
          <ns0:cNvSpPr/>
          <ns0:nvPr/>
        </ns0:nvSpPr>
        <ns0:spPr>
          <ns1:xfrm>
            <ns1:off x="7626096" y="1298448"/>
            <ns1:ext cx="1468526" cy="292608"/>
          </ns1:xfrm>
          <ns1:prstGeom prst="rect">
            <ns1:avLst/>
          </ns1:prstGeom>
          <ns1:solidFill>
            <ns1:srgbClr val="224E91"/>
          </ns1:solidFill>
          <ns1:ln>
            <ns1:solidFill>
              <ns1:srgbClr val="224E9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>
              <ns1:defRPr b="1" sz="140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综合评分 | 分析性合成</ns1:t>
            </ns1:r>
          </ns1:p>
        </ns0:txBody>
      </ns0:sp>
      <ns0:graphicFrame>
        <ns0:nvGraphicFramePr>
          <ns0:cNvPr id="19" name="Chart 18"/>
          <ns0:cNvGraphicFramePr>
            <ns1:graphicFrameLocks noGrp="1"/>
          </ns0:cNvGraphicFramePr>
          <ns0:nvPr/>
        </ns0:nvGraphicFramePr>
        <ns0:xfrm>
          <ns1:off x="7735823" y="1737360"/>
          <ns1:ext cx="6071616" cy="2249424"/>
        </ns0:xfrm>
        <ns1:graphic>
          <ns1:graphicData uri="http://schemas.openxmlformats.org/drawingml/2006/chart">
            <ns2:chart ns3:id="rId2"/>
          </ns1:graphicData>
        </ns1:graphic>
      </ns0:graphicFrame>
      <ns0:sp>
        <ns0:nvSpPr>
          <ns0:cNvPr id="20" name="TextBox 19"/>
          <ns0:cNvSpPr txBox="1"/>
          <ns0:nvPr/>
        </ns0:nvSpPr>
        <ns0:spPr>
          <ns1:xfrm>
            <ns1:off x="7754112" y="3913631"/>
            <ns1:ext cx="5724144" cy="14630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980" b="0" i="0">
                <ns1:solidFill>
                  <ns1:srgbClr val="8C877E"/>
                </ns1:solidFill>
                <ns1:latin typeface="Arial"/>
                <ns1:ea typeface="黑体"/>
                <ns1:cs typeface="Arial"/>
              </ns1:defRPr>
            </ns1:pPr>
            <ns1:r>
              <ns1:t>评分用于把案例里的机制差异显式化，不代表原始市场统计。</ns1:t>
            </ns1:r>
          </ns1:p>
        </ns0:txBody>
      </ns0:sp>
      <ns0:sp>
        <ns0:nvSpPr>
          <ns0:cNvPr id="21" name="Rounded Rectangle 20"/>
          <ns0:cNvSpPr/>
          <ns0:nvPr/>
        </ns0:nvSpPr>
        <ns0:spPr>
          <ns1:xfrm>
            <ns1:off x="7626096" y="4352544"/>
            <ns1:ext cx="6291072" cy="950976"/>
          </ns1:xfrm>
          <ns1:prstGeom prst="roundRect">
            <ns1:avLst/>
          </ns1:prstGeom>
          <ns1:solidFill>
            <ns1:srgbClr val="FFFFFF"/>
          </ns1:solidFill>
          <ns1:ln w="10160">
            <ns1:solidFill>
              <ns1:srgbClr val="CAC4BA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2" name="Rounded Rectangle 21"/>
          <ns0:cNvSpPr/>
          <ns0:nvPr/>
        </ns0:nvSpPr>
        <ns0:spPr>
          <ns1:xfrm>
            <ns1:off x="7754112" y="4480560"/>
            <ns1:ext cx="804672" cy="164592"/>
          </ns1:xfrm>
          <ns1:prstGeom prst="roundRect">
            <ns1:avLst/>
          </ns1:prstGeom>
          <ns1:solidFill>
            <ns1:srgbClr val="BE612F"/>
          </ns1:solidFill>
          <ns1:ln w="10160">
            <ns1:solidFill>
              <ns1:srgbClr val="BE612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98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Takeaway 1</ns1:t>
            </ns1:r>
          </ns1:p>
        </ns0:txBody>
      </ns0:sp>
      <ns0:pic>
        <ns0:nvPicPr>
          <ns0:cNvPr id="23" name="Picture 22" descr="target-arrow.png"/>
          <ns0:cNvPicPr>
            <ns1:picLocks noChangeAspect="1"/>
          </ns0:cNvPicPr>
          <ns0:nvPr/>
        </ns0:nvPicPr>
        <ns0:blipFill>
          <ns1:blip ns3:embed="rId3"/>
          <ns1:stretch>
            <ns1:fillRect/>
          </ns1:stretch>
        </ns0:blipFill>
        <ns0:spPr>
          <ns1:xfrm>
            <ns1:off x="7772400" y="4718304"/>
            <ns1:ext cx="201168" cy="201168"/>
          </ns1:xfrm>
          <ns1:prstGeom prst="rect">
            <ns1:avLst/>
          </ns1:prstGeom>
        </ns0:spPr>
      </ns0:pic>
      <ns0:sp>
        <ns0:nvSpPr>
          <ns0:cNvPr id="24" name="TextBox 23"/>
          <ns0:cNvSpPr txBox="1"/>
          <ns0:nvPr/>
        </ns0:nvSpPr>
        <ns0:spPr>
          <ns1:xfrm>
            <ns1:off x="8046720" y="4681728"/>
            <ns1:ext cx="5486400" cy="14630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4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任务匹配优先于峰值性能</ns1:t>
            </ns1:r>
          </ns1:p>
        </ns0:txBody>
      </ns0:sp>
      <ns0:sp>
        <ns0:nvSpPr>
          <ns0:cNvPr id="25" name="TextBox 24"/>
          <ns0:cNvSpPr txBox="1"/>
          <ns0:nvPr/>
        </ns0:nvSpPr>
        <ns0:spPr>
          <ns1:xfrm>
            <ns1:off x="7772400" y="4919472"/>
            <ns1:ext cx="5797296" cy="201168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9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标准战的第一步不是赢技术论坛，而是赢主流用户要完成的任务。</ns1:t>
            </ns1:r>
          </ns1:p>
        </ns0:txBody>
      </ns0:sp>
      <ns0:sp>
        <ns0:nvSpPr>
          <ns0:cNvPr id="26" name="Rounded Rectangle 25"/>
          <ns0:cNvSpPr/>
          <ns0:nvPr/>
        </ns0:nvSpPr>
        <ns0:spPr>
          <ns1:xfrm>
            <ns1:off x="7626096" y="5522976"/>
            <ns1:ext cx="6291072" cy="950976"/>
          </ns1:xfrm>
          <ns1:prstGeom prst="roundRect">
            <ns1:avLst/>
          </ns1:prstGeom>
          <ns1:solidFill>
            <ns1:srgbClr val="FFFFFF"/>
          </ns1:solidFill>
          <ns1:ln w="10160">
            <ns1:solidFill>
              <ns1:srgbClr val="CAC4BA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7" name="Rounded Rectangle 26"/>
          <ns0:cNvSpPr/>
          <ns0:nvPr/>
        </ns0:nvSpPr>
        <ns0:spPr>
          <ns1:xfrm>
            <ns1:off x="7754112" y="5650992"/>
            <ns1:ext cx="804672" cy="164592"/>
          </ns1:xfrm>
          <ns1:prstGeom prst="roundRect">
            <ns1:avLst/>
          </ns1:prstGeom>
          <ns1:solidFill>
            <ns1:srgbClr val="224E91"/>
          </ns1:solidFill>
          <ns1:ln w="10160">
            <ns1:solidFill>
              <ns1:srgbClr val="224E9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98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Takeaway 2</ns1:t>
            </ns1:r>
          </ns1:p>
        </ns0:txBody>
      </ns0:sp>
      <ns0:pic>
        <ns0:nvPicPr>
          <ns0:cNvPr id="28" name="Picture 27" descr="circles-relation.png"/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7772400" y="5888736"/>
            <ns1:ext cx="201168" cy="201168"/>
          </ns1:xfrm>
          <ns1:prstGeom prst="rect">
            <ns1:avLst/>
          </ns1:prstGeom>
        </ns0:spPr>
      </ns0:pic>
      <ns0:sp>
        <ns0:nvSpPr>
          <ns0:cNvPr id="29" name="TextBox 28"/>
          <ns0:cNvSpPr txBox="1"/>
          <ns0:nvPr/>
        </ns0:nvSpPr>
        <ns0:spPr>
          <ns1:xfrm>
            <ns1:off x="8046720" y="5852160"/>
            <ns1:ext cx="5486400" cy="14630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4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更开放的授权会更快堆出 installed base</ns1:t>
            </ns1:r>
          </ns1:p>
        </ns0:txBody>
      </ns0:sp>
      <ns0:sp>
        <ns0:nvSpPr>
          <ns0:cNvPr id="30" name="TextBox 29"/>
          <ns0:cNvSpPr txBox="1"/>
          <ns0:nvPr/>
        </ns0:nvSpPr>
        <ns0:spPr>
          <ns1:xfrm>
            <ns1:off x="7772400" y="6089904"/>
            <ns1:ext cx="5797296" cy="201168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9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标准化不是孤勇者竞赛，而是联盟速度竞赛。</ns1:t>
            </ns1:r>
          </ns1:p>
        </ns0:txBody>
      </ns0:sp>
      <ns0:sp>
        <ns0:nvSpPr>
          <ns0:cNvPr id="31" name="TextBox 30"/>
          <ns0:cNvSpPr txBox="1"/>
          <ns0:nvPr/>
        </ns0:nvSpPr>
        <ns0:spPr>
          <ns1:xfrm>
            <ns1:off x="713232" y="7754112"/>
            <ns1:ext cx="12527280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50" b="0" i="0">
                <ns1:solidFill>
                  <ns1:srgbClr val="8C877E"/>
                </ns1:solidFill>
                <ns1:latin typeface="Arial"/>
                <ns1:ea typeface="黑体"/>
                <ns1:cs typeface="Arial"/>
              </ns1:defRPr>
            </ns1:pPr>
            <ns1:r>
              <ns1:t>Betamax/VHS 的 lesson 是：先闭合采用风险，规格优势才有机会兑现。图表为分析性合成评分。</ns1:t>
            </ns1:r>
          </ns1:p>
        </ns0:txBody>
      </ns0:sp>
    </ns0:spTree>
  </ns0:cSld>
  <ns0:clrMapOvr>
    <ns1:masterClrMapping/>
  </ns0:clrMapOvr>
</ns0:sld>
</file>

<file path=ppt/slides/slide6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6F4EE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ounded Rectangle 1"/>
          <ns0:cNvSpPr/>
          <ns0:nvPr/>
        </ns0:nvSpPr>
        <ns0:spPr>
          <ns1:xfrm>
            <ns1:off x="713232" y="182880"/>
            <ns1:ext cx="2103120" cy="219456"/>
          </ns1:xfrm>
          <ns1:prstGeom prst="roundRect">
            <ns1:avLst/>
          </ns1:prstGeom>
          <ns1:solidFill>
            <ns1:srgbClr val="224E91"/>
          </ns1:solidFill>
          <ns1:ln w="10160">
            <ns1:solidFill>
              <ns1:srgbClr val="224E9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100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Case 02 | Networking</ns1:t>
            </ns1:r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713232" y="493776"/>
            <ns1:ext cx="12198096" cy="51206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24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OSI 输掉的不是理想性，它输给了太慢、太贵、太难落地</ns1:t>
            </ns1:r>
          </ns1:p>
        </ns0:txBody>
      </ns0:sp>
      <ns0:sp>
        <ns0:nvSpPr>
          <ns0:cNvPr id="4" name="TextBox 3"/>
          <ns0:cNvSpPr txBox="1"/>
          <ns0:nvPr/>
        </ns0:nvSpPr>
        <ns0:spPr>
          <ns1:xfrm>
            <ns1:off x="713232" y="896112"/>
            <ns1:ext cx="12289536" cy="23774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5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机房会奖励能更快部署、免费实现、先获得反馈的协议栈。</ns1:t>
            </ns1:r>
          </ns1:p>
        </ns0:txBody>
      </ns0:sp>
      <ns0:sp>
        <ns0:nvSpPr>
          <ns0:cNvPr id="5" name="Rectangle 4"/>
          <ns0:cNvSpPr/>
          <ns0:nvPr/>
        </ns0:nvSpPr>
        <ns0:spPr>
          <ns1:xfrm>
            <ns1:off x="713232" y="1115568"/>
            <ns1:ext cx="1691640" cy="36576"/>
          </ns1:xfrm>
          <ns1:prstGeom prst="rect">
            <ns1:avLst/>
          </ns1:prstGeom>
          <ns1:solidFill>
            <ns1:srgbClr val="224E91"/>
          </ns1:solidFill>
          <ns1:ln>
            <ns1:solidFill>
              <ns1:srgbClr val="224E9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13405104" y="7772400"/>
            <ns1:ext cx="438912" cy="14630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r">
              <ns1:spcBef>
                <ns1:spcPts val="0"/>
              </ns1:spcBef>
              <ns1:spcAft>
                <ns1:spcPts val="0"/>
              </ns1:spcAft>
              <ns1:defRPr sz="1000" b="1" i="0">
                <ns1:solidFill>
                  <ns1:srgbClr val="8C877E"/>
                </ns1:solidFill>
                <ns1:latin typeface="Arial"/>
                <ns1:ea typeface="黑体"/>
                <ns1:cs typeface="Arial"/>
              </ns1:defRPr>
            </ns1:pPr>
            <ns1:r>
              <ns1:t>S06</ns1:t>
            </ns1:r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713232" y="1298448"/>
            <ns1:ext cx="13203936" cy="877824"/>
          </ns1:xfrm>
          <ns1:prstGeom prst="roundRect">
            <ns1:avLst/>
          </ns1:prstGeom>
          <ns1:solidFill>
            <ns1:srgbClr val="E9EDF4"/>
          </ns1:solidFill>
          <ns1:ln w="12700">
            <ns1:solidFill>
              <ns1:srgbClr val="7691B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530352" rIns="128016" tIns="91440" bIns="73152"/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6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机房会奖励先跑起来、可免费实现、能更快得到反馈的协议栈。</ns1:t>
            </ns1:r>
          </ns1:p>
        </ns0:txBody>
      </ns0:sp>
      <ns0:pic>
        <ns0:nvPicPr>
          <ns0:cNvPr id="8" name="Picture 7" descr="network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877824" y="1463039"/>
            <ns1:ext cx="256032" cy="256032"/>
          </ns1:xfrm>
          <ns1:prstGeom prst="rect">
            <ns1:avLst/>
          </ns1:prstGeom>
        </ns0:spPr>
      </ns0:pic>
      <ns0:sp>
        <ns0:nvSpPr>
          <ns0:cNvPr id="9" name="Rounded Rectangle 8"/>
          <ns0:cNvSpPr/>
          <ns0:nvPr/>
        </ns0:nvSpPr>
        <ns0:spPr>
          <ns1:xfrm>
            <ns1:off x="11686032" y="1481328"/>
            <ns1:ext cx="1426464" cy="182880"/>
          </ns1:xfrm>
          <ns1:prstGeom prst="roundRect">
            <ns1:avLst/>
          </ns1:prstGeom>
          <ns1:solidFill>
            <ns1:srgbClr val="C36E40"/>
          </ns1:solidFill>
          <ns1:ln w="10160">
            <ns1:solidFill>
              <ns1:srgbClr val="C36E40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950" b="1" i="0">
                <ns1:solidFill>
                  <ns1:srgbClr val="192638"/>
                </ns1:solidFill>
                <ns1:latin typeface="Arial"/>
                <ns1:ea typeface="黑体"/>
                <ns1:cs typeface="Arial"/>
              </ns1:defRPr>
            </ns1:pPr>
            <ns1:r>
              <ns1:t>正在验证 Claim 2</ns1:t>
            </ns1:r>
          </ns1:p>
        </ns0:txBody>
      </ns0:sp>
      <ns0:sp>
        <ns0:nvSpPr>
          <ns0:cNvPr id="10" name="Rounded Rectangle 9"/>
          <ns0:cNvSpPr/>
          <ns0:nvPr/>
        </ns0:nvSpPr>
        <ns0:spPr>
          <ns1:xfrm>
            <ns1:off x="713232" y="2450591"/>
            <ns1:ext cx="4572000" cy="2779776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7A95B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877824" y="2615184"/>
            <ns1:ext cx="4114800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5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时间窗口如何锁定现实路径</ns1:t>
            </ns1:r>
          </ns1:p>
        </ns0:txBody>
      </ns0:sp>
      <ns0:sp>
        <ns0:nvSpPr>
          <ns0:cNvPr id="12" name="Rectangle 11"/>
          <ns0:cNvSpPr/>
          <ns0:nvPr/>
        </ns0:nvSpPr>
        <ns0:spPr>
          <ns1:xfrm>
            <ns1:off x="877824" y="3236975"/>
            <ns1:ext cx="4169663" cy="27432"/>
          </ns1:xfrm>
          <ns1:prstGeom prst="rect">
            <ns1:avLst/>
          </ns1:prstGeom>
          <ns1:solidFill>
            <ns1:srgbClr val="6F8CB8"/>
          </ns1:solidFill>
          <ns1:ln>
            <ns1:solidFill>
              <ns1:srgbClr val="6F8CB8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896112" y="2944368"/>
            <ns1:ext cx="603504" cy="219456"/>
          </ns1:xfrm>
          <ns1:prstGeom prst="roundRect">
            <ns1:avLst/>
          </ns1:prstGeom>
          <ns1:solidFill>
            <ns1:srgbClr val="224E91"/>
          </ns1:solidFill>
          <ns1:ln w="10160">
            <ns1:solidFill>
              <ns1:srgbClr val="224E9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105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1983</ns1:t>
            </ns1:r>
          </ns1:p>
        </ns0:txBody>
      </ns0:sp>
      <ns0:sp>
        <ns0:nvSpPr>
          <ns0:cNvPr id="14" name="Oval 13"/>
          <ns0:cNvSpPr/>
          <ns0:nvPr/>
        </ns0:nvSpPr>
        <ns0:spPr>
          <ns1:xfrm>
            <ns1:off x="1078992" y="3200400"/>
            <ns1:ext cx="146304" cy="146304"/>
          </ns1:xfrm>
          <ns1:prstGeom prst="ellipse">
            <ns1:avLst/>
          </ns1:prstGeom>
          <ns1:solidFill>
            <ns1:srgbClr val="224E91"/>
          </ns1:solidFill>
          <ns1:ln>
            <ns1:solidFill>
              <ns1:srgbClr val="224E9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5" name="TextBox 14"/>
          <ns0:cNvSpPr txBox="1"/>
          <ns0:nvPr/>
        </ns0:nvSpPr>
        <ns0:spPr>
          <ns1:xfrm>
            <ns1:off x="896112" y="3401568"/>
            <ns1:ext cx="1316735" cy="182880"/>
          </ns1:xfrm>
          <ns1:prstGeom prst="rect">
            <ns1:avLst/>
          </ns1:prstGeom>
          <ns1:noFill/>
        </ns0:spPr>
        <ns0:txBody>
          <ns1:bodyPr wrap="square" lIns="0" rIns="0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TCP/IP 落地</ns1:t>
            </ns1:r>
          </ns1:p>
        </ns0:txBody>
      </ns0:sp>
      <ns0:sp>
        <ns0:nvSpPr>
          <ns0:cNvPr id="16" name="TextBox 15"/>
          <ns0:cNvSpPr txBox="1"/>
          <ns0:nvPr/>
        </ns0:nvSpPr>
        <ns0:spPr>
          <ns1:xfrm>
            <ns1:off x="896112" y="3602735"/>
            <ns1:ext cx="1316735" cy="384048"/>
          </ns1:xfrm>
          <ns1:prstGeom prst="rect">
            <ns1:avLst/>
          </ns1:prstGeom>
          <ns1:noFill/>
        </ns0:spPr>
        <ns0:txBody>
          <ns1:bodyPr wrap="square" lIns="0" rIns="0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7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免费实现与现实网络开始锁定路径</ns1:t>
            </ns1:r>
          </ns1:p>
        </ns0:txBody>
      </ns0:sp>
      <ns0:sp>
        <ns0:nvSpPr>
          <ns0:cNvPr id="17" name="Rounded Rectangle 16"/>
          <ns0:cNvSpPr/>
          <ns0:nvPr/>
        </ns0:nvSpPr>
        <ns0:spPr>
          <ns1:xfrm>
            <ns1:off x="2285999" y="2944368"/>
            <ns1:ext cx="603504" cy="219456"/>
          </ns1:xfrm>
          <ns1:prstGeom prst="roundRect">
            <ns1:avLst/>
          </ns1:prstGeom>
          <ns1:solidFill>
            <ns1:srgbClr val="859EC2"/>
          </ns1:solidFill>
          <ns1:ln w="10160">
            <ns1:solidFill>
              <ns1:srgbClr val="859EC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1050" b="1" i="0">
                <ns1:solidFill>
                  <ns1:srgbClr val="192638"/>
                </ns1:solidFill>
                <ns1:latin typeface="Arial"/>
                <ns1:ea typeface="黑体"/>
                <ns1:cs typeface="Arial"/>
              </ns1:defRPr>
            </ns1:pPr>
            <ns1:r>
              <ns1:t>1987</ns1:t>
            </ns1:r>
          </ns1:p>
        </ns0:txBody>
      </ns0:sp>
      <ns0:sp>
        <ns0:nvSpPr>
          <ns0:cNvPr id="18" name="Oval 17"/>
          <ns0:cNvSpPr/>
          <ns0:nvPr/>
        </ns0:nvSpPr>
        <ns0:spPr>
          <ns1:xfrm>
            <ns1:off x="2468879" y="3200400"/>
            <ns1:ext cx="146304" cy="146304"/>
          </ns1:xfrm>
          <ns1:prstGeom prst="ellipse">
            <ns1:avLst/>
          </ns1:prstGeom>
          <ns1:solidFill>
            <ns1:srgbClr val="224E91"/>
          </ns1:solidFill>
          <ns1:ln>
            <ns1:solidFill>
              <ns1:srgbClr val="224E9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TextBox 18"/>
          <ns0:cNvSpPr txBox="1"/>
          <ns0:nvPr/>
        </ns0:nvSpPr>
        <ns0:spPr>
          <ns1:xfrm>
            <ns1:off x="2285999" y="3401568"/>
            <ns1:ext cx="1316735" cy="182880"/>
          </ns1:xfrm>
          <ns1:prstGeom prst="rect">
            <ns1:avLst/>
          </ns1:prstGeom>
          <ns1:noFill/>
        </ns0:spPr>
        <ns0:txBody>
          <ns1:bodyPr wrap="square" lIns="0" rIns="0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OSI 推进仍迟缓</ns1:t>
            </ns1:r>
          </ns1:p>
        </ns0:txBody>
      </ns0:sp>
      <ns0:sp>
        <ns0:nvSpPr>
          <ns0:cNvPr id="20" name="TextBox 19"/>
          <ns0:cNvSpPr txBox="1"/>
          <ns0:nvPr/>
        </ns0:nvSpPr>
        <ns0:spPr>
          <ns1:xfrm>
            <ns1:off x="2285999" y="3602735"/>
            <ns1:ext cx="1316735" cy="384048"/>
          </ns1:xfrm>
          <ns1:prstGeom prst="rect">
            <ns1:avLst/>
          </ns1:prstGeom>
          <ns1:noFill/>
        </ns0:spPr>
        <ns0:txBody>
          <ns1:bodyPr wrap="square" lIns="0" rIns="0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7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组织协调和标准开发速度带来巨大摩擦</ns1:t>
            </ns1:r>
          </ns1:p>
        </ns0:txBody>
      </ns0:sp>
      <ns0:sp>
        <ns0:nvSpPr>
          <ns0:cNvPr id="21" name="Rounded Rectangle 20"/>
          <ns0:cNvSpPr/>
          <ns0:nvPr/>
        </ns0:nvSpPr>
        <ns0:spPr>
          <ns1:xfrm>
            <ns1:off x="3675887" y="2944368"/>
            <ns1:ext cx="603504" cy="219456"/>
          </ns1:xfrm>
          <ns1:prstGeom prst="roundRect">
            <ns1:avLst/>
          </ns1:prstGeom>
          <ns1:solidFill>
            <ns1:srgbClr val="224E91"/>
          </ns1:solidFill>
          <ns1:ln w="10160">
            <ns1:solidFill>
              <ns1:srgbClr val="224E9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105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1989</ns1:t>
            </ns1:r>
          </ns1:p>
        </ns0:txBody>
      </ns0:sp>
      <ns0:sp>
        <ns0:nvSpPr>
          <ns0:cNvPr id="22" name="Oval 21"/>
          <ns0:cNvSpPr/>
          <ns0:nvPr/>
        </ns0:nvSpPr>
        <ns0:spPr>
          <ns1:xfrm>
            <ns1:off x="3858768" y="3200400"/>
            <ns1:ext cx="146304" cy="146304"/>
          </ns1:xfrm>
          <ns1:prstGeom prst="ellipse">
            <ns1:avLst/>
          </ns1:prstGeom>
          <ns1:solidFill>
            <ns1:srgbClr val="224E91"/>
          </ns1:solidFill>
          <ns1:ln>
            <ns1:solidFill>
              <ns1:srgbClr val="224E9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3" name="TextBox 22"/>
          <ns0:cNvSpPr txBox="1"/>
          <ns0:nvPr/>
        </ns0:nvSpPr>
        <ns0:spPr>
          <ns1:xfrm>
            <ns1:off x="3675887" y="3401568"/>
            <ns1:ext cx="1316735" cy="182880"/>
          </ns1:xfrm>
          <ns1:prstGeom prst="rect">
            <ns1:avLst/>
          </ns1:prstGeom>
          <ns1:noFill/>
        </ns0:spPr>
        <ns0:txBody>
          <ns1:bodyPr wrap="square" lIns="0" rIns="0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《Too Late?》</ns1:t>
            </ns1:r>
          </ns1:p>
        </ns0:txBody>
      </ns0:sp>
      <ns0:sp>
        <ns0:nvSpPr>
          <ns0:cNvPr id="24" name="TextBox 23"/>
          <ns0:cNvSpPr txBox="1"/>
          <ns0:nvPr/>
        </ns0:nvSpPr>
        <ns0:spPr>
          <ns1:xfrm>
            <ns1:off x="3675887" y="3602735"/>
            <ns1:ext cx="1316735" cy="384048"/>
          </ns1:xfrm>
          <ns1:prstGeom prst="rect">
            <ns1:avLst/>
          </ns1:prstGeom>
          <ns1:noFill/>
        </ns0:spPr>
        <ns0:txBody>
          <ns1:bodyPr wrap="square" lIns="0" rIns="0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7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行业开始接受“太晚了”的判断，时间窗口正式关闭。</ns1:t>
            </ns1:r>
          </ns1:p>
        </ns0:txBody>
      </ns0:sp>
      <ns0:sp>
        <ns0:nvSpPr>
          <ns0:cNvPr id="25" name="Rectangle 24"/>
          <ns0:cNvSpPr/>
          <ns0:nvPr/>
        </ns0:nvSpPr>
        <ns0:spPr>
          <ns1:xfrm>
            <ns1:off x="713232" y="5724144"/>
            <ns1:ext cx="4572000" cy="1664208"/>
          </ns1:xfrm>
          <ns1:prstGeom prst="rect">
            <ns1:avLst/>
          </ns1:prstGeom>
          <ns1:solidFill>
            <ns1:srgbClr val="FFFFFF"/>
          </ns1:solidFill>
          <ns1:ln w="12700">
            <ns1:solidFill>
              <ns1:srgbClr val="D8A08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/>
        </ns0:txBody>
      </ns0:sp>
      <ns0:sp>
        <ns0:nvSpPr>
          <ns0:cNvPr id="26" name="Rectangle 25"/>
          <ns0:cNvSpPr/>
          <ns0:nvPr/>
        </ns0:nvSpPr>
        <ns0:spPr>
          <ns1:xfrm>
            <ns1:off x="713232" y="5394960"/>
            <ns1:ext cx="1097280" cy="292608"/>
          </ns1:xfrm>
          <ns1:prstGeom prst="rect">
            <ns1:avLst/>
          </ns1:prstGeom>
          <ns1:solidFill>
            <ns1:srgbClr val="BE612F"/>
          </ns1:solidFill>
          <ns1:ln>
            <ns1:solidFill>
              <ns1:srgbClr val="BE612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>
              <ns1:defRPr b="1" sz="140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Heatmap</ns1:t>
            </ns1:r>
          </ns1:p>
        </ns0:txBody>
      </ns0:sp>
      <ns0:pic>
        <ns0:nvPicPr>
          <ns0:cNvPr id="27" name="Picture 26" descr="networking_factor_heatmap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1497690" y="5833872"/>
            <ns1:ext cx="3003082" cy="1188720"/>
          </ns1:xfrm>
          <ns1:prstGeom prst="rect">
            <ns1:avLst/>
          </ns1:prstGeom>
        </ns0:spPr>
      </ns0:pic>
      <ns0:sp>
        <ns0:nvSpPr>
          <ns0:cNvPr id="28" name="TextBox 27"/>
          <ns0:cNvSpPr txBox="1"/>
          <ns0:nvPr/>
        </ns0:nvSpPr>
        <ns0:spPr>
          <ns1:xfrm>
            <ns1:off x="822960" y="7095744"/>
            <ns1:ext cx="4352544" cy="164592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1200" b="0">
                <ns1:solidFill>
                  <ns1:srgbClr val="63738D"/>
                </ns1:solidFill>
                <ns1:latin typeface="Arial"/>
                <ns1:ea typeface="黑体"/>
                <ns1:cs typeface="Arial"/>
              </ns1:defRPr>
            </ns1:pPr>
            <ns1:r>
              <ns1:t>热力图用于显式化 OSI / TCP/IP 在四个机制维度上的强弱，不代表原始市场统计。</ns1:t>
            </ns1:r>
          </ns1:p>
        </ns0:txBody>
      </ns0:sp>
      <ns0:graphicFrame>
        <ns0:nvGraphicFramePr>
          <ns0:cNvPr id="29" name="Table 28"/>
          <ns0:cNvGraphicFramePr>
            <ns1:graphicFrameLocks noGrp="1"/>
          </ns0:cNvGraphicFramePr>
          <ns0:nvPr/>
        </ns0:nvGraphicFramePr>
        <ns0:xfrm>
          <ns1:off x="5559552" y="2450591"/>
          <ns1:ext cx="8138160" cy="3840480"/>
        </ns0:xfrm>
        <ns1:graphic>
          <ns1:graphicData uri="http://schemas.openxmlformats.org/drawingml/2006/table">
            <ns1:tbl>
              <ns1:tblPr firstRow="1" bandRow="1">
                <ns1:tableStyleId>{5C22544A-7EE6-4342-B048-85BDC9FD1C3A}</ns1:tableStyleId>
              </ns1:tblPr>
              <ns1:tblGrid>
                <ns1:gridCol w="1737360"/>
                <ns1:gridCol w="2788920"/>
                <ns1:gridCol w="3611880"/>
              </ns1:tblGrid>
              <ns1:tr h="768096">
                <ns1:tc>
                  <ns1:txBody>
                    <ns1:bodyPr wrap="square" lIns="0" rIns="0" tIns="0" bIns="0" anchor="ctr"/>
                    <ns1:lstStyle/>
                    <ns1:p>
                      <ns1:pPr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20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维度</ns1:t>
                      </ns1:r>
                    </ns1:p>
                  </ns1:txBody>
                  <ns1:tcPr marL="36576" marR="73152" marT="36576" marB="27432">
                    <ns1:solidFill>
                      <ns1:srgbClr val="D7DFEB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20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OSI</ns1:t>
                      </ns1:r>
                    </ns1:p>
                  </ns1:txBody>
                  <ns1:tcPr marL="36576" marR="73152" marT="36576" marB="27432">
                    <ns1:solidFill>
                      <ns1:srgbClr val="D7DFEB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20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TCP/IP</ns1:t>
                      </ns1:r>
                    </ns1:p>
                  </ns1:txBody>
                  <ns1:tcPr marL="36576" marR="73152" marT="36576" marB="27432">
                    <ns1:solidFill>
                      <ns1:srgbClr val="D7DFEB"/>
                    </ns1:solidFill>
                  </ns1:tcPr>
                </ns1:tc>
              </ns1:tr>
              <ns1:tr h="768096"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5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开发与协同速度</ns1:t>
                      </ns1:r>
                    </ns1:p>
                  </ns1:txBody>
                  <ns1:tcPr marL="73152" marR="73152" marT="36576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20" b="0" i="0">
                          <ns1:solidFill>
                            <ns1:srgbClr val="595E6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更慢，治理和标准开发摩擦更大</ns1:t>
                      </ns1:r>
                    </ns1:p>
                  </ns1:txBody>
                  <ns1:tcPr marL="73152" marR="73152" marT="36576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2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更快，现实网络先跑起来</ns1:t>
                      </ns1:r>
                    </ns1:p>
                  </ns1:txBody>
                  <ns1:tcPr marL="73152" marR="73152" marT="36576" marB="27432">
                    <ns1:solidFill>
                      <ns1:srgbClr val="EDF1F6"/>
                    </ns1:solidFill>
                  </ns1:tcPr>
                </ns1:tc>
              </ns1:tr>
              <ns1:tr h="768096"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5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实现获取成本</ns1:t>
                      </ns1:r>
                    </ns1:p>
                  </ns1:txBody>
                  <ns1:tcPr marL="73152" marR="73152" marT="36576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20" b="0" i="0">
                          <ns1:solidFill>
                            <ns1:srgbClr val="595E6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标准文档和实现门槛更重</ns1:t>
                      </ns1:r>
                    </ns1:p>
                  </ns1:txBody>
                  <ns1:tcPr marL="73152" marR="73152" marT="36576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2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政府资助 + Berkeley 分发，免费实现更普及</ns1:t>
                      </ns1:r>
                    </ns1:p>
                  </ns1:txBody>
                  <ns1:tcPr marL="73152" marR="73152" marT="36576" marB="27432">
                    <ns1:solidFill>
                      <ns1:srgbClr val="EDF1F6"/>
                    </ns1:solidFill>
                  </ns1:tcPr>
                </ns1:tc>
              </ns1:tr>
              <ns1:tr h="768096"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5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运维与诊断</ns1:t>
                      </ns1:r>
                    </ns1:p>
                  </ns1:txBody>
                  <ns1:tcPr marL="73152" marR="73152" marT="36576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20" b="0" i="0">
                          <ns1:solidFill>
                            <ns1:srgbClr val="595E6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更理想化，但现实诊断链路更重</ns1:t>
                      </ns1:r>
                    </ns1:p>
                  </ns1:txBody>
                  <ns1:tcPr marL="73152" marR="73152" marT="36576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2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更易 eyeball、调试和部署</ns1:t>
                      </ns1:r>
                    </ns1:p>
                  </ns1:txBody>
                  <ns1:tcPr marL="73152" marR="73152" marT="36576" marB="27432">
                    <ns1:solidFill>
                      <ns1:srgbClr val="EDF1F6"/>
                    </ns1:solidFill>
                  </ns1:tcPr>
                </ns1:tc>
              </ns1:tr>
              <ns1:tr h="768096"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5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政策与现实</ns1:t>
                      </ns1:r>
                    </ns1:p>
                  </ns1:txBody>
                  <ns1:tcPr marL="73152" marR="73152" marT="36576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20" b="0" i="0">
                          <ns1:solidFill>
                            <ns1:srgbClr val="595E6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政策层被鼓励，但现实 adoption 迟缓</ns1:t>
                      </ns1:r>
                    </ns1:p>
                  </ns1:txBody>
                  <ns1:tcPr marL="73152" marR="73152" marT="36576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2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现实部署先行，政策最终被现实追认</ns1:t>
                      </ns1:r>
                    </ns1:p>
                  </ns1:txBody>
                  <ns1:tcPr marL="73152" marR="73152" marT="36576" marB="27432">
                    <ns1:solidFill>
                      <ns1:srgbClr val="EDF1F6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30" name="Rounded Rectangle 29"/>
          <ns0:cNvSpPr/>
          <ns0:nvPr/>
        </ns0:nvSpPr>
        <ns0:spPr>
          <ns1:xfrm>
            <ns1:off x="5559552" y="5888736"/>
            <ns1:ext cx="8138160" cy="1133856"/>
          </ns1:xfrm>
          <ns1:prstGeom prst="roundRect">
            <ns1:avLst/>
          </ns1:prstGeom>
          <ns1:solidFill>
            <ns1:srgbClr val="F8EFEA"/>
          </ns1:solidFill>
          <ns1:ln w="12700">
            <ns1:solidFill>
              <ns1:srgbClr val="D3947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530352" rIns="109728" tIns="109728" bIns="54864"/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00" b="1" i="0">
                <ns1:solidFill>
                  <ns1:srgbClr val="BE612F"/>
                </ns1:solidFill>
                <ns1:latin typeface="Arial"/>
                <ns1:ea typeface="黑体"/>
                <ns1:cs typeface="Arial"/>
              </ns1:defRPr>
            </ns1:pPr>
            <ns1:r>
              <ns1:t>关键情绪拐点</ns1:t>
            </ns1:r>
          </ns1:p>
          <ns1:p>
            <ns1:pPr algn="l">
              <ns1:spcBef>
                <ns1:spcPts val="0"/>
              </ns1:spcBef>
              <ns1:spcAft>
                <ns1:spcPts val="0"/>
              </ns1:spcAft>
              <ns1:defRPr sz="115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《Is OSI Too Late?》之所以击中行业，是因为现实已经让时间窗口关闭。</ns1:t>
            </ns1:r>
          </ns1:p>
          <ns1:p>
            <ns1:pPr algn="l">
              <ns1:spcBef>
                <ns1:spcPts val="0"/>
              </ns1:spcBef>
              <ns1:spcAft>
                <ns1:spcPts val="0"/>
              </ns1:spcAft>
              <ns1:defRPr sz="112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标准开发越慢，先跑起来的一方越容易反过来定义事实标准。</ns1:t>
            </ns1:r>
          </ns1:p>
        </ns0:txBody>
      </ns0:sp>
      <ns0:pic>
        <ns0:nvPicPr>
          <ns0:cNvPr id="31" name="Picture 30" descr="messages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724144" y="6053328"/>
            <ns1:ext cx="201168" cy="201168"/>
          </ns1:xfrm>
          <ns1:prstGeom prst="rect">
            <ns1:avLst/>
          </ns1:prstGeom>
        </ns0:spPr>
      </ns0:pic>
      <ns0:sp>
        <ns0:nvSpPr>
          <ns0:cNvPr id="32" name="TextBox 31"/>
          <ns0:cNvSpPr txBox="1"/>
          <ns0:nvPr/>
        </ns0:nvSpPr>
        <ns0:spPr>
          <ns1:xfrm>
            <ns1:off x="713232" y="7754112"/>
            <ns1:ext cx="12527280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50" b="0" i="0">
                <ns1:solidFill>
                  <ns1:srgbClr val="8C877E"/>
                </ns1:solidFill>
                <ns1:latin typeface="Arial"/>
                <ns1:ea typeface="黑体"/>
                <ns1:cs typeface="Arial"/>
              </ns1:defRPr>
            </ns1:pPr>
            <ns1:r>
              <ns1:t>Sources: IEEE Spectrum on OSI; policy and Berkeley/TCP-IP implementation history summarized in the design brief. 本页含 Python figure 证据图。</ns1:t>
            </ns1:r>
          </ns1:p>
        </ns0:txBody>
      </ns0:sp>
    </ns0:spTree>
  </ns0:cSld>
  <ns0:clrMapOvr>
    <ns1:masterClrMapping/>
  </ns0:clrMapOvr>
</ns0:sld>
</file>

<file path=ppt/slides/slide7.xml><?xml version="1.0" encoding="utf-8"?>
<ns0:sld xmlns:ns0="http://schemas.openxmlformats.org/presentationml/2006/main" xmlns:ns1="http://schemas.openxmlformats.org/drawingml/2006/main" xmlns:ns2="http://schemas.openxmlformats.org/drawingml/2006/chart" xmlns:ns3="http://schemas.openxmlformats.org/officeDocument/2006/relationships">
  <ns0:cSld>
    <ns0:bg>
      <ns0:bgPr>
        <ns1:solidFill>
          <ns1:srgbClr val="F6F4EE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ounded Rectangle 1"/>
          <ns0:cNvSpPr/>
          <ns0:nvPr/>
        </ns0:nvSpPr>
        <ns0:spPr>
          <ns1:xfrm>
            <ns1:off x="713232" y="182880"/>
            <ns1:ext cx="1920240" cy="219456"/>
          </ns1:xfrm>
          <ns1:prstGeom prst="roundRect">
            <ns1:avLst/>
          </ns1:prstGeom>
          <ns1:solidFill>
            <ns1:srgbClr val="224E91"/>
          </ns1:solidFill>
          <ns1:ln w="10160">
            <ns1:solidFill>
              <ns1:srgbClr val="224E9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100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Case 02 | Lesson</ns1:t>
            </ns1:r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713232" y="493776"/>
            <ns1:ext cx="12198096" cy="51206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24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先跑起来的协议会反过来定义现实，架构完整性不会自动转化成标准地位</ns1:t>
            </ns1:r>
          </ns1:p>
        </ns0:txBody>
      </ns0:sp>
      <ns0:sp>
        <ns0:nvSpPr>
          <ns0:cNvPr id="4" name="TextBox 3"/>
          <ns0:cNvSpPr txBox="1"/>
          <ns0:nvPr/>
        </ns0:nvSpPr>
        <ns0:spPr>
          <ns1:xfrm>
            <ns1:off x="713232" y="896112"/>
            <ns1:ext cx="12289536" cy="23774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5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部署速度、获取成本和诊断可用性，往往比理论完整性更先决定 adoption。</ns1:t>
            </ns1:r>
          </ns1:p>
        </ns0:txBody>
      </ns0:sp>
      <ns0:sp>
        <ns0:nvSpPr>
          <ns0:cNvPr id="5" name="Rectangle 4"/>
          <ns0:cNvSpPr/>
          <ns0:nvPr/>
        </ns0:nvSpPr>
        <ns0:spPr>
          <ns1:xfrm>
            <ns1:off x="713232" y="1115568"/>
            <ns1:ext cx="1691640" cy="36576"/>
          </ns1:xfrm>
          <ns1:prstGeom prst="rect">
            <ns1:avLst/>
          </ns1:prstGeom>
          <ns1:solidFill>
            <ns1:srgbClr val="224E91"/>
          </ns1:solidFill>
          <ns1:ln>
            <ns1:solidFill>
              <ns1:srgbClr val="224E9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13405104" y="7772400"/>
            <ns1:ext cx="438912" cy="14630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r">
              <ns1:spcBef>
                <ns1:spcPts val="0"/>
              </ns1:spcBef>
              <ns1:spcAft>
                <ns1:spcPts val="0"/>
              </ns1:spcAft>
              <ns1:defRPr sz="1000" b="1" i="0">
                <ns1:solidFill>
                  <ns1:srgbClr val="8C877E"/>
                </ns1:solidFill>
                <ns1:latin typeface="Arial"/>
                <ns1:ea typeface="黑体"/>
                <ns1:cs typeface="Arial"/>
              </ns1:defRPr>
            </ns1:pPr>
            <ns1:r>
              <ns1:t>S07</ns1:t>
            </ns1:r>
          </ns1:p>
        </ns0:txBody>
      </ns0:sp>
      <ns0:graphicFrame>
        <ns0:nvGraphicFramePr>
          <ns0:cNvPr id="7" name="Table 6"/>
          <ns0:cNvGraphicFramePr>
            <ns1:graphicFrameLocks noGrp="1"/>
          </ns0:cNvGraphicFramePr>
          <ns0:nvPr/>
        </ns0:nvGraphicFramePr>
        <ns0:xfrm>
          <ns1:off x="713232" y="1298448"/>
          <ns1:ext cx="9418320" cy="3931920"/>
        </ns0:xfrm>
        <ns1:graphic>
          <ns1:graphicData uri="http://schemas.openxmlformats.org/drawingml/2006/table">
            <ns1:tbl>
              <ns1:tblPr firstRow="1" bandRow="1">
                <ns1:tableStyleId>{5C22544A-7EE6-4342-B048-85BDC9FD1C3A}</ns1:tableStyleId>
              </ns1:tblPr>
              <ns1:tblGrid>
                <ns1:gridCol w="1463040"/>
                <ns1:gridCol w="3803904"/>
                <ns1:gridCol w="4151376"/>
              </ns1:tblGrid>
              <ns1:tr h="786384">
                <ns1:tc>
                  <ns1:txBody>
                    <ns1:bodyPr wrap="square" lIns="0" rIns="0" tIns="0" bIns="0" anchor="ctr"/>
                    <ns1:lstStyle/>
                    <ns1:p>
                      <ns1:pPr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20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维度</ns1:t>
                      </ns1:r>
                    </ns1:p>
                  </ns1:txBody>
                  <ns1:tcPr marL="36576" marR="73152" marT="36576" marB="27432">
                    <ns1:solidFill>
                      <ns1:srgbClr val="D7DFEB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20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OSI 逻辑</ns1:t>
                      </ns1:r>
                    </ns1:p>
                  </ns1:txBody>
                  <ns1:tcPr marL="36576" marR="73152" marT="36576" marB="27432">
                    <ns1:solidFill>
                      <ns1:srgbClr val="D7DFEB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20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TCP/IP 逻辑</ns1:t>
                      </ns1:r>
                    </ns1:p>
                  </ns1:txBody>
                  <ns1:tcPr marL="36576" marR="73152" marT="36576" marB="27432">
                    <ns1:solidFill>
                      <ns1:srgbClr val="D7DFEB"/>
                    </ns1:solidFill>
                  </ns1:tcPr>
                </ns1:tc>
              </ns1:tr>
              <ns1:tr h="786384"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5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价值主张</ns1:t>
                      </ns1:r>
                    </ns1:p>
                  </ns1:txBody>
                  <ns1:tcPr marL="73152" marR="73152" marT="36576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50" b="0" i="0">
                          <ns1:solidFill>
                            <ns1:srgbClr val="595E6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更完整、分层更理想</ns1:t>
                      </ns1:r>
                    </ns1:p>
                  </ns1:txBody>
                  <ns1:tcPr marL="73152" marR="73152" marT="36576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5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更快进入现实网络并获得反馈</ns1:t>
                      </ns1:r>
                    </ns1:p>
                  </ns1:txBody>
                  <ns1:tcPr marL="73152" marR="73152" marT="36576" marB="27432">
                    <ns1:solidFill>
                      <ns1:srgbClr val="EDF1F6"/>
                    </ns1:solidFill>
                  </ns1:tcPr>
                </ns1:tc>
              </ns1:tr>
              <ns1:tr h="786384"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5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采用门槛</ns1:t>
                      </ns1:r>
                    </ns1:p>
                  </ns1:txBody>
                  <ns1:tcPr marL="73152" marR="73152" marT="36576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50" b="0" i="0">
                          <ns1:solidFill>
                            <ns1:srgbClr val="595E6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协调与理解成本更高</ns1:t>
                      </ns1:r>
                    </ns1:p>
                  </ns1:txBody>
                  <ns1:tcPr marL="73152" marR="73152" marT="36576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5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实现、分发与调试门槛更低</ns1:t>
                      </ns1:r>
                    </ns1:p>
                  </ns1:txBody>
                  <ns1:tcPr marL="73152" marR="73152" marT="36576" marB="27432">
                    <ns1:solidFill>
                      <ns1:srgbClr val="EDF1F6"/>
                    </ns1:solidFill>
                  </ns1:tcPr>
                </ns1:tc>
              </ns1:tr>
              <ns1:tr h="786384"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5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现实回路</ns1:t>
                      </ns1:r>
                    </ns1:p>
                  </ns1:txBody>
                  <ns1:tcPr marL="73152" marR="73152" marT="36576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50" b="0" i="0">
                          <ns1:solidFill>
                            <ns1:srgbClr val="595E6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更晚进入真实运维场景</ns1:t>
                      </ns1:r>
                    </ns1:p>
                  </ns1:txBody>
                  <ns1:tcPr marL="73152" marR="73152" marT="36576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5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更早进入真实运维场景</ns1:t>
                      </ns1:r>
                    </ns1:p>
                  </ns1:txBody>
                  <ns1:tcPr marL="73152" marR="73152" marT="36576" marB="27432">
                    <ns1:solidFill>
                      <ns1:srgbClr val="EDF1F6"/>
                    </ns1:solidFill>
                  </ns1:tcPr>
                </ns1:tc>
              </ns1:tr>
              <ns1:tr h="786384"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5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最终结果</ns1:t>
                      </ns1:r>
                    </ns1:p>
                  </ns1:txBody>
                  <ns1:tcPr marL="73152" marR="73152" marT="36576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50" b="0" i="0">
                          <ns1:solidFill>
                            <ns1:srgbClr val="595E6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体系优雅未转化成标准地位</ns1:t>
                      </ns1:r>
                    </ns1:p>
                  </ns1:txBody>
                  <ns1:tcPr marL="73152" marR="73152" marT="36576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5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现实可用性反过来定义了事实标准</ns1:t>
                      </ns1:r>
                    </ns1:p>
                  </ns1:txBody>
                  <ns1:tcPr marL="73152" marR="73152" marT="36576" marB="27432">
                    <ns1:solidFill>
                      <ns1:srgbClr val="EDF1F6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8" name="Rectangle 7"/>
          <ns0:cNvSpPr/>
          <ns0:nvPr/>
        </ns0:nvSpPr>
        <ns0:spPr>
          <ns1:xfrm>
            <ns1:off x="10460736" y="1627631"/>
            <ns1:ext cx="4169663" cy="1664208"/>
          </ns1:xfrm>
          <ns1:prstGeom prst="rect">
            <ns1:avLst/>
          </ns1:prstGeom>
          <ns1:solidFill>
            <ns1:srgbClr val="FFFFFF"/>
          </ns1:solidFill>
          <ns1:ln w="12700">
            <ns1:solidFill>
              <ns1:srgbClr val="D8A08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/>
        </ns0:txBody>
      </ns0:sp>
      <ns0:sp>
        <ns0:nvSpPr>
          <ns0:cNvPr id="9" name="Rectangle 8"/>
          <ns0:cNvSpPr/>
          <ns0:nvPr/>
        </ns0:nvSpPr>
        <ns0:spPr>
          <ns1:xfrm>
            <ns1:off x="10460736" y="1298448"/>
            <ns1:ext cx="1097280" cy="292608"/>
          </ns1:xfrm>
          <ns1:prstGeom prst="rect">
            <ns1:avLst/>
          </ns1:prstGeom>
          <ns1:solidFill>
            <ns1:srgbClr val="BE612F"/>
          </ns1:solidFill>
          <ns1:ln>
            <ns1:solidFill>
              <ns1:srgbClr val="BE612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>
              <ns1:defRPr b="1" sz="140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分析性合成评分</ns1:t>
            </ns1:r>
          </ns1:p>
        </ns0:txBody>
      </ns0:sp>
      <ns0:graphicFrame>
        <ns0:nvGraphicFramePr>
          <ns0:cNvPr id="10" name="Chart 9"/>
          <ns0:cNvGraphicFramePr>
            <ns1:graphicFrameLocks noGrp="1"/>
          </ns0:cNvGraphicFramePr>
          <ns0:nvPr/>
        </ns0:nvGraphicFramePr>
        <ns0:xfrm>
          <ns1:off x="10570463" y="1737360"/>
          <ns1:ext cx="3950207" cy="1444752"/>
        </ns0:xfrm>
        <ns1:graphic>
          <ns1:graphicData uri="http://schemas.openxmlformats.org/drawingml/2006/chart">
            <ns2:chart ns3:id="rId2"/>
          </ns1:graphicData>
        </ns1:graphic>
      </ns0:graphicFrame>
      <ns0:sp>
        <ns0:nvSpPr>
          <ns0:cNvPr id="11" name="TextBox 10"/>
          <ns0:cNvSpPr txBox="1"/>
          <ns0:nvPr/>
        </ns0:nvSpPr>
        <ns0:spPr>
          <ns1:xfrm>
            <ns1:off x="10607040" y="3182112"/>
            <ns1:ext cx="3749039" cy="14630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960" b="0" i="0">
                <ns1:solidFill>
                  <ns1:srgbClr val="8C877E"/>
                </ns1:solidFill>
                <ns1:latin typeface="Arial"/>
                <ns1:ea typeface="黑体"/>
                <ns1:cs typeface="Arial"/>
              </ns1:defRPr>
            </ns1:pPr>
            <ns1:r>
              <ns1:t>蓝色 = TCP/IP，橙色 = OSI。评分用于显式化机制差异，不代表原始市场统计。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10460736" y="3438144"/>
            <ns1:ext cx="4169663" cy="896112"/>
          </ns1:xfrm>
          <ns1:prstGeom prst="roundRect">
            <ns1:avLst/>
          </ns1:prstGeom>
          <ns1:solidFill>
            <ns1:srgbClr val="FFFFFF"/>
          </ns1:solidFill>
          <ns1:ln w="10160">
            <ns1:solidFill>
              <ns1:srgbClr val="CAC4BA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10588752" y="3566160"/>
            <ns1:ext cx="676656" cy="164592"/>
          </ns1:xfrm>
          <ns1:prstGeom prst="roundRect">
            <ns1:avLst/>
          </ns1:prstGeom>
          <ns1:solidFill>
            <ns1:srgbClr val="224E91"/>
          </ns1:solidFill>
          <ns1:ln w="10160">
            <ns1:solidFill>
              <ns1:srgbClr val="224E9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95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Lesson 1</ns1:t>
            </ns1:r>
          </ns1:p>
        </ns0:txBody>
      </ns0:sp>
      <ns0:pic>
        <ns0:nvPicPr>
          <ns0:cNvPr id="14" name="Picture 13" descr="rocket.png"/>
          <ns0:cNvPicPr>
            <ns1:picLocks noChangeAspect="1"/>
          </ns0:cNvPicPr>
          <ns0:nvPr/>
        </ns0:nvPicPr>
        <ns0:blipFill>
          <ns1:blip ns3:embed="rId3"/>
          <ns1:stretch>
            <ns1:fillRect/>
          </ns1:stretch>
        </ns0:blipFill>
        <ns0:spPr>
          <ns1:xfrm>
            <ns1:off x="10607040" y="3767328"/>
            <ns1:ext cx="201168" cy="201168"/>
          </ns1:xfrm>
          <ns1:prstGeom prst="rect">
            <ns1:avLst/>
          </ns1:prstGeom>
        </ns0:spPr>
      </ns0:pic>
      <ns0:sp>
        <ns0:nvSpPr>
          <ns0:cNvPr id="15" name="TextBox 14"/>
          <ns0:cNvSpPr txBox="1"/>
          <ns0:nvPr/>
        </ns0:nvSpPr>
        <ns0:spPr>
          <ns1:xfrm>
            <ns1:off x="10881360" y="3749039"/>
            <ns1:ext cx="3456432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3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free beats elegant</ns1:t>
            </ns1:r>
          </ns1:p>
        </ns0:txBody>
      </ns0:sp>
      <ns0:sp>
        <ns0:nvSpPr>
          <ns0:cNvPr id="16" name="TextBox 15"/>
          <ns0:cNvSpPr txBox="1"/>
          <ns0:nvPr/>
        </ns0:nvSpPr>
        <ns0:spPr>
          <ns1:xfrm>
            <ns1:off x="10588752" y="3968496"/>
            <ns1:ext cx="3822191" cy="25603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2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免费实现与分发路径会极大改变 adoption 曲线。</ns1:t>
            </ns1:r>
          </ns1:p>
        </ns0:txBody>
      </ns0:sp>
      <ns0:sp>
        <ns0:nvSpPr>
          <ns0:cNvPr id="17" name="Rounded Rectangle 16"/>
          <ns0:cNvSpPr/>
          <ns0:nvPr/>
        </ns0:nvSpPr>
        <ns0:spPr>
          <ns1:xfrm>
            <ns1:off x="10460736" y="4553712"/>
            <ns1:ext cx="4169663" cy="896112"/>
          </ns1:xfrm>
          <ns1:prstGeom prst="roundRect">
            <ns1:avLst/>
          </ns1:prstGeom>
          <ns1:solidFill>
            <ns1:srgbClr val="FFFFFF"/>
          </ns1:solidFill>
          <ns1:ln w="10160">
            <ns1:solidFill>
              <ns1:srgbClr val="CAC4BA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8" name="Rounded Rectangle 17"/>
          <ns0:cNvSpPr/>
          <ns0:nvPr/>
        </ns0:nvSpPr>
        <ns0:spPr>
          <ns1:xfrm>
            <ns1:off x="10588752" y="4681728"/>
            <ns1:ext cx="676656" cy="164592"/>
          </ns1:xfrm>
          <ns1:prstGeom prst="roundRect">
            <ns1:avLst/>
          </ns1:prstGeom>
          <ns1:solidFill>
            <ns1:srgbClr val="224E91"/>
          </ns1:solidFill>
          <ns1:ln w="10160">
            <ns1:solidFill>
              <ns1:srgbClr val="224E9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95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Lesson 2</ns1:t>
            </ns1:r>
          </ns1:p>
        </ns0:txBody>
      </ns0:sp>
      <ns0:pic>
        <ns0:nvPicPr>
          <ns0:cNvPr id="19" name="Picture 18" descr="sparkles.png"/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10607040" y="4882896"/>
            <ns1:ext cx="201168" cy="201168"/>
          </ns1:xfrm>
          <ns1:prstGeom prst="rect">
            <ns1:avLst/>
          </ns1:prstGeom>
        </ns0:spPr>
      </ns0:pic>
      <ns0:sp>
        <ns0:nvSpPr>
          <ns0:cNvPr id="20" name="TextBox 19"/>
          <ns0:cNvSpPr txBox="1"/>
          <ns0:nvPr/>
        </ns0:nvSpPr>
        <ns0:spPr>
          <ns1:xfrm>
            <ns1:off x="10881360" y="4864607"/>
            <ns1:ext cx="3456432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3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feedback beats purity</ns1:t>
            </ns1:r>
          </ns1:p>
        </ns0:txBody>
      </ns0:sp>
      <ns0:sp>
        <ns0:nvSpPr>
          <ns0:cNvPr id="21" name="TextBox 20"/>
          <ns0:cNvSpPr txBox="1"/>
          <ns0:nvPr/>
        </ns0:nvSpPr>
        <ns0:spPr>
          <ns1:xfrm>
            <ns1:off x="10588752" y="5084064"/>
            <ns1:ext cx="3822191" cy="25603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2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更早拿到真实反馈，胜过更晚拿到完整设计。</ns1:t>
            </ns1:r>
          </ns1:p>
        </ns0:txBody>
      </ns0:sp>
      <ns0:sp>
        <ns0:nvSpPr>
          <ns0:cNvPr id="22" name="Rounded Rectangle 21"/>
          <ns0:cNvSpPr/>
          <ns0:nvPr/>
        </ns0:nvSpPr>
        <ns0:spPr>
          <ns1:xfrm>
            <ns1:off x="10460736" y="5669279"/>
            <ns1:ext cx="4169663" cy="896112"/>
          </ns1:xfrm>
          <ns1:prstGeom prst="roundRect">
            <ns1:avLst/>
          </ns1:prstGeom>
          <ns1:solidFill>
            <ns1:srgbClr val="FFFFFF"/>
          </ns1:solidFill>
          <ns1:ln w="10160">
            <ns1:solidFill>
              <ns1:srgbClr val="CAC4BA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3" name="Rounded Rectangle 22"/>
          <ns0:cNvSpPr/>
          <ns0:nvPr/>
        </ns0:nvSpPr>
        <ns0:spPr>
          <ns1:xfrm>
            <ns1:off x="10588752" y="5797296"/>
            <ns1:ext cx="676656" cy="164592"/>
          </ns1:xfrm>
          <ns1:prstGeom prst="roundRect">
            <ns1:avLst/>
          </ns1:prstGeom>
          <ns1:solidFill>
            <ns1:srgbClr val="224E91"/>
          </ns1:solidFill>
          <ns1:ln w="10160">
            <ns1:solidFill>
              <ns1:srgbClr val="224E9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95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Lesson 3</ns1:t>
            </ns1:r>
          </ns1:p>
        </ns0:txBody>
      </ns0:sp>
      <ns0:pic>
        <ns0:nvPicPr>
          <ns0:cNvPr id="24" name="Picture 23" descr="shield-check.png"/>
          <ns0:cNvPicPr>
            <ns1:picLocks noChangeAspect="1"/>
          </ns0:cNvPicPr>
          <ns0:nvPr/>
        </ns0:nvPicPr>
        <ns0:blipFill>
          <ns1:blip ns3:embed="rId5"/>
          <ns1:stretch>
            <ns1:fillRect/>
          </ns1:stretch>
        </ns0:blipFill>
        <ns0:spPr>
          <ns1:xfrm>
            <ns1:off x="10607040" y="5998464"/>
            <ns1:ext cx="201168" cy="201168"/>
          </ns1:xfrm>
          <ns1:prstGeom prst="rect">
            <ns1:avLst/>
          </ns1:prstGeom>
        </ns0:spPr>
      </ns0:pic>
      <ns0:sp>
        <ns0:nvSpPr>
          <ns0:cNvPr id="25" name="TextBox 24"/>
          <ns0:cNvSpPr txBox="1"/>
          <ns0:nvPr/>
        </ns0:nvSpPr>
        <ns0:spPr>
          <ns1:xfrm>
            <ns1:off x="10881360" y="5980175"/>
            <ns1:ext cx="3456432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3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ops matters</ns1:t>
            </ns1:r>
          </ns1:p>
        </ns0:txBody>
      </ns0:sp>
      <ns0:sp>
        <ns0:nvSpPr>
          <ns0:cNvPr id="26" name="TextBox 25"/>
          <ns0:cNvSpPr txBox="1"/>
          <ns0:nvPr/>
        </ns0:nvSpPr>
        <ns0:spPr>
          <ns1:xfrm>
            <ns1:off x="10588752" y="6199631"/>
            <ns1:ext cx="3822191" cy="25603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2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能否被运维和工程团队低成本地用起来，是标准地位的关键前提。</ns1:t>
            </ns1:r>
          </ns1:p>
        </ns0:txBody>
      </ns0:sp>
      <ns0:sp>
        <ns0:nvSpPr>
          <ns0:cNvPr id="27" name="TextBox 26"/>
          <ns0:cNvSpPr txBox="1"/>
          <ns0:nvPr/>
        </ns0:nvSpPr>
        <ns0:spPr>
          <ns1:xfrm>
            <ns1:off x="713232" y="7754112"/>
            <ns1:ext cx="12527280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50" b="0" i="0">
                <ns1:solidFill>
                  <ns1:srgbClr val="8C877E"/>
                </ns1:solidFill>
                <ns1:latin typeface="Arial"/>
                <ns1:ea typeface="黑体"/>
                <ns1:cs typeface="Arial"/>
              </ns1:defRPr>
            </ns1:pPr>
            <ns1:r>
              <ns1:t>第二个案例说明：架构完整性不会自动转化成标准地位，现实 deployment loop 才会。</ns1:t>
            </ns1:r>
          </ns1:p>
        </ns0:txBody>
      </ns0:sp>
    </ns0:spTree>
  </ns0:cSld>
  <ns0:clrMapOvr>
    <ns1:masterClrMapping/>
  </ns0:clrMapOvr>
</ns0:sld>
</file>

<file path=ppt/slides/slide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6F4EE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ounded Rectangle 1"/>
          <ns0:cNvSpPr/>
          <ns0:nvPr/>
        </ns0:nvSpPr>
        <ns0:spPr>
          <ns1:xfrm>
            <ns1:off x="713232" y="182880"/>
            <ns1:ext cx="2103120" cy="219456"/>
          </ns1:xfrm>
          <ns1:prstGeom prst="roundRect">
            <ns1:avLst/>
          </ns1:prstGeom>
          <ns1:solidFill>
            <ns1:srgbClr val="446D5C"/>
          </ns1:solidFill>
          <ns1:ln w="10160">
            <ns1:solidFill>
              <ns1:srgbClr val="446D5C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100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Case 03 | HD Optical</ns1:t>
            </ns1:r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713232" y="493776"/>
            <ns1:ext cx="12198096" cy="51206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24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Blu-ray 赢的不是一项单点参数，它赢在内容联盟、PS3 装机与预期锚定</ns1:t>
            </ns1:r>
          </ns1:p>
        </ns0:txBody>
      </ns0:sp>
      <ns0:sp>
        <ns0:nvSpPr>
          <ns0:cNvPr id="4" name="TextBox 3"/>
          <ns0:cNvSpPr txBox="1"/>
          <ns0:nvPr/>
        </ns0:nvSpPr>
        <ns0:spPr>
          <ns1:xfrm>
            <ns1:off x="713232" y="896112"/>
            <ns1:ext cx="12289536" cy="23774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5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当用户看不懂单点性能时，内容生态、默认装机和渠道信号会替他们投票。</ns1:t>
            </ns1:r>
          </ns1:p>
        </ns0:txBody>
      </ns0:sp>
      <ns0:sp>
        <ns0:nvSpPr>
          <ns0:cNvPr id="5" name="Rectangle 4"/>
          <ns0:cNvSpPr/>
          <ns0:nvPr/>
        </ns0:nvSpPr>
        <ns0:spPr>
          <ns1:xfrm>
            <ns1:off x="713232" y="1115568"/>
            <ns1:ext cx="1691640" cy="36576"/>
          </ns1:xfrm>
          <ns1:prstGeom prst="rect">
            <ns1:avLst/>
          </ns1:prstGeom>
          <ns1:solidFill>
            <ns1:srgbClr val="446D5C"/>
          </ns1:solidFill>
          <ns1:ln>
            <ns1:solidFill>
              <ns1:srgbClr val="446D5C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13405104" y="7772400"/>
            <ns1:ext cx="438912" cy="14630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r">
              <ns1:spcBef>
                <ns1:spcPts val="0"/>
              </ns1:spcBef>
              <ns1:spcAft>
                <ns1:spcPts val="0"/>
              </ns1:spcAft>
              <ns1:defRPr sz="1000" b="1" i="0">
                <ns1:solidFill>
                  <ns1:srgbClr val="8C877E"/>
                </ns1:solidFill>
                <ns1:latin typeface="Arial"/>
                <ns1:ea typeface="黑体"/>
                <ns1:cs typeface="Arial"/>
              </ns1:defRPr>
            </ns1:pPr>
            <ns1:r>
              <ns1:t>S08</ns1:t>
            </ns1:r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713232" y="1298448"/>
            <ns1:ext cx="8394192" cy="5541264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8FA79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877824" y="1444751"/>
            <ns1:ext cx="7936992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5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谁在替市场做决定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877824" y="1810512"/>
            <ns1:ext cx="7991856" cy="859536"/>
          </ns1:xfrm>
          <ns1:prstGeom prst="roundRect">
            <ns1:avLst/>
          </ns1:prstGeom>
          <ns1:solidFill>
            <ns1:srgbClr val="F0F3F2"/>
          </ns1:solidFill>
          <ns1:ln w="10160">
            <ns1:solidFill>
              <ns1:srgbClr val="CAC4BA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10" name="Picture 9" descr="book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1024128" y="1975104"/>
            <ns1:ext cx="219456" cy="219456"/>
          </ns1:xfrm>
          <ns1:prstGeom prst="rect">
            <ns1:avLst/>
          </ns1:prstGeom>
        </ns0:spPr>
      </ns0:pic>
      <ns0:sp>
        <ns0:nvSpPr>
          <ns0:cNvPr id="11" name="TextBox 10"/>
          <ns0:cNvSpPr txBox="1"/>
          <ns0:nvPr/>
        </ns0:nvSpPr>
        <ns0:spPr>
          <ns1:xfrm>
            <ns1:off x="1316736" y="1938528"/>
            <ns1:ext cx="2139696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3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内容方 / Studio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3566160" y="1938528"/>
            <ns1:ext cx="4937760" cy="25603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2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当技术差距不显著时，独家内容站队会极大影响格式命运。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877824" y="2962656"/>
            <ns1:ext cx="7991856" cy="859536"/>
          </ns1:xfrm>
          <ns1:prstGeom prst="roundRect">
            <ns1:avLst/>
          </ns1:prstGeom>
          <ns1:solidFill>
            <ns1:srgbClr val="FFFFFF"/>
          </ns1:solidFill>
          <ns1:ln w="10160">
            <ns1:solidFill>
              <ns1:srgbClr val="CAC4BA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14" name="Picture 13" descr="device-desktop-analytics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1024128" y="3127248"/>
            <ns1:ext cx="219456" cy="219456"/>
          </ns1:xfrm>
          <ns1:prstGeom prst="rect">
            <ns1:avLst/>
          </ns1:prstGeom>
        </ns0:spPr>
      </ns0:pic>
      <ns0:sp>
        <ns0:nvSpPr>
          <ns0:cNvPr id="15" name="TextBox 14"/>
          <ns0:cNvSpPr txBox="1"/>
          <ns0:nvPr/>
        </ns0:nvSpPr>
        <ns0:spPr>
          <ns1:xfrm>
            <ns1:off x="1316736" y="3090672"/>
            <ns1:ext cx="2139696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3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默认装机 / Console</ns1:t>
            </ns1:r>
          </ns1:p>
        </ns0:txBody>
      </ns0:sp>
      <ns0:sp>
        <ns0:nvSpPr>
          <ns0:cNvPr id="16" name="TextBox 15"/>
          <ns0:cNvSpPr txBox="1"/>
          <ns0:nvPr/>
        </ns0:nvSpPr>
        <ns0:spPr>
          <ns1:xfrm>
            <ns1:off x="3566160" y="3090672"/>
            <ns1:ext cx="4937760" cy="25603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2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PS3 把 Blu-ray 带进用户家中，installed base 从设备端被加速。</ns1:t>
            </ns1:r>
          </ns1:p>
        </ns0:txBody>
      </ns0:sp>
      <ns0:sp>
        <ns0:nvSpPr>
          <ns0:cNvPr id="17" name="Rounded Rectangle 16"/>
          <ns0:cNvSpPr/>
          <ns0:nvPr/>
        </ns0:nvSpPr>
        <ns0:spPr>
          <ns1:xfrm>
            <ns1:off x="877824" y="4114800"/>
            <ns1:ext cx="7991856" cy="859536"/>
          </ns1:xfrm>
          <ns1:prstGeom prst="roundRect">
            <ns1:avLst/>
          </ns1:prstGeom>
          <ns1:solidFill>
            <ns1:srgbClr val="F0F3F2"/>
          </ns1:solidFill>
          <ns1:ln w="10160">
            <ns1:solidFill>
              <ns1:srgbClr val="CAC4BA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18" name="Picture 17" descr="briefcas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1024128" y="4279392"/>
            <ns1:ext cx="219456" cy="219456"/>
          </ns1:xfrm>
          <ns1:prstGeom prst="rect">
            <ns1:avLst/>
          </ns1:prstGeom>
        </ns0:spPr>
      </ns0:pic>
      <ns0:sp>
        <ns0:nvSpPr>
          <ns0:cNvPr id="19" name="TextBox 18"/>
          <ns0:cNvSpPr txBox="1"/>
          <ns0:nvPr/>
        </ns0:nvSpPr>
        <ns0:spPr>
          <ns1:xfrm>
            <ns1:off x="1316736" y="4242816"/>
            <ns1:ext cx="2139696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3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渠道 / Retail</ns1:t>
            </ns1:r>
          </ns1:p>
        </ns0:txBody>
      </ns0:sp>
      <ns0:sp>
        <ns0:nvSpPr>
          <ns0:cNvPr id="20" name="TextBox 19"/>
          <ns0:cNvSpPr txBox="1"/>
          <ns0:nvPr/>
        </ns0:nvSpPr>
        <ns0:spPr>
          <ns1:xfrm>
            <ns1:off x="3566160" y="4242816"/>
            <ns1:ext cx="4937760" cy="25603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2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零售和租赁体系会根据 dominant standard 预期重新配置资源。</ns1:t>
            </ns1:r>
          </ns1:p>
        </ns0:txBody>
      </ns0:sp>
      <ns0:sp>
        <ns0:nvSpPr>
          <ns0:cNvPr id="21" name="Rounded Rectangle 20"/>
          <ns0:cNvSpPr/>
          <ns0:nvPr/>
        </ns0:nvSpPr>
        <ns0:spPr>
          <ns1:xfrm>
            <ns1:off x="877824" y="5266944"/>
            <ns1:ext cx="7991856" cy="859536"/>
          </ns1:xfrm>
          <ns1:prstGeom prst="roundRect">
            <ns1:avLst/>
          </ns1:prstGeom>
          <ns1:solidFill>
            <ns1:srgbClr val="FFFFFF"/>
          </ns1:solidFill>
          <ns1:ln w="10160">
            <ns1:solidFill>
              <ns1:srgbClr val="CAC4BA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22" name="Picture 21" descr="users.png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1024128" y="5431536"/>
            <ns1:ext cx="219456" cy="219456"/>
          </ns1:xfrm>
          <ns1:prstGeom prst="rect">
            <ns1:avLst/>
          </ns1:prstGeom>
        </ns0:spPr>
      </ns0:pic>
      <ns0:sp>
        <ns0:nvSpPr>
          <ns0:cNvPr id="23" name="TextBox 22"/>
          <ns0:cNvSpPr txBox="1"/>
          <ns0:nvPr/>
        </ns0:nvSpPr>
        <ns0:spPr>
          <ns1:xfrm>
            <ns1:off x="1316736" y="5394959"/>
            <ns1:ext cx="2139696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3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消费者 / Households</ns1:t>
            </ns1:r>
          </ns1:p>
        </ns0:txBody>
      </ns0:sp>
      <ns0:sp>
        <ns0:nvSpPr>
          <ns0:cNvPr id="24" name="TextBox 23"/>
          <ns0:cNvSpPr txBox="1"/>
          <ns0:nvPr/>
        </ns0:nvSpPr>
        <ns0:spPr>
          <ns1:xfrm>
            <ns1:off x="3566160" y="5394959"/>
            <ns1:ext cx="4937760" cy="25603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2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消费者不想买错标准，于是会等待生态 signal 帮自己下注。</ns1:t>
            </ns1:r>
          </ns1:p>
        </ns0:txBody>
      </ns0:sp>
      <ns0:sp>
        <ns0:nvSpPr>
          <ns0:cNvPr id="25" name="Rounded Rectangle 24"/>
          <ns0:cNvSpPr/>
          <ns0:nvPr/>
        </ns0:nvSpPr>
        <ns0:spPr>
          <ns1:xfrm>
            <ns1:off x="3602736" y="6163056"/>
            <ns1:ext cx="1389888" cy="201168"/>
          </ns1:xfrm>
          <ns1:prstGeom prst="roundRect">
            <ns1:avLst/>
          </ns1:prstGeom>
          <ns1:solidFill>
            <ns1:srgbClr val="446D5C"/>
          </ns1:solidFill>
          <ns1:ln w="10160">
            <ns1:solidFill>
              <ns1:srgbClr val="446D5C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100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dominant standard 预期</ns1:t>
            </ns1:r>
          </ns1:p>
        </ns0:txBody>
      </ns0:sp>
      <ns0:sp>
        <ns0:nvSpPr>
          <ns0:cNvPr id="26" name="Rounded Rectangle 25"/>
          <ns0:cNvSpPr/>
          <ns0:nvPr/>
        </ns0:nvSpPr>
        <ns0:spPr>
          <ns1:xfrm>
            <ns1:off x="1444752" y="6163056"/>
            <ns1:ext cx="822960" cy="201168"/>
          </ns1:xfrm>
          <ns1:prstGeom prst="roundRect">
            <ns1:avLst/>
          </ns1:prstGeom>
          <ns1:solidFill>
            <ns1:srgbClr val="BE612F"/>
          </ns1:solidFill>
          <ns1:ln w="10160">
            <ns1:solidFill>
              <ns1:srgbClr val="BE612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100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内容联盟</ns1:t>
            </ns1:r>
          </ns1:p>
        </ns0:txBody>
      </ns0:sp>
      <ns0:sp>
        <ns0:nvSpPr>
          <ns0:cNvPr id="27" name="Rounded Rectangle 26"/>
          <ns0:cNvSpPr/>
          <ns0:nvPr/>
        </ns0:nvSpPr>
        <ns0:spPr>
          <ns1:xfrm>
            <ns1:off x="2395728" y="6163056"/>
            <ns1:ext cx="822960" cy="201168"/>
          </ns1:xfrm>
          <ns1:prstGeom prst="roundRect">
            <ns1:avLst/>
          </ns1:prstGeom>
          <ns1:solidFill>
            <ns1:srgbClr val="224E91"/>
          </ns1:solidFill>
          <ns1:ln w="10160">
            <ns1:solidFill>
              <ns1:srgbClr val="224E9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100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PS3 装机</ns1:t>
            </ns1:r>
          </ns1:p>
        </ns0:txBody>
      </ns0:sp>
      <ns0:sp>
        <ns0:nvSpPr>
          <ns0:cNvPr id="28" name="Rounded Rectangle 27"/>
          <ns0:cNvSpPr/>
          <ns0:nvPr/>
        </ns0:nvSpPr>
        <ns0:spPr>
          <ns1:xfrm>
            <ns1:off x="5212080" y="6163056"/>
            <ns1:ext cx="987552" cy="201168"/>
          </ns1:xfrm>
          <ns1:prstGeom prst="roundRect">
            <ns1:avLst/>
          </ns1:prstGeom>
          <ns1:solidFill>
            <ns1:srgbClr val="BE612F"/>
          </ns1:solidFill>
          <ns1:ln w="10160">
            <ns1:solidFill>
              <ns1:srgbClr val="BE612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100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Toshiba 退出</ns1:t>
            </ns1:r>
          </ns1:p>
        </ns0:txBody>
      </ns0:sp>
      <ns0:sp>
        <ns0:nvSpPr>
          <ns0:cNvPr id="29" name="Rounded Rectangle 28"/>
          <ns0:cNvSpPr/>
          <ns0:nvPr/>
        </ns0:nvSpPr>
        <ns0:spPr>
          <ns1:xfrm>
            <ns1:off x="9345167" y="1298448"/>
            <ns1:ext cx="5285232" cy="1993392"/>
          </ns1:xfrm>
          <ns1:prstGeom prst="roundRect">
            <ns1:avLst/>
          </ns1:prstGeom>
          <ns1:solidFill>
            <ns1:srgbClr val="F8EFEA"/>
          </ns1:solidFill>
          <ns1:ln w="12700">
            <ns1:solidFill>
              <ns1:srgbClr val="D3947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t" wrap="square" lIns="146304" rIns="128016" tIns="146304" bIns="73152"/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45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PS3 是这场战争里最关键的 bundle engine</ns1:t>
            </ns1:r>
          </ns1:p>
          <ns1:p>
            <ns1:pPr algn="l">
              <ns1:spcBef>
                <ns1:spcPts val="0"/>
              </ns1:spcBef>
              <ns1:spcAft>
                <ns1:spcPts val="0"/>
              </ns1:spcAft>
              <ns1:defRPr sz="118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它把本来需要单独说服消费者购买的新格式，直接塞进了一个已经有强需求的设备路径里。</ns1:t>
            </ns1:r>
          </ns1:p>
        </ns0:txBody>
      </ns0:sp>
      <ns0:sp>
        <ns0:nvSpPr>
          <ns0:cNvPr id="30" name="Rounded Rectangle 29"/>
          <ns0:cNvSpPr/>
          <ns0:nvPr/>
        </ns0:nvSpPr>
        <ns0:spPr>
          <ns1:xfrm>
            <ns1:off x="12929615" y="1444751"/>
            <ns1:ext cx="1426464" cy="182880"/>
          </ns1:xfrm>
          <ns1:prstGeom prst="roundRect">
            <ns1:avLst/>
          </ns1:prstGeom>
          <ns1:solidFill>
            <ns1:srgbClr val="345C9A"/>
          </ns1:solidFill>
          <ns1:ln w="10160">
            <ns1:solidFill>
              <ns1:srgbClr val="345C9A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95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正在验证 Claim 3</ns1:t>
            </ns1:r>
          </ns1:p>
        </ns0:txBody>
      </ns0:sp>
      <ns0:sp>
        <ns0:nvSpPr>
          <ns0:cNvPr id="31" name="Rounded Rectangle 30"/>
          <ns0:cNvSpPr/>
          <ns0:nvPr/>
        </ns0:nvSpPr>
        <ns0:spPr>
          <ns1:xfrm>
            <ns1:off x="9345167" y="3493008"/>
            <ns1:ext cx="5285232" cy="896112"/>
          </ns1:xfrm>
          <ns1:prstGeom prst="roundRect">
            <ns1:avLst/>
          </ns1:prstGeom>
          <ns1:solidFill>
            <ns1:srgbClr val="FFFFFF"/>
          </ns1:solidFill>
          <ns1:ln w="10160">
            <ns1:solidFill>
              <ns1:srgbClr val="CAC4BA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2" name="TextBox 31"/>
          <ns0:cNvSpPr txBox="1"/>
          <ns0:nvPr/>
        </ns0:nvSpPr>
        <ns0:spPr>
          <ns1:xfrm>
            <ns1:off x="9473184" y="3621024"/>
            <ns1:ext cx="4754880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2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内容联盟先表态</ns1:t>
            </ns1:r>
          </ns1:p>
        </ns0:txBody>
      </ns0:sp>
      <ns0:sp>
        <ns0:nvSpPr>
          <ns0:cNvPr id="33" name="TextBox 32"/>
          <ns0:cNvSpPr txBox="1"/>
          <ns0:nvPr/>
        </ns0:nvSpPr>
        <ns0:spPr>
          <ns1:xfrm>
            <ns1:off x="9473184" y="3840479"/>
            <ns1:ext cx="4846320" cy="201168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1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当消费者无法判断技术优越性时，studio 和租赁渠道的站队本身就是决策信号。</ns1:t>
            </ns1:r>
          </ns1:p>
        </ns0:txBody>
      </ns0:sp>
      <ns0:sp>
        <ns0:nvSpPr>
          <ns0:cNvPr id="34" name="Rounded Rectangle 33"/>
          <ns0:cNvSpPr/>
          <ns0:nvPr/>
        </ns0:nvSpPr>
        <ns0:spPr>
          <ns1:xfrm>
            <ns1:off x="9345167" y="4590288"/>
            <ns1:ext cx="5285232" cy="896112"/>
          </ns1:xfrm>
          <ns1:prstGeom prst="roundRect">
            <ns1:avLst/>
          </ns1:prstGeom>
          <ns1:solidFill>
            <ns1:srgbClr val="FFFFFF"/>
          </ns1:solidFill>
          <ns1:ln w="10160">
            <ns1:solidFill>
              <ns1:srgbClr val="CAC4BA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5" name="TextBox 34"/>
          <ns0:cNvSpPr txBox="1"/>
          <ns0:nvPr/>
        </ns0:nvSpPr>
        <ns0:spPr>
          <ns1:xfrm>
            <ns1:off x="9473184" y="4718304"/>
            <ns1:ext cx="4754880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2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预期一旦形成就会自强化</ns1:t>
            </ns1:r>
          </ns1:p>
        </ns0:txBody>
      </ns0:sp>
      <ns0:sp>
        <ns0:nvSpPr>
          <ns0:cNvPr id="36" name="TextBox 35"/>
          <ns0:cNvSpPr txBox="1"/>
          <ns0:nvPr/>
        </ns0:nvSpPr>
        <ns0:spPr>
          <ns1:xfrm>
            <ns1:off x="9473184" y="4937759"/>
            <ns1:ext cx="4846320" cy="201168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1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越多人相信 Blu-ray 会赢，越多人不愿意押注 HD DVD。</ns1:t>
            </ns1:r>
          </ns1:p>
        </ns0:txBody>
      </ns0:sp>
      <ns0:sp>
        <ns0:nvSpPr>
          <ns0:cNvPr id="37" name="Rounded Rectangle 36"/>
          <ns0:cNvSpPr/>
          <ns0:nvPr/>
        </ns0:nvSpPr>
        <ns0:spPr>
          <ns1:xfrm>
            <ns1:off x="9345167" y="5687568"/>
            <ns1:ext cx="5285232" cy="896112"/>
          </ns1:xfrm>
          <ns1:prstGeom prst="roundRect">
            <ns1:avLst/>
          </ns1:prstGeom>
          <ns1:solidFill>
            <ns1:srgbClr val="FFFFFF"/>
          </ns1:solidFill>
          <ns1:ln w="10160">
            <ns1:solidFill>
              <ns1:srgbClr val="CAC4BA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8" name="TextBox 37"/>
          <ns0:cNvSpPr txBox="1"/>
          <ns0:nvPr/>
        </ns0:nvSpPr>
        <ns0:spPr>
          <ns1:xfrm>
            <ns1:off x="9473184" y="5815583"/>
            <ns1:ext cx="4754880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2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退出声明是战争收束点</ns1:t>
            </ns1:r>
          </ns1:p>
        </ns0:txBody>
      </ns0:sp>
      <ns0:sp>
        <ns0:nvSpPr>
          <ns0:cNvPr id="39" name="TextBox 38"/>
          <ns0:cNvSpPr txBox="1"/>
          <ns0:nvPr/>
        </ns0:nvSpPr>
        <ns0:spPr>
          <ns1:xfrm>
            <ns1:off x="9473184" y="6035040"/>
            <ns1:ext cx="4846320" cy="201168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1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Toshiba 在 2008 年宣布停止 HD DVD 业务，市场预期从此彻底锁定。</ns1:t>
            </ns1:r>
          </ns1:p>
        </ns0:txBody>
      </ns0:sp>
      <ns0:sp>
        <ns0:nvSpPr>
          <ns0:cNvPr id="40" name="Rounded Rectangle 39"/>
          <ns0:cNvSpPr/>
          <ns0:nvPr/>
        </ns0:nvSpPr>
        <ns0:spPr>
          <ns1:xfrm>
            <ns1:off x="9345167" y="6803136"/>
            <ns1:ext cx="1682496" cy="932688"/>
          </ns1:xfrm>
          <ns1:prstGeom prst="roundRect">
            <ns1:avLst/>
          </ns1:prstGeom>
          <ns1:solidFill>
            <ns1:srgbClr val="FFFFFF"/>
          </ns1:solidFill>
          <ns1:ln w="10160">
            <ns1:solidFill>
              <ns1:srgbClr val="96ADA4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1" name="Rounded Rectangle 40"/>
          <ns0:cNvSpPr/>
          <ns0:nvPr/>
        </ns0:nvSpPr>
        <ns0:spPr>
          <ns1:xfrm>
            <ns1:off x="9436607" y="6912864"/>
            <ns1:ext cx="585216" cy="164592"/>
          </ns1:xfrm>
          <ns1:prstGeom prst="roundRect">
            <ns1:avLst/>
          </ns1:prstGeom>
          <ns1:solidFill>
            <ns1:srgbClr val="446D5C"/>
          </ns1:solidFill>
          <ns1:ln w="10160">
            <ns1:solidFill>
              <ns1:srgbClr val="446D5C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98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2006</ns1:t>
            </ns1:r>
          </ns1:p>
        </ns0:txBody>
      </ns0:sp>
      <ns0:sp>
        <ns0:nvSpPr>
          <ns0:cNvPr id="42" name="TextBox 41"/>
          <ns0:cNvSpPr txBox="1"/>
          <ns0:nvPr/>
        </ns0:nvSpPr>
        <ns0:spPr>
          <ns1:xfrm>
            <ns1:off x="9436607" y="7150608"/>
            <ns1:ext cx="1426464" cy="310896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8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格式战正式开启</ns1:t>
            </ns1:r>
          </ns1:p>
        </ns0:txBody>
      </ns0:sp>
      <ns0:sp>
        <ns0:nvSpPr>
          <ns0:cNvPr id="43" name="TextBox 42"/>
          <ns0:cNvSpPr txBox="1"/>
          <ns0:nvPr/>
        </ns0:nvSpPr>
        <ns0:spPr>
          <ns1:xfrm>
            <ns1:off x="9436607" y="7443216"/>
            <ns1:ext cx="1426464" cy="14630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95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消费者对单点技术差距并不敏感</ns1:t>
            </ns1:r>
          </ns1:p>
        </ns0:txBody>
      </ns0:sp>
      <ns0:sp>
        <ns0:nvSpPr>
          <ns0:cNvPr id="44" name="Rounded Rectangle 43"/>
          <ns0:cNvSpPr/>
          <ns0:nvPr/>
        </ns0:nvSpPr>
        <ns0:spPr>
          <ns1:xfrm>
            <ns1:off x="11137392" y="6803136"/>
            <ns1:ext cx="1682496" cy="932688"/>
          </ns1:xfrm>
          <ns1:prstGeom prst="roundRect">
            <ns1:avLst/>
          </ns1:prstGeom>
          <ns1:solidFill>
            <ns1:srgbClr val="FFFFFF"/>
          </ns1:solidFill>
          <ns1:ln w="10160">
            <ns1:solidFill>
              <ns1:srgbClr val="96ADA4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5" name="Rounded Rectangle 44"/>
          <ns0:cNvSpPr/>
          <ns0:nvPr/>
        </ns0:nvSpPr>
        <ns0:spPr>
          <ns1:xfrm>
            <ns1:off x="11228832" y="6912864"/>
            <ns1:ext cx="585216" cy="164592"/>
          </ns1:xfrm>
          <ns1:prstGeom prst="roundRect">
            <ns1:avLst/>
          </ns1:prstGeom>
          <ns1:solidFill>
            <ns1:srgbClr val="446D5C"/>
          </ns1:solidFill>
          <ns1:ln w="10160">
            <ns1:solidFill>
              <ns1:srgbClr val="446D5C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98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2006</ns1:t>
            </ns1:r>
          </ns1:p>
        </ns0:txBody>
      </ns0:sp>
      <ns0:sp>
        <ns0:nvSpPr>
          <ns0:cNvPr id="46" name="TextBox 45"/>
          <ns0:cNvSpPr txBox="1"/>
          <ns0:nvPr/>
        </ns0:nvSpPr>
        <ns0:spPr>
          <ns1:xfrm>
            <ns1:off x="11228832" y="7150608"/>
            <ns1:ext cx="1426464" cy="310896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8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PS3 带来默认装机</ns1:t>
            </ns1:r>
          </ns1:p>
        </ns0:txBody>
      </ns0:sp>
      <ns0:sp>
        <ns0:nvSpPr>
          <ns0:cNvPr id="47" name="TextBox 46"/>
          <ns0:cNvSpPr txBox="1"/>
          <ns0:nvPr/>
        </ns0:nvSpPr>
        <ns0:spPr>
          <ns1:xfrm>
            <ns1:off x="11228832" y="7443216"/>
            <ns1:ext cx="1426464" cy="14630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95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installed base 扩张从设备端被加速</ns1:t>
            </ns1:r>
          </ns1:p>
        </ns0:txBody>
      </ns0:sp>
      <ns0:sp>
        <ns0:nvSpPr>
          <ns0:cNvPr id="48" name="Rounded Rectangle 47"/>
          <ns0:cNvSpPr/>
          <ns0:nvPr/>
        </ns0:nvSpPr>
        <ns0:spPr>
          <ns1:xfrm>
            <ns1:off x="12929615" y="6803136"/>
            <ns1:ext cx="1682496" cy="932688"/>
          </ns1:xfrm>
          <ns1:prstGeom prst="roundRect">
            <ns1:avLst/>
          </ns1:prstGeom>
          <ns1:solidFill>
            <ns1:srgbClr val="FFFFFF"/>
          </ns1:solidFill>
          <ns1:ln w="10160">
            <ns1:solidFill>
              <ns1:srgbClr val="96ADA4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9" name="Rounded Rectangle 48"/>
          <ns0:cNvSpPr/>
          <ns0:nvPr/>
        </ns0:nvSpPr>
        <ns0:spPr>
          <ns1:xfrm>
            <ns1:off x="13021055" y="6912864"/>
            <ns1:ext cx="585216" cy="164592"/>
          </ns1:xfrm>
          <ns1:prstGeom prst="roundRect">
            <ns1:avLst/>
          </ns1:prstGeom>
          <ns1:solidFill>
            <ns1:srgbClr val="446D5C"/>
          </ns1:solidFill>
          <ns1:ln w="10160">
            <ns1:solidFill>
              <ns1:srgbClr val="446D5C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98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2008</ns1:t>
            </ns1:r>
          </ns1:p>
        </ns0:txBody>
      </ns0:sp>
      <ns0:sp>
        <ns0:nvSpPr>
          <ns0:cNvPr id="50" name="TextBox 49"/>
          <ns0:cNvSpPr txBox="1"/>
          <ns0:nvPr/>
        </ns0:nvSpPr>
        <ns0:spPr>
          <ns1:xfrm>
            <ns1:off x="13021055" y="7150608"/>
            <ns1:ext cx="1426464" cy="310896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8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Toshiba 宣布退出</ns1:t>
            </ns1:r>
          </ns1:p>
        </ns0:txBody>
      </ns0:sp>
      <ns0:sp>
        <ns0:nvSpPr>
          <ns0:cNvPr id="51" name="TextBox 50"/>
          <ns0:cNvSpPr txBox="1"/>
          <ns0:nvPr/>
        </ns0:nvSpPr>
        <ns0:spPr>
          <ns1:xfrm>
            <ns1:off x="13021055" y="7443216"/>
            <ns1:ext cx="1426464" cy="14630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95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内容联盟与预期锚定完成收束</ns1:t>
            </ns1:r>
          </ns1:p>
        </ns0:txBody>
      </ns0:sp>
      <ns0:sp>
        <ns0:nvSpPr>
          <ns0:cNvPr id="52" name="TextBox 51"/>
          <ns0:cNvSpPr txBox="1"/>
          <ns0:nvPr/>
        </ns0:nvSpPr>
        <ns0:spPr>
          <ns1:xfrm>
            <ns1:off x="713232" y="7754112"/>
            <ns1:ext cx="12527280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50" b="0" i="0">
                <ns1:solidFill>
                  <ns1:srgbClr val="8C877E"/>
                </ns1:solidFill>
                <ns1:latin typeface="Arial"/>
                <ns1:ea typeface="黑体"/>
                <ns1:cs typeface="Arial"/>
              </ns1:defRPr>
            </ns1:pPr>
            <ns1:r>
              <ns1:t>Sources: Christ &amp; Slowak on Blu-ray vs HD DVD; historical timeline summarized in the design brief.</ns1:t>
            </ns1:r>
          </ns1:p>
        </ns0:txBody>
      </ns0:sp>
    </ns0:spTree>
  </ns0:cSld>
  <ns0:clrMapOvr>
    <ns1:masterClrMapping/>
  </ns0:clrMapOvr>
</ns0:sld>
</file>

<file path=ppt/slides/slide9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6F4EE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ounded Rectangle 1"/>
          <ns0:cNvSpPr/>
          <ns0:nvPr/>
        </ns0:nvSpPr>
        <ns0:spPr>
          <ns1:xfrm>
            <ns1:off x="713232" y="182880"/>
            <ns1:ext cx="1920240" cy="219456"/>
          </ns1:xfrm>
          <ns1:prstGeom prst="roundRect">
            <ns1:avLst/>
          </ns1:prstGeom>
          <ns1:solidFill>
            <ns1:srgbClr val="446D5C"/>
          </ns1:solidFill>
          <ns1:ln w="10160">
            <ns1:solidFill>
              <ns1:srgbClr val="446D5C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100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Case 03 | Lesson</ns1:t>
            </ns1:r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713232" y="493776"/>
            <ns1:ext cx="12198096" cy="51206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24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当用户看不懂技术差距，补充品和捆绑会替市场做决定</ns1:t>
            </ns1:r>
          </ns1:p>
        </ns0:txBody>
      </ns0:sp>
      <ns0:sp>
        <ns0:nvSpPr>
          <ns0:cNvPr id="4" name="TextBox 3"/>
          <ns0:cNvSpPr txBox="1"/>
          <ns0:nvPr/>
        </ns0:nvSpPr>
        <ns0:spPr>
          <ns1:xfrm>
            <ns1:off x="713232" y="896112"/>
            <ns1:ext cx="12289536" cy="23774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5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晚期标准战里，补充品 gatekeeper 和 bundle engine 往往比核心规格更能改写结果。</ns1:t>
            </ns1:r>
          </ns1:p>
        </ns0:txBody>
      </ns0:sp>
      <ns0:sp>
        <ns0:nvSpPr>
          <ns0:cNvPr id="5" name="Rectangle 4"/>
          <ns0:cNvSpPr/>
          <ns0:nvPr/>
        </ns0:nvSpPr>
        <ns0:spPr>
          <ns1:xfrm>
            <ns1:off x="713232" y="1115568"/>
            <ns1:ext cx="1691640" cy="36576"/>
          </ns1:xfrm>
          <ns1:prstGeom prst="rect">
            <ns1:avLst/>
          </ns1:prstGeom>
          <ns1:solidFill>
            <ns1:srgbClr val="446D5C"/>
          </ns1:solidFill>
          <ns1:ln>
            <ns1:solidFill>
              <ns1:srgbClr val="446D5C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13405104" y="7772400"/>
            <ns1:ext cx="438912" cy="14630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r">
              <ns1:spcBef>
                <ns1:spcPts val="0"/>
              </ns1:spcBef>
              <ns1:spcAft>
                <ns1:spcPts val="0"/>
              </ns1:spcAft>
              <ns1:defRPr sz="1000" b="1" i="0">
                <ns1:solidFill>
                  <ns1:srgbClr val="8C877E"/>
                </ns1:solidFill>
                <ns1:latin typeface="Arial"/>
                <ns1:ea typeface="黑体"/>
                <ns1:cs typeface="Arial"/>
              </ns1:defRPr>
            </ns1:pPr>
            <ns1:r>
              <ns1:t>S09</ns1:t>
            </ns1:r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713232" y="1993391"/>
            <ns1:ext cx="4041648" cy="1938528"/>
          </ns1:xfrm>
          <ns1:prstGeom prst="roundRect">
            <ns1:avLst/>
          </ns1:prstGeom>
          <ns1:solidFill>
            <ns1:srgbClr val="FFFFFF"/>
          </ns1:solidFill>
          <ns1:ln w="10160">
            <ns1:solidFill>
              <ns1:srgbClr val="CAC4BA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8" name="Rounded Rectangle 7"/>
          <ns0:cNvSpPr/>
          <ns0:nvPr/>
        </ns0:nvSpPr>
        <ns0:spPr>
          <ns1:xfrm>
            <ns1:off x="841248" y="2121408"/>
            <ns1:ext cx="658368" cy="164592"/>
          </ns1:xfrm>
          <ns1:prstGeom prst="roundRect">
            <ns1:avLst/>
          </ns1:prstGeom>
          <ns1:solidFill>
            <ns1:srgbClr val="224E91"/>
          </ns1:solidFill>
          <ns1:ln w="10160">
            <ns1:solidFill>
              <ns1:srgbClr val="224E9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98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Stage 1</ns1:t>
            </ns1: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841248" y="2395728"/>
            <ns1:ext cx="3785615" cy="32918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34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当用户看不懂技术差距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841248" y="2816352"/>
            <ns1:ext cx="3785615" cy="640080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4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技术优越性在消费者层面难以被直接感知时，单点参数的说服力会迅速下降。</ns1:t>
            </ns1:r>
          </ns1:p>
        </ns0:txBody>
      </ns0:sp>
      <ns0:sp>
        <ns0:nvSpPr>
          <ns0:cNvPr id="11" name="Chevron 10"/>
          <ns0:cNvSpPr/>
          <ns0:nvPr/>
        </ns0:nvSpPr>
        <ns0:spPr>
          <ns1:xfrm>
            <ns1:off x="4901184" y="2724912"/>
            <ns1:ext cx="219456" cy="256032"/>
          </ns1:xfrm>
          <ns1:prstGeom prst="chevron">
            <ns1:avLst/>
          </ns1:prstGeom>
          <ns1:solidFill>
            <ns1:srgbClr val="719083"/>
          </ns1:solidFill>
          <ns1:ln>
            <ns1:solidFill>
              <ns1:srgbClr val="719083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5266944" y="1993391"/>
            <ns1:ext cx="4041648" cy="1938528"/>
          </ns1:xfrm>
          <ns1:prstGeom prst="roundRect">
            <ns1:avLst/>
          </ns1:prstGeom>
          <ns1:solidFill>
            <ns1:srgbClr val="FFFFFF"/>
          </ns1:solidFill>
          <ns1:ln w="11430">
            <ns1:solidFill>
              <ns1:srgbClr val="93AAA0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5394960" y="2121408"/>
            <ns1:ext cx="658368" cy="164592"/>
          </ns1:xfrm>
          <ns1:prstGeom prst="roundRect">
            <ns1:avLst/>
          </ns1:prstGeom>
          <ns1:solidFill>
            <ns1:srgbClr val="446D5C"/>
          </ns1:solidFill>
          <ns1:ln w="10160">
            <ns1:solidFill>
              <ns1:srgbClr val="446D5C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98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Stage 2</ns1:t>
            </ns1:r>
          </ns1:p>
        </ns0:txBody>
      </ns0:sp>
      <ns0:sp>
        <ns0:nvSpPr>
          <ns0:cNvPr id="14" name="TextBox 13"/>
          <ns0:cNvSpPr txBox="1"/>
          <ns0:nvPr/>
        </ns0:nvSpPr>
        <ns0:spPr>
          <ns1:xfrm>
            <ns1:off x="5394960" y="2395728"/>
            <ns1:ext cx="3785615" cy="32918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34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补充品 gatekeeper 先替市场表态</ns1:t>
            </ns1:r>
          </ns1:p>
        </ns0:txBody>
      </ns0:sp>
      <ns0:sp>
        <ns0:nvSpPr>
          <ns0:cNvPr id="15" name="TextBox 14"/>
          <ns0:cNvSpPr txBox="1"/>
          <ns0:nvPr/>
        </ns0:nvSpPr>
        <ns0:spPr>
          <ns1:xfrm>
            <ns1:off x="5394960" y="2816352"/>
            <ns1:ext cx="3785615" cy="640080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4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内容方、渠道和默认入口会把“哪一边更像未来标准”的信号传给所有后续参与者。</ns1:t>
            </ns1:r>
          </ns1:p>
        </ns0:txBody>
      </ns0:sp>
      <ns0:sp>
        <ns0:nvSpPr>
          <ns0:cNvPr id="16" name="Chevron 15"/>
          <ns0:cNvSpPr/>
          <ns0:nvPr/>
        </ns0:nvSpPr>
        <ns0:spPr>
          <ns1:xfrm>
            <ns1:off x="9454896" y="2724912"/>
            <ns1:ext cx="219456" cy="256032"/>
          </ns1:xfrm>
          <ns1:prstGeom prst="chevron">
            <ns1:avLst/>
          </ns1:prstGeom>
          <ns1:solidFill>
            <ns1:srgbClr val="719083"/>
          </ns1:solidFill>
          <ns1:ln>
            <ns1:solidFill>
              <ns1:srgbClr val="719083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7" name="Rounded Rectangle 16"/>
          <ns0:cNvSpPr/>
          <ns0:nvPr/>
        </ns0:nvSpPr>
        <ns0:spPr>
          <ns1:xfrm>
            <ns1:off x="9820656" y="1993391"/>
            <ns1:ext cx="4041648" cy="1938528"/>
          </ns1:xfrm>
          <ns1:prstGeom prst="roundRect">
            <ns1:avLst/>
          </ns1:prstGeom>
          <ns1:solidFill>
            <ns1:srgbClr val="FFFFFF"/>
          </ns1:solidFill>
          <ns1:ln w="10160">
            <ns1:solidFill>
              <ns1:srgbClr val="CAC4BA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8" name="Rounded Rectangle 17"/>
          <ns0:cNvSpPr/>
          <ns0:nvPr/>
        </ns0:nvSpPr>
        <ns0:spPr>
          <ns1:xfrm>
            <ns1:off x="9948672" y="2121408"/>
            <ns1:ext cx="658368" cy="164592"/>
          </ns1:xfrm>
          <ns1:prstGeom prst="roundRect">
            <ns1:avLst/>
          </ns1:prstGeom>
          <ns1:solidFill>
            <ns1:srgbClr val="224E91"/>
          </ns1:solidFill>
          <ns1:ln w="10160">
            <ns1:solidFill>
              <ns1:srgbClr val="224E9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98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Stage 3</ns1:t>
            </ns1:r>
          </ns1:p>
        </ns0:txBody>
      </ns0:sp>
      <ns0:sp>
        <ns0:nvSpPr>
          <ns0:cNvPr id="19" name="TextBox 18"/>
          <ns0:cNvSpPr txBox="1"/>
          <ns0:nvPr/>
        </ns0:nvSpPr>
        <ns0:spPr>
          <ns1:xfrm>
            <ns1:off x="9948672" y="2395728"/>
            <ns1:ext cx="3785615" cy="32918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34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捆绑与默认装机会加速预期收敛</ns1:t>
            </ns1:r>
          </ns1:p>
        </ns0:txBody>
      </ns0:sp>
      <ns0:sp>
        <ns0:nvSpPr>
          <ns0:cNvPr id="20" name="TextBox 19"/>
          <ns0:cNvSpPr txBox="1"/>
          <ns0:nvPr/>
        </ns0:nvSpPr>
        <ns0:spPr>
          <ns1:xfrm>
            <ns1:off x="9948672" y="2816352"/>
            <ns1:ext cx="3785615" cy="640080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4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一旦某个方案获得 bundle engine 和 dominant standard 预期，自我强化就会开始。</ns1:t>
            </ns1:r>
          </ns1:p>
        </ns0:txBody>
      </ns0:sp>
      <ns0:sp>
        <ns0:nvSpPr>
          <ns0:cNvPr id="21" name="Rounded Rectangle 20"/>
          <ns0:cNvSpPr/>
          <ns0:nvPr/>
        </ns0:nvSpPr>
        <ns0:spPr>
          <ns1:xfrm>
            <ns1:off x="713232" y="4224528"/>
            <ns1:ext cx="13203936" cy="1682496"/>
          </ns1:xfrm>
          <ns1:prstGeom prst="roundRect">
            <ns1:avLst/>
          </ns1:prstGeom>
          <ns1:solidFill>
            <ns1:srgbClr val="FAF2EE"/>
          </ns1:solidFill>
          <ns1:ln w="12700">
            <ns1:solidFill>
              <ns1:srgbClr val="D4977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t" wrap="square" lIns="164592" rIns="146304" tIns="146304" bIns="73152"/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5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现代含义：当产品差异对大多数买方并不透明时，市场会让生态替自己做判断。</ns1:t>
            </ns1:r>
          </ns1:p>
          <ns1:p>
            <ns1:pPr algn="l">
              <ns1:spcBef>
                <ns1:spcPts val="0"/>
              </ns1:spcBef>
              <ns1:spcAft>
                <ns1:spcPts val="0"/>
              </ns1:spcAft>
              <ns1:defRPr sz="124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这意味着平台战、AI 工具战、终端能力战里，内容/数据联盟、默认装机、渠道和政策杠杆，经常比单点性能更早改变 adoption 曲线。</ns1:t>
            </ns1:r>
          </ns1:p>
        </ns0:txBody>
      </ns0:sp>
      <ns0:sp>
        <ns0:nvSpPr>
          <ns0:cNvPr id="22" name="Rounded Rectangle 21"/>
          <ns0:cNvSpPr/>
          <ns0:nvPr/>
        </ns0:nvSpPr>
        <ns0:spPr>
          <ns1:xfrm>
            <ns1:off x="713232" y="6163056"/>
            <ns1:ext cx="4096512" cy="694944"/>
          </ns1:xfrm>
          <ns1:prstGeom prst="roundRect">
            <ns1:avLst/>
          </ns1:prstGeom>
          <ns1:solidFill>
            <ns1:srgbClr val="FFFFFF"/>
          </ns1:solidFill>
          <ns1:ln w="10160">
            <ns1:solidFill>
              <ns1:srgbClr val="CAC4BA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3" name="TextBox 22"/>
          <ns0:cNvSpPr txBox="1"/>
          <ns0:nvPr/>
        </ns0:nvSpPr>
        <ns0:spPr>
          <ns1:xfrm>
            <ns1:off x="841248" y="6382512"/>
            <ns1:ext cx="3730752" cy="219456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9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补充品 gatekeeper 决定能否形成生态信号。</ns1:t>
            </ns1:r>
          </ns1:p>
        </ns0:txBody>
      </ns0:sp>
      <ns0:sp>
        <ns0:nvSpPr>
          <ns0:cNvPr id="24" name="Rounded Rectangle 23"/>
          <ns0:cNvSpPr/>
          <ns0:nvPr/>
        </ns0:nvSpPr>
        <ns0:spPr>
          <ns1:xfrm>
            <ns1:off x="5175504" y="6163056"/>
            <ns1:ext cx="4096512" cy="694944"/>
          </ns1:xfrm>
          <ns1:prstGeom prst="roundRect">
            <ns1:avLst/>
          </ns1:prstGeom>
          <ns1:solidFill>
            <ns1:srgbClr val="FFFFFF"/>
          </ns1:solidFill>
          <ns1:ln w="10160">
            <ns1:solidFill>
              <ns1:srgbClr val="CAC4BA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5" name="TextBox 24"/>
          <ns0:cNvSpPr txBox="1"/>
          <ns0:nvPr/>
        </ns0:nvSpPr>
        <ns0:spPr>
          <ns1:xfrm>
            <ns1:off x="5303520" y="6382512"/>
            <ns1:ext cx="3730752" cy="219456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9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bundle engine 决定 adopted base 的爬坡速度。</ns1:t>
            </ns1:r>
          </ns1:p>
        </ns0:txBody>
      </ns0:sp>
      <ns0:sp>
        <ns0:nvSpPr>
          <ns0:cNvPr id="26" name="Rounded Rectangle 25"/>
          <ns0:cNvSpPr/>
          <ns0:nvPr/>
        </ns0:nvSpPr>
        <ns0:spPr>
          <ns1:xfrm>
            <ns1:off x="9637776" y="6163056"/>
            <ns1:ext cx="4096512" cy="694944"/>
          </ns1:xfrm>
          <ns1:prstGeom prst="roundRect">
            <ns1:avLst/>
          </ns1:prstGeom>
          <ns1:solidFill>
            <ns1:srgbClr val="FFFFFF"/>
          </ns1:solidFill>
          <ns1:ln w="10160">
            <ns1:solidFill>
              <ns1:srgbClr val="CAC4BA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7" name="TextBox 26"/>
          <ns0:cNvSpPr txBox="1"/>
          <ns0:nvPr/>
        </ns0:nvSpPr>
        <ns0:spPr>
          <ns1:xfrm>
            <ns1:off x="9765792" y="6382512"/>
            <ns1:ext cx="3730752" cy="219456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9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dominant standard 预期决定等待行为何时转成下注行为。</ns1:t>
            </ns1:r>
          </ns1:p>
        </ns0:txBody>
      </ns0:sp>
      <ns0:sp>
        <ns0:nvSpPr>
          <ns0:cNvPr id="28" name="TextBox 27"/>
          <ns0:cNvSpPr txBox="1"/>
          <ns0:nvPr/>
        </ns0:nvSpPr>
        <ns0:spPr>
          <ns1:xfrm>
            <ns1:off x="713232" y="7754112"/>
            <ns1:ext cx="12527280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50" b="0" i="0">
                <ns1:solidFill>
                  <ns1:srgbClr val="8C877E"/>
                </ns1:solidFill>
                <ns1:latin typeface="Arial"/>
                <ns1:ea typeface="黑体"/>
                <ns1:cs typeface="Arial"/>
              </ns1:defRPr>
            </ns1:pPr>
            <ns1:r>
              <ns1:t>第三个案例强调：当技术差距不透明时，联盟、捆绑和预期会替市场做决定。</ns1:t>
            </ns1:r>
          </ns1:p>
        </ns0:txBody>
      </ns0:sp>
    </ns0:spTree>
  </ns0:cSld>
  <ns0:clrMapOvr>
    <ns1:masterClrMapping/>
  </ns0:clrMapOvr>
</ns0:sld>
</file>

<file path=ppt/slides/slide10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6F4EE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ounded Rectangle 1"/>
          <ns0:cNvSpPr/>
          <ns0:nvPr/>
        </ns0:nvSpPr>
        <ns0:spPr>
          <ns1:xfrm>
            <ns1:off x="713232" y="182880"/>
            <ns1:ext cx="2020824" cy="219456"/>
          </ns1:xfrm>
          <ns1:prstGeom prst="roundRect">
            <ns1:avLst/>
          </ns1:prstGeom>
          <ns1:solidFill>
            <ns1:srgbClr val="224E91"/>
          </ns1:solidFill>
          <ns1:ln w="10160">
            <ns1:solidFill>
              <ns1:srgbClr val="224E9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100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Cross-Case Matrix</ns1:t>
            </ns1:r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713232" y="493776"/>
            <ns1:ext cx="12198096" cy="51206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24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三个案例的共同点很稳定：输家优化局部性能，赢家先闭合生态协调</ns1:t>
            </ns1:r>
          </ns1:p>
        </ns0:txBody>
      </ns0:sp>
      <ns0:sp>
        <ns0:nvSpPr>
          <ns0:cNvPr id="4" name="TextBox 3"/>
          <ns0:cNvSpPr txBox="1"/>
          <ns0:nvPr/>
        </ns0:nvSpPr>
        <ns0:spPr>
          <ns1:xfrm>
            <ns1:off x="713232" y="896112"/>
            <ns1:ext cx="12289536" cy="23774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5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跨行业重复出现的胜利模式，是更低的集体下注风险，而不是更高的局部技术峰值。</ns1:t>
            </ns1:r>
          </ns1:p>
        </ns0:txBody>
      </ns0:sp>
      <ns0:sp>
        <ns0:nvSpPr>
          <ns0:cNvPr id="5" name="Rectangle 4"/>
          <ns0:cNvSpPr/>
          <ns0:nvPr/>
        </ns0:nvSpPr>
        <ns0:spPr>
          <ns1:xfrm>
            <ns1:off x="713232" y="1115568"/>
            <ns1:ext cx="1691640" cy="36576"/>
          </ns1:xfrm>
          <ns1:prstGeom prst="rect">
            <ns1:avLst/>
          </ns1:prstGeom>
          <ns1:solidFill>
            <ns1:srgbClr val="224E91"/>
          </ns1:solidFill>
          <ns1:ln>
            <ns1:solidFill>
              <ns1:srgbClr val="224E9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13405104" y="7772400"/>
            <ns1:ext cx="438912" cy="14630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r">
              <ns1:spcBef>
                <ns1:spcPts val="0"/>
              </ns1:spcBef>
              <ns1:spcAft>
                <ns1:spcPts val="0"/>
              </ns1:spcAft>
              <ns1:defRPr sz="1000" b="1" i="0">
                <ns1:solidFill>
                  <ns1:srgbClr val="8C877E"/>
                </ns1:solidFill>
                <ns1:latin typeface="Arial"/>
                <ns1:ea typeface="黑体"/>
                <ns1:cs typeface="Arial"/>
              </ns1:defRPr>
            </ns1:pPr>
            <ns1:r>
              <ns1:t>S10</ns1:t>
            </ns1:r>
          </ns1:p>
        </ns0:txBody>
      </ns0:sp>
      <ns0:graphicFrame>
        <ns0:nvGraphicFramePr>
          <ns0:cNvPr id="7" name="Table 6"/>
          <ns0:cNvGraphicFramePr>
            <ns1:graphicFrameLocks noGrp="1"/>
          </ns0:cNvGraphicFramePr>
          <ns0:nvPr/>
        </ns0:nvGraphicFramePr>
        <ns0:xfrm>
          <ns1:off x="713232" y="1298448"/>
          <ns1:ext cx="13203936" cy="5120640"/>
        </ns0:xfrm>
        <ns1:graphic>
          <ns1:graphicData uri="http://schemas.openxmlformats.org/drawingml/2006/table">
            <ns1:tbl>
              <ns1:tblPr firstRow="1" bandRow="1">
                <ns1:tableStyleId>{5C22544A-7EE6-4342-B048-85BDC9FD1C3A}</ns1:tableStyleId>
              </ns1:tblPr>
              <ns1:tblGrid>
                <ns1:gridCol w="1938528"/>
                <ns1:gridCol w="2267712"/>
                <ns1:gridCol w="2231136"/>
                <ns1:gridCol w="2322576"/>
                <ns1:gridCol w="4443984"/>
              </ns1:tblGrid>
              <ns1:tr h="731520">
                <ns1:tc>
                  <ns1:txBody>
                    <ns1:bodyPr wrap="square" lIns="0" rIns="0" tIns="0" bIns="0" anchor="ctr"/>
                    <ns1:lstStyle/>
                    <ns1:p>
                      <ns1:pPr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20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关键维度</ns1:t>
                      </ns1:r>
                    </ns1:p>
                  </ns1:txBody>
                  <ns1:tcPr marL="36576" marR="73152" marT="36576" marB="27432">
                    <ns1:solidFill>
                      <ns1:srgbClr val="D7DFEB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20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Betamax vs VHS</ns1:t>
                      </ns1:r>
                    </ns1:p>
                  </ns1:txBody>
                  <ns1:tcPr marL="36576" marR="73152" marT="36576" marB="27432">
                    <ns1:solidFill>
                      <ns1:srgbClr val="D7DFEB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20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OSI vs TCP/IP</ns1:t>
                      </ns1:r>
                    </ns1:p>
                  </ns1:txBody>
                  <ns1:tcPr marL="36576" marR="73152" marT="36576" marB="27432">
                    <ns1:solidFill>
                      <ns1:srgbClr val="D7DFEB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20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Blu-ray vs HD DVD</ns1:t>
                      </ns1:r>
                    </ns1:p>
                  </ns1:txBody>
                  <ns1:tcPr marL="36576" marR="73152" marT="36576" marB="27432">
                    <ns1:solidFill>
                      <ns1:srgbClr val="D7DFEB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20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真正被放大的规律</ns1:t>
                      </ns1:r>
                    </ns1:p>
                  </ns1:txBody>
                  <ns1:tcPr marL="36576" marR="73152" marT="36576" marB="27432">
                    <ns1:solidFill>
                      <ns1:srgbClr val="D7DFEB"/>
                    </ns1:solidFill>
                  </ns1:tcPr>
                </ns1:tc>
              </ns1:tr>
              <ns1:tr h="731520"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4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峰值技术指标</ns1:t>
                      </ns1:r>
                    </ns1:p>
                  </ns1:txBody>
                  <ns1:tcPr marL="73152" marR="73152" marT="36576" marB="27432">
                    <ns1:solidFill>
                      <ns1:srgbClr val="F8F6F2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40" b="0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Betamax</ns1:t>
                      </ns1:r>
                    </ns1:p>
                  </ns1:txBody>
                  <ns1:tcPr marL="73152" marR="73152" marT="36576" marB="27432">
                    <ns1:solidFill>
                      <ns1:srgbClr val="F7F6F1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40" b="0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OSI</ns1:t>
                      </ns1:r>
                    </ns1:p>
                  </ns1:txBody>
                  <ns1:tcPr marL="73152" marR="73152" marT="36576" marB="27432">
                    <ns1:solidFill>
                      <ns1:srgbClr val="F7F6F1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40" b="0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无明显单边优势</ns1:t>
                      </ns1:r>
                    </ns1:p>
                  </ns1:txBody>
                  <ns1:tcPr marL="73152" marR="73152" marT="36576" marB="27432">
                    <ns1:solidFill>
                      <ns1:srgbClr val="F7F6F1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20" b="0" i="0">
                          <ns1:solidFill>
                            <ns1:srgbClr val="595E6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输家更常在规格表层面看起来更强</ns1:t>
                      </ns1:r>
                    </ns1:p>
                  </ns1:txBody>
                  <ns1:tcPr marL="73152" marR="73152" marT="36576" marB="27432">
                    <ns1:solidFill>
                      <ns1:srgbClr val="FFFFFF"/>
                    </ns1:solidFill>
                  </ns1:tcPr>
                </ns1:tc>
              </ns1:tr>
              <ns1:tr h="731520"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4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用户任务匹配</ns1:t>
                      </ns1:r>
                    </ns1:p>
                  </ns1:txBody>
                  <ns1:tcPr marL="73152" marR="73152" marT="36576" marB="27432">
                    <ns1:solidFill>
                      <ns1:srgbClr val="F8F6F2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4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VHS</ns1:t>
                      </ns1:r>
                    </ns1:p>
                  </ns1:txBody>
                  <ns1:tcPr marL="73152" marR="73152" marT="36576" marB="27432">
                    <ns1:solidFill>
                      <ns1:srgbClr val="EDF1F6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4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TCP/IP</ns1:t>
                      </ns1:r>
                    </ns1:p>
                  </ns1:txBody>
                  <ns1:tcPr marL="73152" marR="73152" marT="36576" marB="27432">
                    <ns1:solidFill>
                      <ns1:srgbClr val="EDF1F6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4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Blu-ray</ns1:t>
                      </ns1:r>
                    </ns1:p>
                  </ns1:txBody>
                  <ns1:tcPr marL="73152" marR="73152" marT="36576" marB="27432">
                    <ns1:solidFill>
                      <ns1:srgbClr val="EDF1F6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20" b="0" i="0">
                          <ns1:solidFill>
                            <ns1:srgbClr val="595E6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市场先为顺畅完成关键任务投票</ns1:t>
                      </ns1:r>
                    </ns1:p>
                  </ns1:txBody>
                  <ns1:tcPr marL="73152" marR="73152" marT="36576" marB="27432">
                    <ns1:solidFill>
                      <ns1:srgbClr val="FFFFFF"/>
                    </ns1:solidFill>
                  </ns1:tcPr>
                </ns1:tc>
              </ns1:tr>
              <ns1:tr h="731520"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4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联盟与补充品</ns1:t>
                      </ns1:r>
                    </ns1:p>
                  </ns1:txBody>
                  <ns1:tcPr marL="73152" marR="73152" marT="36576" marB="27432">
                    <ns1:solidFill>
                      <ns1:srgbClr val="F8F6F2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4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VHS</ns1:t>
                      </ns1:r>
                    </ns1:p>
                  </ns1:txBody>
                  <ns1:tcPr marL="73152" marR="73152" marT="36576" marB="27432">
                    <ns1:solidFill>
                      <ns1:srgbClr val="EDF1F6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4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TCP/IP</ns1:t>
                      </ns1:r>
                    </ns1:p>
                  </ns1:txBody>
                  <ns1:tcPr marL="73152" marR="73152" marT="36576" marB="27432">
                    <ns1:solidFill>
                      <ns1:srgbClr val="EDF1F6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4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Blu-ray</ns1:t>
                      </ns1:r>
                    </ns1:p>
                  </ns1:txBody>
                  <ns1:tcPr marL="73152" marR="73152" marT="36576" marB="27432">
                    <ns1:solidFill>
                      <ns1:srgbClr val="EDF1F6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20" b="0" i="0">
                          <ns1:solidFill>
                            <ns1:srgbClr val="595E6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生态广度决定扩散速度</ns1:t>
                      </ns1:r>
                    </ns1:p>
                  </ns1:txBody>
                  <ns1:tcPr marL="73152" marR="73152" marT="36576" marB="27432">
                    <ns1:solidFill>
                      <ns1:srgbClr val="FFFFFF"/>
                    </ns1:solidFill>
                  </ns1:tcPr>
                </ns1:tc>
              </ns1:tr>
              <ns1:tr h="731520"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4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兼容与迁移路径</ns1:t>
                      </ns1:r>
                    </ns1:p>
                  </ns1:txBody>
                  <ns1:tcPr marL="73152" marR="73152" marT="36576" marB="27432">
                    <ns1:solidFill>
                      <ns1:srgbClr val="F8F6F2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4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VHS</ns1:t>
                      </ns1:r>
                    </ns1:p>
                  </ns1:txBody>
                  <ns1:tcPr marL="73152" marR="73152" marT="36576" marB="27432">
                    <ns1:solidFill>
                      <ns1:srgbClr val="EDF1F6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4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TCP/IP</ns1:t>
                      </ns1:r>
                    </ns1:p>
                  </ns1:txBody>
                  <ns1:tcPr marL="73152" marR="73152" marT="36576" marB="27432">
                    <ns1:solidFill>
                      <ns1:srgbClr val="EDF1F6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4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Blu-ray</ns1:t>
                      </ns1:r>
                    </ns1:p>
                  </ns1:txBody>
                  <ns1:tcPr marL="73152" marR="73152" marT="36576" marB="27432">
                    <ns1:solidFill>
                      <ns1:srgbClr val="EDF1F6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20" b="0" i="0">
                          <ns1:solidFill>
                            <ns1:srgbClr val="595E6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沿着既有 base 演进更容易获胜</ns1:t>
                      </ns1:r>
                    </ns1:p>
                  </ns1:txBody>
                  <ns1:tcPr marL="73152" marR="73152" marT="36576" marB="27432">
                    <ns1:solidFill>
                      <ns1:srgbClr val="FFFFFF"/>
                    </ns1:solidFill>
                  </ns1:tcPr>
                </ns1:tc>
              </ns1:tr>
              <ns1:tr h="731520"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4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部署速度</ns1:t>
                      </ns1:r>
                    </ns1:p>
                  </ns1:txBody>
                  <ns1:tcPr marL="73152" marR="73152" marT="36576" marB="27432">
                    <ns1:solidFill>
                      <ns1:srgbClr val="F8F6F2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4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VHS</ns1:t>
                      </ns1:r>
                    </ns1:p>
                  </ns1:txBody>
                  <ns1:tcPr marL="73152" marR="73152" marT="36576" marB="27432">
                    <ns1:solidFill>
                      <ns1:srgbClr val="EDF1F6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4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TCP/IP</ns1:t>
                      </ns1:r>
                    </ns1:p>
                  </ns1:txBody>
                  <ns1:tcPr marL="73152" marR="73152" marT="36576" marB="27432">
                    <ns1:solidFill>
                      <ns1:srgbClr val="EDF1F6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4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Blu-ray</ns1:t>
                      </ns1:r>
                    </ns1:p>
                  </ns1:txBody>
                  <ns1:tcPr marL="73152" marR="73152" marT="36576" marB="27432">
                    <ns1:solidFill>
                      <ns1:srgbClr val="EDF1F6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20" b="0" i="0">
                          <ns1:solidFill>
                            <ns1:srgbClr val="595E6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先跑起来的一方会吞掉反馈回路</ns1:t>
                      </ns1:r>
                    </ns1:p>
                  </ns1:txBody>
                  <ns1:tcPr marL="73152" marR="73152" marT="36576" marB="27432">
                    <ns1:solidFill>
                      <ns1:srgbClr val="FFFFFF"/>
                    </ns1:solidFill>
                  </ns1:tcPr>
                </ns1:tc>
              </ns1:tr>
              <ns1:tr h="731520"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4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预期管理</ns1:t>
                      </ns1:r>
                    </ns1:p>
                  </ns1:txBody>
                  <ns1:tcPr marL="73152" marR="73152" marT="36576" marB="27432">
                    <ns1:solidFill>
                      <ns1:srgbClr val="F8F6F2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4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VHS</ns1:t>
                      </ns1:r>
                    </ns1:p>
                  </ns1:txBody>
                  <ns1:tcPr marL="73152" marR="73152" marT="36576" marB="27432">
                    <ns1:solidFill>
                      <ns1:srgbClr val="EDF1F6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4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TCP/IP</ns1:t>
                      </ns1:r>
                    </ns1:p>
                  </ns1:txBody>
                  <ns1:tcPr marL="73152" marR="73152" marT="36576" marB="27432">
                    <ns1:solidFill>
                      <ns1:srgbClr val="EDF1F6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40" b="1" i="0">
                          <ns1:solidFill>
                            <ns1:srgbClr val="151C2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Blu-ray</ns1:t>
                      </ns1:r>
                    </ns1:p>
                  </ns1:txBody>
                  <ns1:tcPr marL="73152" marR="73152" marT="36576" marB="27432">
                    <ns1:solidFill>
                      <ns1:srgbClr val="EDF1F6"/>
                    </ns1:solidFill>
                  </ns1:tcPr>
                </ns1:tc>
                <ns1:tc>
                  <ns1:txBody>
                    <ns1:bodyPr wrap="square" lIns="0" rIns="0" tIns="0" bIns="0" anchor="ctr"/>
                    <ns1:lstStyle/>
                    <ns1:p>
                      <ns1:pPr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defRPr sz="1120" b="0" i="0">
                          <ns1:solidFill>
                            <ns1:srgbClr val="595E65"/>
                          </ns1:solidFill>
                          <ns1:latin typeface="Arial"/>
                          <ns1:ea typeface="黑体"/>
                          <ns1:cs typeface="Arial"/>
                        </ns1:defRPr>
                      </ns1:pPr>
                      <ns1:r>
                        <ns1:t>dominant standard 预期会自我强化</ns1:t>
                      </ns1:r>
                    </ns1:p>
                  </ns1:txBody>
                  <ns1:tcPr marL="73152" marR="73152" marT="36576" marB="27432"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8" name="Rounded Rectangle 7"/>
          <ns0:cNvSpPr/>
          <ns0:nvPr/>
        </ns0:nvSpPr>
        <ns0:spPr>
          <ns1:xfrm>
            <ns1:off x="713232" y="6473952"/>
            <ns1:ext cx="13203936" cy="1097280"/>
          </ns1:xfrm>
          <ns1:prstGeom prst="roundRect">
            <ns1:avLst/>
          </ns1:prstGeom>
          <ns1:solidFill>
            <ns1:srgbClr val="F8EFEA"/>
          </ns1:solidFill>
          <ns1:ln w="12700">
            <ns1:solidFill>
              <ns1:srgbClr val="D4977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512064" rIns="146304" tIns="182880" bIns="73152"/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42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三条 claim 最终都在说同一件事：输家更容易在局部性能上显得更强，赢家更早闭合生态协调与 adoption risk。</ns1:t>
            </ns1:r>
          </ns1:p>
        </ns0:txBody>
      </ns0:sp>
      <ns0:pic>
        <ns0:nvPicPr>
          <ns0:cNvPr id="9" name="Picture 8" descr="binary-tree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896112" y="6711696"/>
            <ns1:ext cx="219456" cy="219456"/>
          </ns1:xfrm>
          <ns1:prstGeom prst="rect">
            <ns1:avLst/>
          </ns1:prstGeom>
        </ns0:spPr>
      </ns0:pic>
      <ns0:sp>
        <ns0:nvSpPr>
          <ns0:cNvPr id="10" name="TextBox 9"/>
          <ns0:cNvSpPr txBox="1"/>
          <ns0:nvPr/>
        </ns0:nvSpPr>
        <ns0:spPr>
          <ns1:xfrm>
            <ns1:off x="713232" y="7754112"/>
            <ns1:ext cx="12527280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50" b="0" i="0">
                <ns1:solidFill>
                  <ns1:srgbClr val="8C877E"/>
                </ns1:solidFill>
                <ns1:latin typeface="Arial"/>
                <ns1:ea typeface="黑体"/>
                <ns1:cs typeface="Arial"/>
              </ns1:defRPr>
            </ns1:pPr>
            <ns1:r>
              <ns1:t>这一页把三场战争压成显式 matrix，避免“每个案例都很特殊”掩盖重复规律。</ns1:t>
            </ns1:r>
          </ns1:p>
        </ns0:txBody>
      </ns0:sp>
    </ns0:spTree>
  </ns0:cSld>
  <ns0:clrMapOvr>
    <ns1:masterClrMapping/>
  </ns0:clrMapOvr>
</ns0:sld>
</file>

<file path=ppt/slides/slide1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6F4EE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ounded Rectangle 1"/>
          <ns0:cNvSpPr/>
          <ns0:nvPr/>
        </ns0:nvSpPr>
        <ns0:spPr>
          <ns1:xfrm>
            <ns1:off x="713232" y="182880"/>
            <ns1:ext cx="2103120" cy="219456"/>
          </ns1:xfrm>
          <ns1:prstGeom prst="roundRect">
            <ns1:avLst/>
          </ns1:prstGeom>
          <ns1:solidFill>
            <ns1:srgbClr val="BE612F"/>
          </ns1:solidFill>
          <ns1:ln w="10160">
            <ns1:solidFill>
              <ns1:srgbClr val="BE612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100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Management Checklist</ns1:t>
            </ns1:r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713232" y="493776"/>
            <ns1:ext cx="12198096" cy="51206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24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判断一场标准战，先问五个会让管理层真正下注的问题</ns1:t>
            </ns1:r>
          </ns1:p>
        </ns0:txBody>
      </ns0:sp>
      <ns0:sp>
        <ns0:nvSpPr>
          <ns0:cNvPr id="4" name="TextBox 3"/>
          <ns0:cNvSpPr txBox="1"/>
          <ns0:nvPr/>
        </ns0:nvSpPr>
        <ns0:spPr>
          <ns1:xfrm>
            <ns1:off x="713232" y="896112"/>
            <ns1:ext cx="12289536" cy="23774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5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好的标准判断框架，必须直接回答 installed base、联盟、成本、预期和渠道杠杆。</ns1:t>
            </ns1:r>
          </ns1:p>
        </ns0:txBody>
      </ns0:sp>
      <ns0:sp>
        <ns0:nvSpPr>
          <ns0:cNvPr id="5" name="Rectangle 4"/>
          <ns0:cNvSpPr/>
          <ns0:nvPr/>
        </ns0:nvSpPr>
        <ns0:spPr>
          <ns1:xfrm>
            <ns1:off x="713232" y="1115568"/>
            <ns1:ext cx="1691640" cy="36576"/>
          </ns1:xfrm>
          <ns1:prstGeom prst="rect">
            <ns1:avLst/>
          </ns1:prstGeom>
          <ns1:solidFill>
            <ns1:srgbClr val="BE612F"/>
          </ns1:solidFill>
          <ns1:ln>
            <ns1:solidFill>
              <ns1:srgbClr val="BE612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13405104" y="7772400"/>
            <ns1:ext cx="438912" cy="14630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r">
              <ns1:spcBef>
                <ns1:spcPts val="0"/>
              </ns1:spcBef>
              <ns1:spcAft>
                <ns1:spcPts val="0"/>
              </ns1:spcAft>
              <ns1:defRPr sz="1000" b="1" i="0">
                <ns1:solidFill>
                  <ns1:srgbClr val="8C877E"/>
                </ns1:solidFill>
                <ns1:latin typeface="Arial"/>
                <ns1:ea typeface="黑体"/>
                <ns1:cs typeface="Arial"/>
              </ns1:defRPr>
            </ns1:pPr>
            <ns1:r>
              <ns1:t>S11</ns1:t>
            </ns1:r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804672" y="1664207"/>
            <ns1:ext cx="3950208" cy="1682496"/>
          </ns1:xfrm>
          <ns1:prstGeom prst="roundRect">
            <ns1:avLst/>
          </ns1:prstGeom>
          <ns1:solidFill>
            <ns1:srgbClr val="FFFFFF"/>
          </ns1:solidFill>
          <ns1:ln w="11430">
            <ns1:solidFill>
              <ns1:srgbClr val="D3947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8" name="Rounded Rectangle 7"/>
          <ns0:cNvSpPr/>
          <ns0:nvPr/>
        </ns0:nvSpPr>
        <ns0:spPr>
          <ns1:xfrm>
            <ns1:off x="932688" y="1792224"/>
            <ns1:ext cx="438912" cy="164592"/>
          </ns1:xfrm>
          <ns1:prstGeom prst="roundRect">
            <ns1:avLst/>
          </ns1:prstGeom>
          <ns1:solidFill>
            <ns1:srgbClr val="BE612F"/>
          </ns1:solidFill>
          <ns1:ln w="10160">
            <ns1:solidFill>
              <ns1:srgbClr val="BE612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98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Q1</ns1:t>
            </ns1:r>
          </ns1:p>
        </ns0:txBody>
      </ns0:sp>
      <ns0:pic>
        <ns0:nvPicPr>
          <ns0:cNvPr id="9" name="Picture 8" descr="route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950976" y="2139696"/>
            <ns1:ext cx="201168" cy="201168"/>
          </ns1:xfrm>
          <ns1:prstGeom prst="rect">
            <ns1:avLst/>
          </ns1:prstGeom>
        </ns0:spPr>
      </ns0:pic>
      <ns0:sp>
        <ns0:nvSpPr>
          <ns0:cNvPr id="10" name="TextBox 9"/>
          <ns0:cNvSpPr txBox="1"/>
          <ns0:nvPr/>
        </ns0:nvSpPr>
        <ns0:spPr>
          <ns1:xfrm>
            <ns1:off x="1225296" y="2048255"/>
            <ns1:ext cx="3328416" cy="32918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3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它是不是顺着既有 installed base 演进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1225296" y="2505456"/>
            <ns1:ext cx="3328416" cy="475488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3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兼容路径越顺滑，协调成本越低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5248656" y="1389888"/>
            <ns1:ext cx="3950208" cy="1682496"/>
          </ns1:xfrm>
          <ns1:prstGeom prst="roundRect">
            <ns1:avLst/>
          </ns1:prstGeom>
          <ns1:solidFill>
            <ns1:srgbClr val="FFFFFF"/>
          </ns1:solidFill>
          <ns1:ln w="11430">
            <ns1:solidFill>
              <ns1:srgbClr val="6987B4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5376672" y="1517904"/>
            <ns1:ext cx="438912" cy="164592"/>
          </ns1:xfrm>
          <ns1:prstGeom prst="roundRect">
            <ns1:avLst/>
          </ns1:prstGeom>
          <ns1:solidFill>
            <ns1:srgbClr val="224E91"/>
          </ns1:solidFill>
          <ns1:ln w="10160">
            <ns1:solidFill>
              <ns1:srgbClr val="224E9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98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Q2</ns1:t>
            </ns1:r>
          </ns1:p>
        </ns0:txBody>
      </ns0:sp>
      <ns0:pic>
        <ns0:nvPicPr>
          <ns0:cNvPr id="14" name="Picture 13" descr="device-desktop-analytics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5394960" y="1865376"/>
            <ns1:ext cx="201168" cy="201168"/>
          </ns1:xfrm>
          <ns1:prstGeom prst="rect">
            <ns1:avLst/>
          </ns1:prstGeom>
        </ns0:spPr>
      </ns0:pic>
      <ns0:sp>
        <ns0:nvSpPr>
          <ns0:cNvPr id="15" name="TextBox 14"/>
          <ns0:cNvSpPr txBox="1"/>
          <ns0:nvPr/>
        </ns0:nvSpPr>
        <ns0:spPr>
          <ns1:xfrm>
            <ns1:off x="5669280" y="1773936"/>
            <ns1:ext cx="3328416" cy="32918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3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它能不能借已有装机与默认入口放大 adoption</ns1:t>
            </ns1:r>
          </ns1:p>
        </ns0:txBody>
      </ns0:sp>
      <ns0:sp>
        <ns0:nvSpPr>
          <ns0:cNvPr id="16" name="TextBox 15"/>
          <ns0:cNvSpPr txBox="1"/>
          <ns0:nvPr/>
        </ns0:nvSpPr>
        <ns0:spPr>
          <ns1:xfrm>
            <ns1:off x="5669280" y="2231136"/>
            <ns1:ext cx="3328416" cy="475488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3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默认需求越大，越容易跨过 tipping point</ns1:t>
            </ns1:r>
          </ns1:p>
        </ns0:txBody>
      </ns0:sp>
      <ns0:sp>
        <ns0:nvSpPr>
          <ns0:cNvPr id="17" name="Rounded Rectangle 16"/>
          <ns0:cNvSpPr/>
          <ns0:nvPr/>
        </ns0:nvSpPr>
        <ns0:spPr>
          <ns1:xfrm>
            <ns1:off x="9692640" y="1664207"/>
            <ns1:ext cx="3950208" cy="1682496"/>
          </ns1:xfrm>
          <ns1:prstGeom prst="roundRect">
            <ns1:avLst/>
          </ns1:prstGeom>
          <ns1:solidFill>
            <ns1:srgbClr val="FFFFFF"/>
          </ns1:solidFill>
          <ns1:ln w="11430">
            <ns1:solidFill>
              <ns1:srgbClr val="D3947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8" name="Rounded Rectangle 17"/>
          <ns0:cNvSpPr/>
          <ns0:nvPr/>
        </ns0:nvSpPr>
        <ns0:spPr>
          <ns1:xfrm>
            <ns1:off x="9820656" y="1792224"/>
            <ns1:ext cx="438912" cy="164592"/>
          </ns1:xfrm>
          <ns1:prstGeom prst="roundRect">
            <ns1:avLst/>
          </ns1:prstGeom>
          <ns1:solidFill>
            <ns1:srgbClr val="BE612F"/>
          </ns1:solidFill>
          <ns1:ln w="10160">
            <ns1:solidFill>
              <ns1:srgbClr val="BE612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98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Q3</ns1:t>
            </ns1:r>
          </ns1:p>
        </ns0:txBody>
      </ns0:sp>
      <ns0:pic>
        <ns0:nvPicPr>
          <ns0:cNvPr id="19" name="Picture 18" descr="circles-relation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9838944" y="2139696"/>
            <ns1:ext cx="201168" cy="201168"/>
          </ns1:xfrm>
          <ns1:prstGeom prst="rect">
            <ns1:avLst/>
          </ns1:prstGeom>
        </ns0:spPr>
      </ns0:pic>
      <ns0:sp>
        <ns0:nvSpPr>
          <ns0:cNvPr id="20" name="TextBox 19"/>
          <ns0:cNvSpPr txBox="1"/>
          <ns0:nvPr/>
        </ns0:nvSpPr>
        <ns0:spPr>
          <ns1:xfrm>
            <ns1:off x="10113264" y="2048255"/>
            <ns1:ext cx="3328416" cy="32918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3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它能不能更快拉到 complementors</ns1:t>
            </ns1:r>
          </ns1:p>
        </ns0:txBody>
      </ns0:sp>
      <ns0:sp>
        <ns0:nvSpPr>
          <ns0:cNvPr id="21" name="TextBox 20"/>
          <ns0:cNvSpPr txBox="1"/>
          <ns0:nvPr/>
        </ns0:nvSpPr>
        <ns0:spPr>
          <ns1:xfrm>
            <ns1:off x="10113264" y="2505456"/>
            <ns1:ext cx="3328416" cy="475488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3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补充品决定标准是否能形成自强化扩散</ns1:t>
            </ns1:r>
          </ns1:p>
        </ns0:txBody>
      </ns0:sp>
      <ns0:sp>
        <ns0:nvSpPr>
          <ns0:cNvPr id="22" name="Rounded Rectangle 21"/>
          <ns0:cNvSpPr/>
          <ns0:nvPr/>
        </ns0:nvSpPr>
        <ns0:spPr>
          <ns1:xfrm>
            <ns1:off x="3035808" y="3547872"/>
            <ns1:ext cx="3950208" cy="1682496"/>
          </ns1:xfrm>
          <ns1:prstGeom prst="roundRect">
            <ns1:avLst/>
          </ns1:prstGeom>
          <ns1:solidFill>
            <ns1:srgbClr val="FFFFFF"/>
          </ns1:solidFill>
          <ns1:ln w="11430">
            <ns1:solidFill>
              <ns1:srgbClr val="6987B4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3" name="Rounded Rectangle 22"/>
          <ns0:cNvSpPr/>
          <ns0:nvPr/>
        </ns0:nvSpPr>
        <ns0:spPr>
          <ns1:xfrm>
            <ns1:off x="3163824" y="3675887"/>
            <ns1:ext cx="438912" cy="164592"/>
          </ns1:xfrm>
          <ns1:prstGeom prst="roundRect">
            <ns1:avLst/>
          </ns1:prstGeom>
          <ns1:solidFill>
            <ns1:srgbClr val="224E91"/>
          </ns1:solidFill>
          <ns1:ln w="10160">
            <ns1:solidFill>
              <ns1:srgbClr val="224E9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98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Q4</ns1:t>
            </ns1:r>
          </ns1:p>
        </ns0:txBody>
      </ns0:sp>
      <ns0:pic>
        <ns0:nvPicPr>
          <ns0:cNvPr id="24" name="Picture 23" descr="rocket.png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3182112" y="4023360"/>
            <ns1:ext cx="201168" cy="201168"/>
          </ns1:xfrm>
          <ns1:prstGeom prst="rect">
            <ns1:avLst/>
          </ns1:prstGeom>
        </ns0:spPr>
      </ns0:pic>
      <ns0:sp>
        <ns0:nvSpPr>
          <ns0:cNvPr id="25" name="TextBox 24"/>
          <ns0:cNvSpPr txBox="1"/>
          <ns0:nvPr/>
        </ns0:nvSpPr>
        <ns0:spPr>
          <ns1:xfrm>
            <ns1:off x="3456432" y="3931920"/>
            <ns1:ext cx="3328416" cy="32918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3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它是不是更便宜更容易制造和部署</ns1:t>
            </ns1:r>
          </ns1:p>
        </ns0:txBody>
      </ns0:sp>
      <ns0:sp>
        <ns0:nvSpPr>
          <ns0:cNvPr id="26" name="TextBox 25"/>
          <ns0:cNvSpPr txBox="1"/>
          <ns0:nvPr/>
        </ns0:nvSpPr>
        <ns0:spPr>
          <ns1:xfrm>
            <ns1:off x="3456432" y="4389120"/>
            <ns1:ext cx="3328416" cy="475488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3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先跑起来的一方更容易定义现实</ns1:t>
            </ns1:r>
          </ns1:p>
        </ns0:txBody>
      </ns0:sp>
      <ns0:sp>
        <ns0:nvSpPr>
          <ns0:cNvPr id="27" name="Rounded Rectangle 26"/>
          <ns0:cNvSpPr/>
          <ns0:nvPr/>
        </ns0:nvSpPr>
        <ns0:spPr>
          <ns1:xfrm>
            <ns1:off x="7479792" y="3547872"/>
            <ns1:ext cx="3950208" cy="1682496"/>
          </ns1:xfrm>
          <ns1:prstGeom prst="roundRect">
            <ns1:avLst/>
          </ns1:prstGeom>
          <ns1:solidFill>
            <ns1:srgbClr val="FFFFFF"/>
          </ns1:solidFill>
          <ns1:ln w="11430">
            <ns1:solidFill>
              <ns1:srgbClr val="D3947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8" name="Rounded Rectangle 27"/>
          <ns0:cNvSpPr/>
          <ns0:nvPr/>
        </ns0:nvSpPr>
        <ns0:spPr>
          <ns1:xfrm>
            <ns1:off x="7607808" y="3675887"/>
            <ns1:ext cx="438912" cy="164592"/>
          </ns1:xfrm>
          <ns1:prstGeom prst="roundRect">
            <ns1:avLst/>
          </ns1:prstGeom>
          <ns1:solidFill>
            <ns1:srgbClr val="BE612F"/>
          </ns1:solidFill>
          <ns1:ln w="10160">
            <ns1:solidFill>
              <ns1:srgbClr val="BE612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98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Q5</ns1:t>
            </ns1:r>
          </ns1:p>
        </ns0:txBody>
      </ns0:sp>
      <ns0:pic>
        <ns0:nvPicPr>
          <ns0:cNvPr id="29" name="Picture 28" descr="target-arrow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7626096" y="4023360"/>
            <ns1:ext cx="201168" cy="201168"/>
          </ns1:xfrm>
          <ns1:prstGeom prst="rect">
            <ns1:avLst/>
          </ns1:prstGeom>
        </ns0:spPr>
      </ns0:pic>
      <ns0:sp>
        <ns0:nvSpPr>
          <ns0:cNvPr id="30" name="TextBox 29"/>
          <ns0:cNvSpPr txBox="1"/>
          <ns0:nvPr/>
        </ns0:nvSpPr>
        <ns0:spPr>
          <ns1:xfrm>
            <ns1:off x="7900416" y="3931920"/>
            <ns1:ext cx="3328416" cy="32918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3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它能不能让用户在不确定时仍敢下注</ns1:t>
            </ns1:r>
          </ns1:p>
        </ns0:txBody>
      </ns0:sp>
      <ns0:sp>
        <ns0:nvSpPr>
          <ns0:cNvPr id="31" name="TextBox 30"/>
          <ns0:cNvSpPr txBox="1"/>
          <ns0:nvPr/>
        </ns0:nvSpPr>
        <ns0:spPr>
          <ns1:xfrm>
            <ns1:off x="7900416" y="4389120"/>
            <ns1:ext cx="3328416" cy="475488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3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预期会影响站队投资与等待行为</ns1:t>
            </ns1:r>
          </ns1:p>
        </ns0:txBody>
      </ns0:sp>
      <ns0:sp>
        <ns0:nvSpPr>
          <ns0:cNvPr id="32" name="Chevron 31"/>
          <ns0:cNvSpPr/>
          <ns0:nvPr/>
        </ns0:nvSpPr>
        <ns0:spPr>
          <ns1:xfrm>
            <ns1:off x="4773168" y="2103120"/>
            <ns1:ext cx="292608" cy="164592"/>
          </ns1:xfrm>
          <ns1:prstGeom prst="chevron">
            <ns1:avLst/>
          </ns1:prstGeom>
          <ns1:solidFill>
            <ns1:srgbClr val="CC845D"/>
          </ns1:solidFill>
          <ns1:ln>
            <ns1:solidFill>
              <ns1:srgbClr val="CC84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3" name="Chevron 32"/>
          <ns0:cNvSpPr/>
          <ns0:nvPr/>
        </ns0:nvSpPr>
        <ns0:spPr>
          <ns1:xfrm>
            <ns1:off x="9235440" y="2103120"/>
            <ns1:ext cx="292608" cy="164592"/>
          </ns1:xfrm>
          <ns1:prstGeom prst="chevron">
            <ns1:avLst/>
          </ns1:prstGeom>
          <ns1:solidFill>
            <ns1:srgbClr val="CC845D"/>
          </ns1:solidFill>
          <ns1:ln>
            <ns1:solidFill>
              <ns1:srgbClr val="CC84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4" name="Down Arrow 33"/>
          <ns0:cNvSpPr/>
          <ns0:nvPr/>
        </ns0:nvSpPr>
        <ns0:spPr>
          <ns1:xfrm>
            <ns1:off x="6089904" y="3200400"/>
            <ns1:ext cx="164592" cy="256032"/>
          </ns1:xfrm>
          <ns1:prstGeom prst="downArrow">
            <ns1:avLst/>
          </ns1:prstGeom>
          <ns1:solidFill>
            <ns1:srgbClr val="CC845D"/>
          </ns1:solidFill>
          <ns1:ln>
            <ns1:solidFill>
              <ns1:srgbClr val="CC84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5" name="Down Arrow 34"/>
          <ns0:cNvSpPr/>
          <ns0:nvPr/>
        </ns0:nvSpPr>
        <ns0:spPr>
          <ns1:xfrm>
            <ns1:off x="10533888" y="3200400"/>
            <ns1:ext cx="164592" cy="256032"/>
          </ns1:xfrm>
          <ns1:prstGeom prst="downArrow">
            <ns1:avLst/>
          </ns1:prstGeom>
          <ns1:solidFill>
            <ns1:srgbClr val="CC845D"/>
          </ns1:solidFill>
          <ns1:ln>
            <ns1:solidFill>
              <ns1:srgbClr val="CC84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6" name="Rounded Rectangle 35"/>
          <ns0:cNvSpPr/>
          <ns0:nvPr/>
        </ns0:nvSpPr>
        <ns0:spPr>
          <ns1:xfrm>
            <ns1:off x="713232" y="5486400"/>
            <ns1:ext cx="13203936" cy="1353312"/>
          </ns1:xfrm>
          <ns1:prstGeom prst="roundRect">
            <ns1:avLst/>
          </ns1:prstGeom>
          <ns1:solidFill>
            <ns1:srgbClr val="EDF1F6"/>
          </ns1:solidFill>
          <ns1:ln w="12700">
            <ns1:solidFill>
              <ns1:srgbClr val="7691B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t" wrap="square" lIns="164592" rIns="146304" tIns="128016" bIns="73152"/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50" b="1" i="0">
                <ns1:solidFill>
                  <ns1:srgbClr val="224E91"/>
                </ns1:solidFill>
                <ns1:latin typeface="Arial"/>
                <ns1:ea typeface="黑体"/>
                <ns1:cs typeface="Arial"/>
              </ns1:defRPr>
            </ns1:pPr>
            <ns1:r>
              <ns1:t>Apply now</ns1:t>
            </ns1:r>
          </ns1:p>
          <ns1:p>
            <ns1:pPr algn="l">
              <ns1:spcBef>
                <ns1:spcPts val="0"/>
              </ns1:spcBef>
              <ns1:spcAft>
                <ns1:spcPts val="0"/>
              </ns1:spcAft>
              <ns1:defRPr sz="1260" b="0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投资时看谁更容易吃到 installed base 与 bundle engine。产品决策时看谁更顺着用户任务和现有流程演进。平台决策时看谁能更快拉齐 complementors 与渠道。</ns1:t>
            </ns1:r>
          </ns1:p>
        </ns0:txBody>
      </ns0:sp>
      <ns0:sp>
        <ns0:nvSpPr>
          <ns0:cNvPr id="37" name="TextBox 36"/>
          <ns0:cNvSpPr txBox="1"/>
          <ns0:nvPr/>
        </ns0:nvSpPr>
        <ns0:spPr>
          <ns1:xfrm>
            <ns1:off x="713232" y="7754112"/>
            <ns1:ext cx="12527280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50" b="0" i="0">
                <ns1:solidFill>
                  <ns1:srgbClr val="8C877E"/>
                </ns1:solidFill>
                <ns1:latin typeface="Arial"/>
                <ns1:ea typeface="黑体"/>
                <ns1:cs typeface="Arial"/>
              </ns1:defRPr>
            </ns1:pPr>
            <ns1:r>
              <ns1:t>这一页是整套 deck 的方法论出口：它把历史故事转成了今天可直接执行的管理问题。</ns1:t>
            </ns1:r>
          </ns1:p>
        </ns0:txBody>
      </ns0:sp>
    </ns0:spTree>
  </ns0:cSld>
  <ns0:clrMapOvr>
    <ns1:masterClrMapping/>
  </ns0:clrMapOvr>
</ns0:sld>
</file>

<file path=ppt/slides/slide1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Oval 1"/>
          <ns0:cNvSpPr/>
          <ns0:nvPr/>
        </ns0:nvSpPr>
        <ns0:spPr>
          <ns1:xfrm>
            <ns1:off x="-731520" y="4389120"/>
            <ns1:ext cx="3657600" cy="3657600"/>
          </ns1:xfrm>
          <ns1:prstGeom prst="ellipse">
            <ns1:avLst/>
          </ns1:prstGeom>
          <ns1:solidFill>
            <ns1:srgbClr val="ECD0C1"/>
          </ns1:solidFill>
          <ns1:ln>
            <ns1:solidFill>
              <ns1:srgbClr val="ECD0C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Oval 2"/>
          <ns0:cNvSpPr/>
          <ns0:nvPr/>
        </ns0:nvSpPr>
        <ns0:spPr>
          <ns1:xfrm>
            <ns1:off x="10241280" y="-274320"/>
            <ns1:ext cx="4572000" cy="4572000"/>
          </ns1:xfrm>
          <ns1:prstGeom prst="ellipse">
            <ns1:avLst/>
          </ns1:prstGeom>
          <ns1:solidFill>
            <ns1:srgbClr val="C6D1E2"/>
          </ns1:solidFill>
          <ns1:ln>
            <ns1:solidFill>
              <ns1:srgbClr val="C6D1E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713232" y="402336"/>
            <ns1:ext cx="1207008" cy="219456"/>
          </ns1:xfrm>
          <ns1:prstGeom prst="roundRect">
            <ns1:avLst/>
          </ns1:prstGeom>
          <ns1:solidFill>
            <ns1:srgbClr val="BE612F"/>
          </ns1:solidFill>
          <ns1:ln w="10160">
            <ns1:solidFill>
              <ns1:srgbClr val="BE612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36576" rIns="36576" tIns="0" bIns="0"/>
          <ns1:lstStyle/>
          <ns1:p>
            <ns1:pPr algn="ctr">
              <ns1:spcBef>
                <ns1:spcPts val="0"/>
              </ns1:spcBef>
              <ns1:spcAft>
                <ns1:spcPts val="0"/>
              </ns1:spcAft>
              <ns1:defRPr sz="1050" b="1" i="0">
                <ns1:solidFill>
                  <ns1:srgbClr val="FFFFFF"/>
                </ns1:solidFill>
                <ns1:latin typeface="Arial"/>
                <ns1:ea typeface="黑体"/>
                <ns1:cs typeface="Arial"/>
              </ns1:defRPr>
            </ns1:pPr>
            <ns1:r>
              <ns1:t>Closing Statement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713232" y="1078992"/>
            <ns1:ext cx="8321040" cy="1133856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29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更好的技术，</ns1:t>
            </ns1:r>
          </ns1:p>
          <ns1:p>
            <ns1:pPr algn="l">
              <ns1:spcBef>
                <ns1:spcPts val="0"/>
              </ns1:spcBef>
              <ns1:spcAft>
                <ns1:spcPts val="0"/>
              </ns1:spcAft>
              <ns1:defRPr sz="29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只有在它同时更容易被一起采用时，</ns1:t>
            </ns1:r>
          </ns1:p>
          <ns1:p>
            <ns1:pPr algn="l">
              <ns1:spcBef>
                <ns1:spcPts val="0"/>
              </ns1:spcBef>
              <ns1:spcAft>
                <ns1:spcPts val="0"/>
              </ns1:spcAft>
              <ns1:defRPr sz="29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才更可能成为标准。</ns1:t>
            </ns1:r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713232" y="2852928"/>
            <ns1:ext cx="8046720" cy="42062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550" b="1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市场不奖励孤立的技术优雅，市场奖励被整个生态低风险采纳的能力。</ns1:t>
            </ns1:r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8595360" y="1225296"/>
            <ns1:ext cx="4590288" cy="1408176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3947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8" name="Rounded Rectangle 7"/>
          <ns0:cNvSpPr/>
          <ns0:nvPr/>
        </ns0:nvSpPr>
        <ns0:spPr>
          <ns1:xfrm>
            <ns1:off x="8595360" y="1225296"/>
            <ns1:ext cx="73152" cy="1408176"/>
          </ns1:xfrm>
          <ns1:prstGeom prst="roundRect">
            <ns1:avLst/>
          </ns1:prstGeom>
          <ns1:solidFill>
            <ns1:srgbClr val="BE612F"/>
          </ns1:solidFill>
          <ns1:ln>
            <ns1:solidFill>
              <ns1:srgbClr val="BE612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9" name="Picture 8" descr="presentation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8759952" y="1389888"/>
            <ns1:ext cx="256032" cy="256032"/>
          </ns1:xfrm>
          <ns1:prstGeom prst="rect">
            <ns1:avLst/>
          </ns1:prstGeom>
        </ns0:spPr>
      </ns0:pic>
      <ns0:sp>
        <ns0:nvSpPr>
          <ns0:cNvPr id="10" name="TextBox 9"/>
          <ns0:cNvSpPr txBox="1"/>
          <ns0:nvPr/>
        </ns0:nvSpPr>
        <ns0:spPr>
          <ns1:xfrm>
            <ns1:off x="9070848" y="1362456"/>
            <ns1:ext cx="3950207" cy="14630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50" b="1" i="0">
                <ns1:solidFill>
                  <ns1:srgbClr val="BE612F"/>
                </ns1:solidFill>
                <ns1:latin typeface="Arial"/>
                <ns1:ea typeface="黑体"/>
                <ns1:cs typeface="Arial"/>
              </ns1:defRPr>
            </ns1:pPr>
            <ns1:r>
              <ns1:t>CLAIM 1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8759952" y="1664208"/>
            <ns1:ext cx="4297679" cy="201168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4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任务匹配与联盟速度会压过峰值规格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8759952" y="1938528"/>
            <ns1:ext cx="4297679" cy="585216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5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Betamax vs VHS 把第一条 claim 坐实：市场先为主流任务与阵营扩张投票。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8778240" y="2834640"/>
            <ns1:ext cx="4407408" cy="1408176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6987B4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8778240" y="2834640"/>
            <ns1:ext cx="73152" cy="1408176"/>
          </ns1:xfrm>
          <ns1:prstGeom prst="roundRect">
            <ns1:avLst/>
          </ns1:prstGeom>
          <ns1:solidFill>
            <ns1:srgbClr val="224E91"/>
          </ns1:solidFill>
          <ns1:ln>
            <ns1:solidFill>
              <ns1:srgbClr val="224E9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15" name="Picture 14" descr="briefcase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8942832" y="2999232"/>
            <ns1:ext cx="256032" cy="256032"/>
          </ns1:xfrm>
          <ns1:prstGeom prst="rect">
            <ns1:avLst/>
          </ns1:prstGeom>
        </ns0:spPr>
      </ns0:pic>
      <ns0:sp>
        <ns0:nvSpPr>
          <ns0:cNvPr id="16" name="TextBox 15"/>
          <ns0:cNvSpPr txBox="1"/>
          <ns0:nvPr/>
        </ns0:nvSpPr>
        <ns0:spPr>
          <ns1:xfrm>
            <ns1:off x="9253728" y="2971800"/>
            <ns1:ext cx="3767328" cy="14630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50" b="1" i="0">
                <ns1:solidFill>
                  <ns1:srgbClr val="224E91"/>
                </ns1:solidFill>
                <ns1:latin typeface="Arial"/>
                <ns1:ea typeface="黑体"/>
                <ns1:cs typeface="Arial"/>
              </ns1:defRPr>
            </ns1:pPr>
            <ns1:r>
              <ns1:t>CLAIM 2</ns1:t>
            </ns1:r>
          </ns1:p>
        </ns0:txBody>
      </ns0:sp>
      <ns0:sp>
        <ns0:nvSpPr>
          <ns0:cNvPr id="17" name="TextBox 16"/>
          <ns0:cNvSpPr txBox="1"/>
          <ns0:nvPr/>
        </ns0:nvSpPr>
        <ns0:spPr>
          <ns1:xfrm>
            <ns1:off x="8942832" y="3273552"/>
            <ns1:ext cx="4114800" cy="201168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4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先跑起来并得到反馈的体系会定义现实</ns1:t>
            </ns1:r>
          </ns1:p>
        </ns0:txBody>
      </ns0:sp>
      <ns0:sp>
        <ns0:nvSpPr>
          <ns0:cNvPr id="18" name="TextBox 17"/>
          <ns0:cNvSpPr txBox="1"/>
          <ns0:nvPr/>
        </ns0:nvSpPr>
        <ns0:spPr>
          <ns1:xfrm>
            <ns1:off x="8942832" y="3547872"/>
            <ns1:ext cx="4114800" cy="585216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5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OSI vs TCP/IP 把第二条 claim 坐实：deployment loop 比理论完整性更早决定 adoption。</ns1:t>
            </ns1:r>
          </ns1:p>
        </ns0:txBody>
      </ns0:sp>
      <ns0:sp>
        <ns0:nvSpPr>
          <ns0:cNvPr id="19" name="Rounded Rectangle 18"/>
          <ns0:cNvSpPr/>
          <ns0:nvPr/>
        </ns0:nvSpPr>
        <ns0:spPr>
          <ns1:xfrm>
            <ns1:off x="8595360" y="4443984"/>
            <ns1:ext cx="4590288" cy="1408176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809C90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0" name="Rounded Rectangle 19"/>
          <ns0:cNvSpPr/>
          <ns0:nvPr/>
        </ns0:nvSpPr>
        <ns0:spPr>
          <ns1:xfrm>
            <ns1:off x="8595360" y="4443984"/>
            <ns1:ext cx="73152" cy="1408176"/>
          </ns1:xfrm>
          <ns1:prstGeom prst="roundRect">
            <ns1:avLst/>
          </ns1:prstGeom>
          <ns1:solidFill>
            <ns1:srgbClr val="446D5C"/>
          </ns1:solidFill>
          <ns1:ln>
            <ns1:solidFill>
              <ns1:srgbClr val="446D5C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21" name="Picture 20" descr="network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8759952" y="4608576"/>
            <ns1:ext cx="256032" cy="256032"/>
          </ns1:xfrm>
          <ns1:prstGeom prst="rect">
            <ns1:avLst/>
          </ns1:prstGeom>
        </ns0:spPr>
      </ns0:pic>
      <ns0:sp>
        <ns0:nvSpPr>
          <ns0:cNvPr id="22" name="TextBox 21"/>
          <ns0:cNvSpPr txBox="1"/>
          <ns0:nvPr/>
        </ns0:nvSpPr>
        <ns0:spPr>
          <ns1:xfrm>
            <ns1:off x="9070848" y="4581144"/>
            <ns1:ext cx="3950207" cy="14630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50" b="1" i="0">
                <ns1:solidFill>
                  <ns1:srgbClr val="446D5C"/>
                </ns1:solidFill>
                <ns1:latin typeface="Arial"/>
                <ns1:ea typeface="黑体"/>
                <ns1:cs typeface="Arial"/>
              </ns1:defRPr>
            </ns1:pPr>
            <ns1:r>
              <ns1:t>CLAIM 3</ns1:t>
            </ns1:r>
          </ns1:p>
        </ns0:txBody>
      </ns0:sp>
      <ns0:sp>
        <ns0:nvSpPr>
          <ns0:cNvPr id="23" name="TextBox 22"/>
          <ns0:cNvSpPr txBox="1"/>
          <ns0:nvPr/>
        </ns0:nvSpPr>
        <ns0:spPr>
          <ns1:xfrm>
            <ns1:off x="8759952" y="4882896"/>
            <ns1:ext cx="4297679" cy="201168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400" b="1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补充品与 bundle 会在不透明市场替用户下注</ns1:t>
            </ns1:r>
          </ns1:p>
        </ns0:txBody>
      </ns0:sp>
      <ns0:sp>
        <ns0:nvSpPr>
          <ns0:cNvPr id="24" name="TextBox 23"/>
          <ns0:cNvSpPr txBox="1"/>
          <ns0:nvPr/>
        </ns0:nvSpPr>
        <ns0:spPr>
          <ns1:xfrm>
            <ns1:off x="8759952" y="5157216"/>
            <ns1:ext cx="4297679" cy="585216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150" b="0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Blu-ray vs HD DVD 把第三条 claim 坐实：联盟、默认装机与预期会替用户判断。</ns1:t>
            </ns1:r>
          </ns1:p>
        </ns0:txBody>
      </ns0:sp>
      <ns0:sp>
        <ns0:nvSpPr>
          <ns0:cNvPr id="25" name="TextBox 24"/>
          <ns0:cNvSpPr txBox="1"/>
          <ns0:nvPr/>
        </ns0:nvSpPr>
        <ns0:spPr>
          <ns1:xfrm>
            <ns1:off x="713232" y="4828032"/>
            <ns1:ext cx="7132320" cy="1115568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250" b="1" i="0">
                <ns1:solidFill>
                  <ns1:srgbClr val="595E65"/>
                </ns1:solidFill>
                <ns1:latin typeface="Arial"/>
                <ns1:ea typeface="黑体"/>
                <ns1:cs typeface="Arial"/>
              </ns1:defRPr>
            </ns1:pPr>
            <ns1:r>
              <ns1:t>三条 claim 给出的共同答案是：</ns1:t>
            </ns1:r>
          </ns1:p>
          <ns1:p>
            <ns1:pPr algn="l">
              <ns1:spcBef>
                <ns1:spcPts val="0"/>
              </ns1:spcBef>
              <ns1:spcAft>
                <ns1:spcPts val="0"/>
              </ns1:spcAft>
              <ns1:defRPr sz="1320" b="0" i="0">
                <ns1:solidFill>
                  <ns1:srgbClr val="151C25"/>
                </ns1:solidFill>
                <ns1:latin typeface="Arial"/>
                <ns1:ea typeface="黑体"/>
                <ns1:cs typeface="Arial"/>
              </ns1:defRPr>
            </ns1:pPr>
            <ns1:r>
              <ns1:t>如果你只能记住一句话，就记住 deck 开头那句总论点。它不是修辞，它是三条 claim 共同指向的市场判断公式。</ns1:t>
            </ns1:r>
          </ns1:p>
        </ns0:txBody>
      </ns0:sp>
      <ns0:sp>
        <ns0:nvSpPr>
          <ns0:cNvPr id="26" name="TextBox 25"/>
          <ns0:cNvSpPr txBox="1"/>
          <ns0:nvPr/>
        </ns0:nvSpPr>
        <ns0:spPr>
          <ns1:xfrm>
            <ns1:off x="713232" y="7754112"/>
            <ns1:ext cx="12527280" cy="164592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  <ns1:defRPr sz="1050" b="0" i="0">
                <ns1:solidFill>
                  <ns1:srgbClr val="8C877E"/>
                </ns1:solidFill>
                <ns1:latin typeface="Arial"/>
                <ns1:ea typeface="黑体"/>
                <ns1:cs typeface="Arial"/>
              </ns1:defRPr>
            </ns1:pPr>
            <ns1:r>
              <ns1:t>End state: 规格表只是开始，生态采纳能力才是标准战的真正结算项。</ns1:t>
            </ns1:r>
          </ns1:p>
        </ns0:txBody>
      </ns0:sp>
      <ns0:sp>
        <ns0:nvSpPr>
          <ns0:cNvPr id="27" name="TextBox 26"/>
          <ns0:cNvSpPr txBox="1"/>
          <ns0:nvPr/>
        </ns0:nvSpPr>
        <ns0:spPr>
          <ns1:xfrm>
            <ns1:off x="13405104" y="7772400"/>
            <ns1:ext cx="438912" cy="146304"/>
          </ns1:xfrm>
          <ns1:prstGeom prst="rect">
            <ns1:avLst/>
          </ns1:prstGeom>
          <ns1:noFill/>
        </ns0:spPr>
        <ns0:txBody>
          <ns1:bodyPr wrap="square" lIns="18288" rIns="18288" tIns="0" bIns="0" anchor="t">
            <ns1:spAutoFit/>
          </ns1:bodyPr>
          <ns1:lstStyle/>
          <ns1:p>
            <ns1:pPr algn="r">
              <ns1:spcBef>
                <ns1:spcPts val="0"/>
              </ns1:spcBef>
              <ns1:spcAft>
                <ns1:spcPts val="0"/>
              </ns1:spcAft>
              <ns1:defRPr sz="1000" b="1" i="0">
                <ns1:solidFill>
                  <ns1:srgbClr val="8C877E"/>
                </ns1:solidFill>
                <ns1:latin typeface="Arial"/>
                <ns1:ea typeface="黑体"/>
                <ns1:cs typeface="Arial"/>
              </ns1:defRPr>
            </ns1:pPr>
            <ns1:r>
              <ns1:t>S12</ns1:t>
            </ns1:r>
          </ns1:p>
        </ns0:txBody>
      </ns0:sp>
    </ns0:spTree>
  </ns0:cSld>
  <ns0:clrMapOvr>
    <ns1:masterClrMapping/>
  </ns0:clrMapOvr>
</ns0:sld>
</file>

<file path=ppt/theme/theme1.xml><?xml version="1.0" encoding="utf-8"?>
<ns0:theme xmlns:ns0="http://schemas.openxmlformats.org/drawingml/2006/main" name="Office Theme">
  <ns0:themeElements>
    <ns0:clrScheme name="Office">
      <ns0:dk1>
        <ns0:sysClr val="windowText" lastClr="000000"/>
      </ns0:dk1>
      <ns0:lt1>
        <ns0:sysClr val="window" lastClr="FFFFFF"/>
      </ns0:lt1>
      <ns0:dk2>
        <ns0:srgbClr val="1F497D"/>
      </ns0:dk2>
      <ns0:lt2>
        <ns0:srgbClr val="EEECE1"/>
      </ns0:lt2>
      <ns0:accent1>
        <ns0:srgbClr val="4F81BD"/>
      </ns0:accent1>
      <ns0:accent2>
        <ns0:srgbClr val="C0504D"/>
      </ns0:accent2>
      <ns0:accent3>
        <ns0:srgbClr val="9BBB59"/>
      </ns0:accent3>
      <ns0:accent4>
        <ns0:srgbClr val="8064A2"/>
      </ns0:accent4>
      <ns0:accent5>
        <ns0:srgbClr val="4BACC6"/>
      </ns0:accent5>
      <ns0:accent6>
        <ns0:srgbClr val="F79646"/>
      </ns0:accent6>
      <ns0:hlink>
        <ns0:srgbClr val="0000FF"/>
      </ns0:hlink>
      <ns0:folHlink>
        <ns0:srgbClr val="800080"/>
      </ns0:folHlink>
    </ns0:clrScheme>
    <ns0:fontScheme name="Office">
      <ns0:majorFont>
        <ns0:latin typeface="Arial"/>
        <ns0:ea typeface="黑体"/>
        <ns0:cs typeface="Arial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Arial"/>
        <ns0:ea typeface="黑体"/>
        <ns0:cs typeface="Arial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50000"/>
                <ns0:satMod val="300000"/>
              </ns0:schemeClr>
            </ns0:gs>
            <ns0:gs pos="35000">
              <ns0:schemeClr val="phClr">
                <ns0:tint val="37000"/>
                <ns0:satMod val="300000"/>
              </ns0:schemeClr>
            </ns0:gs>
            <ns0:gs pos="100000">
              <ns0:schemeClr val="phClr">
                <ns0:tint val="15000"/>
                <ns0:satMod val="350000"/>
              </ns0:schemeClr>
            </ns0:gs>
          </ns0:gsLst>
          <ns0:lin ang="16200000" scaled="1"/>
        </ns0:gradFill>
        <ns0:gradFill rotWithShape="1">
          <ns0:gsLst>
            <ns0:gs pos="0">
              <ns0:schemeClr val="phClr">
                <ns0:tint val="100000"/>
                <ns0:shade val="100000"/>
                <ns0:satMod val="130000"/>
              </ns0:schemeClr>
            </ns0:gs>
            <ns0:gs pos="100000">
              <ns0:schemeClr val="phClr">
                <ns0:tint val="50000"/>
                <ns0:shade val="100000"/>
                <ns0:satMod val="350000"/>
              </ns0:schemeClr>
            </ns0:gs>
          </ns0:gsLst>
          <ns0:lin ang="16200000" scaled="0"/>
        </ns0:gradFill>
      </ns0:fillStyleLst>
      <ns0:lnStyleLst>
        <ns0:ln w="9525" cap="flat" cmpd="sng" algn="ctr">
          <ns0:solidFill>
            <ns0:schemeClr val="phClr">
              <ns0:shade val="95000"/>
              <ns0:satMod val="105000"/>
            </ns0:schemeClr>
          </ns0:solidFill>
          <ns0:prstDash val="solid"/>
        </ns0:ln>
        <ns0:ln w="25400" cap="flat" cmpd="sng" algn="ctr">
          <ns0:solidFill>
            <ns0:schemeClr val="phClr"/>
          </ns0:solidFill>
          <ns0:prstDash val="solid"/>
        </ns0:ln>
        <ns0:ln w="38100" cap="flat" cmpd="sng" algn="ctr">
          <ns0:solidFill>
            <ns0:schemeClr val="phClr"/>
          </ns0:solidFill>
          <ns0:prstDash val="solid"/>
        </ns0:ln>
      </ns0:lnStyleLst>
      <ns0:effectStyleLst>
        <ns0:effectStyle>
          <ns0:effectLst>
            <ns0:outerShdw blurRad="40000" dist="20000" dir="5400000" rotWithShape="0">
              <ns0:srgbClr val="000000">
                <ns0:alpha val="38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  <ns0:scene3d>
            <ns0:camera prst="orthographicFront">
              <ns0:rot lat="0" lon="0" rev="0"/>
            </ns0:camera>
            <ns0:lightRig rig="threePt" dir="t">
              <ns0:rot lat="0" lon="0" rev="1200000"/>
            </ns0:lightRig>
          </ns0:scene3d>
          <ns0:sp3d>
            <ns0:bevelT w="63500" h="25400"/>
          </ns0:sp3d>
        </ns0:effectStyle>
      </ns0:effectStyleLst>
      <ns0:bgFillStyleLst>
        <ns0:solidFill>
          <ns0:schemeClr val="phClr"/>
        </ns0:solidFill>
        <ns0:gradFill rotWithShape="1">
          <ns0:gsLst>
            <ns0:gs pos="0">
              <ns0:schemeClr val="phClr">
                <ns0:tint val="40000"/>
                <ns0:satMod val="350000"/>
              </ns0:schemeClr>
            </ns0:gs>
            <ns0:gs pos="40000">
              <ns0:schemeClr val="phClr">
                <ns0:tint val="45000"/>
                <ns0:shade val="99000"/>
                <ns0:satMod val="350000"/>
              </ns0:schemeClr>
            </ns0:gs>
            <ns0:gs pos="100000">
              <ns0:schemeClr val="phClr">
                <ns0:shade val="20000"/>
                <ns0:satMod val="255000"/>
              </ns0:schemeClr>
            </ns0:gs>
          </ns0:gsLst>
          <ns0:path path="circle">
            <ns0:fillToRect l="50000" t="-80000" r="50000" b="180000"/>
          </ns0:path>
        </ns0:gradFill>
        <ns0:gradFill rotWithShape="1">
          <ns0:gsLst>
            <ns0:gs pos="0">
              <ns0:schemeClr val="phClr">
                <ns0:tint val="80000"/>
                <ns0:satMod val="300000"/>
              </ns0:schemeClr>
            </ns0:gs>
            <ns0:gs pos="100000">
              <ns0:schemeClr val="phClr">
                <ns0:shade val="30000"/>
                <ns0:satMod val="200000"/>
              </ns0:schemeClr>
            </ns0:gs>
          </ns0:gsLst>
          <ns0:path path="circle">
            <ns0:fillToRect l="50000" t="50000" r="50000" b="50000"/>
          </ns0:path>
        </ns0:gradFill>
      </ns0:bgFillStyleLst>
    </ns0:fmtScheme>
  </ns0:themeElements>
  <ns0:objectDefaults>
    <ns0:spDef>
      <ns0:spPr/>
      <ns0:bodyPr/>
      <ns0:lstStyle/>
      <ns0:style>
        <ns0:lnRef idx="1">
          <ns0:schemeClr val="accent1"/>
        </ns0:lnRef>
        <ns0:fillRef idx="3">
          <ns0:schemeClr val="accent1"/>
        </ns0:fillRef>
        <ns0:effectRef idx="2">
          <ns0:schemeClr val="accent1"/>
        </ns0:effectRef>
        <ns0:fontRef idx="minor">
          <ns0:schemeClr val="lt1"/>
        </ns0:fontRef>
      </ns0:style>
    </ns0:spDef>
    <ns0:lnDef>
      <ns0:spPr/>
      <ns0:bodyPr/>
      <ns0:lstStyle/>
      <ns0:style>
        <ns0:lnRef idx="2">
          <ns0:schemeClr val="accent1"/>
        </ns0:lnRef>
        <ns0:fillRef idx="0">
          <ns0:schemeClr val="accent1"/>
        </ns0:fillRef>
        <ns0:effectRef idx="1">
          <ns0:schemeClr val="accent1"/>
        </ns0:effectRef>
        <ns0:fontRef idx="minor">
          <ns0:schemeClr val="tx1"/>
        </ns0:fontRef>
      </ns0:style>
    </ns0:lnDef>
  </ns0:objectDefaults>
  <ns0:extraClrSchemeLst/>
</ns0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