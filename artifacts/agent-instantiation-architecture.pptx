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2c38936f20c45ea" /><Relationship Type="http://schemas.openxmlformats.org/officeDocument/2006/relationships/extended-properties" Target="/docProps/app.xml" Id="R66fc594d4ac6446c" /><Relationship Type="http://schemas.openxmlformats.org/officeDocument/2006/relationships/officeDocument" Target="/ppt/presentation.xml" Id="Rad6455bb6cd3455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0f4a1fa78b54f1a"/>
  </p:sldMasterIdLst>
  <p:notesMasterIdLst>
    <p:notesMasterId xmlns:r="http://schemas.openxmlformats.org/officeDocument/2006/relationships" r:id="R7d20e934a78d4161"/>
  </p:notesMasterIdLst>
  <p:sldIdLst>
    <p:sldId xmlns:r="http://schemas.openxmlformats.org/officeDocument/2006/relationships" id="256" r:id="R5381bbe5cd8e4af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d946a5ca889472e" /><Relationship Type="http://schemas.openxmlformats.org/officeDocument/2006/relationships/slideMaster" Target="/ppt/slideMasters/slideMaster1.xml" Id="Rd0f4a1fa78b54f1a" /><Relationship Type="http://schemas.openxmlformats.org/officeDocument/2006/relationships/notesMaster" Target="/ppt/notesMasters/notesMaster1.xml" Id="R7d20e934a78d4161" /><Relationship Type="http://schemas.openxmlformats.org/officeDocument/2006/relationships/presProps" Target="/ppt/presProps.xml" Id="R8cf0e03e8ef44b32" /><Relationship Type="http://schemas.openxmlformats.org/officeDocument/2006/relationships/tableStyles" Target="/ppt/tableStyles.xml" Id="Rcf253a80594a4227" /><Relationship Type="http://schemas.openxmlformats.org/officeDocument/2006/relationships/slide" Target="/ppt/slides/slide1.xml" Id="R5381bbe5cd8e4af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2c6bcff6d73498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aa3932c740d4673" /><Relationship Type="http://schemas.openxmlformats.org/officeDocument/2006/relationships/notesMaster" Target="/ppt/notesMasters/notesMaster1.xml" Id="R942ecf7faba7494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1f495aba8340a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f7794b5710c426d" /><Relationship Type="http://schemas.openxmlformats.org/officeDocument/2006/relationships/slideLayout" Target="/ppt/slideLayouts/slideLayout1.xml" Id="R115f3e31de594cc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15f3e31de594cc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643f1368324994" /><Relationship Type="http://schemas.openxmlformats.org/officeDocument/2006/relationships/notesSlide" Target="/ppt/notesSlides/notesSlide1.xml" Id="R7b23b7060a6c46e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eyebrow">
            <a:extLst xmlns:a="http://schemas.openxmlformats.org/drawingml/2006/main">
              <a:ext uri="{FF2B5EF4-FFF2-40B4-BE49-F238E27FC236}">
                <a16:creationId xmlns:a16="http://schemas.microsoft.com/office/drawing/2014/main" id="{FF993A1A-265B-45BD-95F5-D01C7FAEA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1">
                <a:solidFill>
                  <a:srgbClr val="64748B"/>
                </a:solidFill>
              </a:defRPr>
            </a:pPr>
            <a:r>
              <a:rPr sz="1050" b="1">
                <a:solidFill>
                  <a:srgbClr val="64748B"/>
                </a:solidFill>
              </a:rPr>
              <a:t>OpenDrSai · 桌面端</a:t>
            </a:r>
          </a:p>
        </p:txBody>
      </p:sp>
      <p:sp>
        <p:nvSpPr>
          <p:cNvPr id="2" name="deck-title">
            <a:extLst xmlns:a="http://schemas.openxmlformats.org/drawingml/2006/main">
              <a:ext uri="{FF2B5EF4-FFF2-40B4-BE49-F238E27FC236}">
                <a16:creationId xmlns:a16="http://schemas.microsoft.com/office/drawing/2014/main" id="{BF143D38-616F-487B-8FF5-03093C6B6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666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700" b="1">
                <a:solidFill>
                  <a:srgbClr val="0F172A"/>
                </a:solidFill>
              </a:defRPr>
            </a:pPr>
            <a:r>
              <a:rPr sz="2700" b="1">
                <a:solidFill>
                  <a:srgbClr val="0F172A"/>
                </a:solidFill>
              </a:rPr>
              <a:t>智能体实例化与启动架构</a:t>
            </a:r>
          </a:p>
        </p:txBody>
      </p:sp>
      <p:sp>
        <p:nvSpPr>
          <p:cNvPr id="3" name="deck-subtitle">
            <a:extLst xmlns:a="http://schemas.openxmlformats.org/drawingml/2006/main">
              <a:ext uri="{FF2B5EF4-FFF2-40B4-BE49-F238E27FC236}">
                <a16:creationId xmlns:a16="http://schemas.microsoft.com/office/drawing/2014/main" id="{AD0C6398-FBAD-40B2-9AE0-370560859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从 Electron 进程到 new DrSaiAssistant() 的一次完整链路</a:t>
            </a:r>
          </a:p>
        </p:txBody>
      </p:sp>
      <p:sp>
        <p:nvSpPr>
          <p:cNvPr id="4" name="headline-note">
            <a:extLst xmlns:a="http://schemas.openxmlformats.org/drawingml/2006/main">
              <a:ext uri="{FF2B5EF4-FFF2-40B4-BE49-F238E27FC236}">
                <a16:creationId xmlns:a16="http://schemas.microsoft.com/office/drawing/2014/main" id="{487BD535-A7A3-4D6D-A4C5-6C30C4932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71500"/>
            <a:ext cx="41529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40000"/>
              </a:lnSpc>
              <a:buNone/>
              <a:defRPr sz="1050" b="1">
                <a:solidFill>
                  <a:srgbClr val="0F172A"/>
                </a:solidFill>
              </a:defRPr>
            </a:pPr>
            <a:r>
              <a:rPr sz="1050" b="1">
                <a:solidFill>
                  <a:srgbClr val="0F172A"/>
                </a:solidFill>
              </a:rPr>
              <a:t>进程内复用 + 按会话懒实例化：</a:t>
            </a:r>
          </a:p>
          <a:p xmlns:a="http://schemas.openxmlformats.org/drawingml/2006/main">
            <a:pPr algn="r">
              <a:lnSpc>
                <a:spcPct val="140000"/>
              </a:lnSpc>
              <a:buNone/>
              <a:defRPr sz="1050" b="1">
                <a:solidFill>
                  <a:srgbClr val="0F172A"/>
                </a:solidFill>
              </a:defRPr>
            </a:pPr>
            <a:r>
              <a:rPr sz="1050" b="1">
                <a:solidFill>
                  <a:srgbClr val="0F172A"/>
                </a:solidFill>
              </a:rPr>
              <a:t>真正的生命周期由 DesktopAgentManager 缓存决定，而不是 HTTP 请求。</a:t>
            </a:r>
          </a:p>
        </p:txBody>
      </p:sp>
      <p:sp>
        <p:nvSpPr>
          <p:cNvPr id="5" name="lane-bg-1">
            <a:extLst xmlns:a="http://schemas.openxmlformats.org/drawingml/2006/main">
              <a:ext uri="{FF2B5EF4-FFF2-40B4-BE49-F238E27FC236}">
                <a16:creationId xmlns:a16="http://schemas.microsoft.com/office/drawing/2014/main" id="{5BF2E77A-1E95-4508-AE64-963EFAB09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9728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" name="lane-badge-1">
            <a:extLst xmlns:a="http://schemas.openxmlformats.org/drawingml/2006/main">
              <a:ext uri="{FF2B5EF4-FFF2-40B4-BE49-F238E27FC236}">
                <a16:creationId xmlns:a16="http://schemas.microsoft.com/office/drawing/2014/main" id="{83E6C805-C71A-41D1-9E13-100C84F81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lane-stage-1">
            <a:extLst xmlns:a="http://schemas.openxmlformats.org/drawingml/2006/main">
              <a:ext uri="{FF2B5EF4-FFF2-40B4-BE49-F238E27FC236}">
                <a16:creationId xmlns:a16="http://schemas.microsoft.com/office/drawing/2014/main" id="{86355FCD-7D6A-490A-9699-902A5545C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619250"/>
            <a:ext cx="1485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1">
                <a:solidFill>
                  <a:srgbClr val="0F172A"/>
                </a:solidFill>
              </a:defRPr>
            </a:pPr>
            <a:r>
              <a:rPr sz="1200" b="1">
                <a:solidFill>
                  <a:srgbClr val="0F172A"/>
                </a:solidFill>
              </a:rPr>
              <a:t>Electron 主进程</a:t>
            </a:r>
          </a:p>
        </p:txBody>
      </p:sp>
      <p:sp>
        <p:nvSpPr>
          <p:cNvPr id="8" name="lane-path-1">
            <a:extLst xmlns:a="http://schemas.openxmlformats.org/drawingml/2006/main">
              <a:ext uri="{FF2B5EF4-FFF2-40B4-BE49-F238E27FC236}">
                <a16:creationId xmlns:a16="http://schemas.microsoft.com/office/drawing/2014/main" id="{B0AC289E-74F6-45B8-B3DA-B6087C277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885950"/>
            <a:ext cx="1504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788" b="0">
                <a:solidFill>
                  <a:srgbClr val="64748B"/>
                </a:solidFill>
              </a:defRPr>
            </a:pPr>
            <a:r>
              <a:rPr sz="788" b="0">
                <a:solidFill>
                  <a:srgbClr val="64748B"/>
                </a:solidFill>
              </a:rPr>
              <a:t>shared/main/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788" b="0">
                <a:solidFill>
                  <a:srgbClr val="64748B"/>
                </a:solidFill>
              </a:defRPr>
            </a:pPr>
            <a:r>
              <a:rPr sz="788" b="0">
                <a:solidFill>
                  <a:srgbClr val="64748B"/>
                </a:solidFill>
              </a:rPr>
              <a:t>gateway.ts</a:t>
            </a:r>
          </a:p>
        </p:txBody>
      </p:sp>
      <p:sp>
        <p:nvSpPr>
          <p:cNvPr id="9" name="lane-desc-1">
            <a:extLst xmlns:a="http://schemas.openxmlformats.org/drawingml/2006/main">
              <a:ext uri="{FF2B5EF4-FFF2-40B4-BE49-F238E27FC236}">
                <a16:creationId xmlns:a16="http://schemas.microsoft.com/office/drawing/2014/main" id="{243DA079-F8A1-49C9-BA78-2D2F97509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163830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38" b="0">
                <a:solidFill>
                  <a:srgbClr val="334155"/>
                </a:solidFill>
              </a:defRPr>
            </a:pPr>
            <a:r>
              <a:rPr sz="938" b="0">
                <a:solidFill>
                  <a:srgbClr val="334155"/>
                </a:solidFill>
              </a:rPr>
              <a:t>spawn(GATEWAY_PYTHON, ["-m","drsai.backend.desktop_gateway"])，注入 DRSAI_HOME / 实例令牌 / 用户身份；/health 就绪后才放行 renderer。</a:t>
            </a:r>
          </a:p>
        </p:txBody>
      </p:sp>
      <p:sp>
        <p:nvSpPr>
          <p:cNvPr id="10" name="lane-bg-2">
            <a:extLst xmlns:a="http://schemas.openxmlformats.org/drawingml/2006/main">
              <a:ext uri="{FF2B5EF4-FFF2-40B4-BE49-F238E27FC236}">
                <a16:creationId xmlns:a16="http://schemas.microsoft.com/office/drawing/2014/main" id="{D73F3272-331C-454D-AF53-24DFAA722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109728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lane-badge-2">
            <a:extLst xmlns:a="http://schemas.openxmlformats.org/drawingml/2006/main">
              <a:ext uri="{FF2B5EF4-FFF2-40B4-BE49-F238E27FC236}">
                <a16:creationId xmlns:a16="http://schemas.microsoft.com/office/drawing/2014/main" id="{D1D01B03-017E-4B9A-BEE0-1A373BCC6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527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lane-stage-2">
            <a:extLst xmlns:a="http://schemas.openxmlformats.org/drawingml/2006/main">
              <a:ext uri="{FF2B5EF4-FFF2-40B4-BE49-F238E27FC236}">
                <a16:creationId xmlns:a16="http://schemas.microsoft.com/office/drawing/2014/main" id="{CBDE5329-7356-45AD-B5C9-FDBAE2826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457450"/>
            <a:ext cx="1485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1">
                <a:solidFill>
                  <a:srgbClr val="0F172A"/>
                </a:solidFill>
              </a:defRPr>
            </a:pPr>
            <a:r>
              <a:rPr sz="1200" b="1">
                <a:solidFill>
                  <a:srgbClr val="0F172A"/>
                </a:solidFill>
              </a:rPr>
              <a:t>Gateway 装配</a:t>
            </a:r>
          </a:p>
        </p:txBody>
      </p:sp>
      <p:sp>
        <p:nvSpPr>
          <p:cNvPr id="13" name="lane-path-2">
            <a:extLst xmlns:a="http://schemas.openxmlformats.org/drawingml/2006/main">
              <a:ext uri="{FF2B5EF4-FFF2-40B4-BE49-F238E27FC236}">
                <a16:creationId xmlns:a16="http://schemas.microsoft.com/office/drawing/2014/main" id="{47653410-6B57-4B97-86F9-7C41A8150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724150"/>
            <a:ext cx="1504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788" b="0">
                <a:solidFill>
                  <a:srgbClr val="64748B"/>
                </a:solidFill>
              </a:defRPr>
            </a:pPr>
            <a:r>
              <a:rPr sz="788" b="0">
                <a:solidFill>
                  <a:srgbClr val="64748B"/>
                </a:solidFill>
              </a:rPr>
              <a:t>desktop_gateway/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788" b="0">
                <a:solidFill>
                  <a:srgbClr val="64748B"/>
                </a:solidFill>
              </a:defRPr>
            </a:pPr>
            <a:r>
              <a:rPr sz="788" b="0">
                <a:solidFill>
                  <a:srgbClr val="64748B"/>
                </a:solidFill>
              </a:rPr>
              <a:t>app.py</a:t>
            </a:r>
          </a:p>
        </p:txBody>
      </p:sp>
      <p:sp>
        <p:nvSpPr>
          <p:cNvPr id="14" name="lane-desc-2">
            <a:extLst xmlns:a="http://schemas.openxmlformats.org/drawingml/2006/main">
              <a:ext uri="{FF2B5EF4-FFF2-40B4-BE49-F238E27FC236}">
                <a16:creationId xmlns:a16="http://schemas.microsoft.com/office/drawing/2014/main" id="{C6D501F0-7760-406A-83B8-EAC54E8E5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47650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38" b="0">
                <a:solidFill>
                  <a:srgbClr val="334155"/>
                </a:solidFill>
              </a:defRPr>
            </a:pPr>
            <a:r>
              <a:rPr sz="938" b="0">
                <a:solidFill>
                  <a:srgbClr val="334155"/>
                </a:solidFill>
              </a:rPr>
              <a:t>FastAPI + lifespan 播种运行配置；_auth.install(app)；ROUTERS 顺序被冻结以对齐 OpenAPI 快照。</a:t>
            </a:r>
          </a:p>
        </p:txBody>
      </p:sp>
      <p:sp>
        <p:nvSpPr>
          <p:cNvPr id="15" name="lane-bg-3">
            <a:extLst xmlns:a="http://schemas.openxmlformats.org/drawingml/2006/main">
              <a:ext uri="{FF2B5EF4-FFF2-40B4-BE49-F238E27FC236}">
                <a16:creationId xmlns:a16="http://schemas.microsoft.com/office/drawing/2014/main" id="{4C90C27D-B93A-4B46-8908-ED05A31AE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81350"/>
            <a:ext cx="109728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lane-badge-3">
            <a:extLst xmlns:a="http://schemas.openxmlformats.org/drawingml/2006/main">
              <a:ext uri="{FF2B5EF4-FFF2-40B4-BE49-F238E27FC236}">
                <a16:creationId xmlns:a16="http://schemas.microsoft.com/office/drawing/2014/main" id="{A28C7FB0-3BB8-443E-B9C8-E5621485D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909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lane-stage-3">
            <a:extLst xmlns:a="http://schemas.openxmlformats.org/drawingml/2006/main">
              <a:ext uri="{FF2B5EF4-FFF2-40B4-BE49-F238E27FC236}">
                <a16:creationId xmlns:a16="http://schemas.microsoft.com/office/drawing/2014/main" id="{69CEED54-1B1C-4645-AAC9-FCA74782C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295650"/>
            <a:ext cx="1485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1">
                <a:solidFill>
                  <a:srgbClr val="0F172A"/>
                </a:solidFill>
              </a:defRPr>
            </a:pPr>
            <a:r>
              <a:rPr sz="1200" b="1">
                <a:solidFill>
                  <a:srgbClr val="0F172A"/>
                </a:solidFill>
              </a:rPr>
              <a:t>进程级单例</a:t>
            </a:r>
          </a:p>
        </p:txBody>
      </p:sp>
      <p:sp>
        <p:nvSpPr>
          <p:cNvPr id="18" name="lane-path-3">
            <a:extLst xmlns:a="http://schemas.openxmlformats.org/drawingml/2006/main">
              <a:ext uri="{FF2B5EF4-FFF2-40B4-BE49-F238E27FC236}">
                <a16:creationId xmlns:a16="http://schemas.microsoft.com/office/drawing/2014/main" id="{0770EBF9-408F-4601-AA48-77FCD7A72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562350"/>
            <a:ext cx="1504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788" b="0">
                <a:solidFill>
                  <a:srgbClr val="64748B"/>
                </a:solidFill>
              </a:defRPr>
            </a:pPr>
            <a:r>
              <a:rPr sz="788" b="0">
                <a:solidFill>
                  <a:srgbClr val="64748B"/>
                </a:solidFill>
              </a:rPr>
              <a:t>desktop_gateway/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788" b="0">
                <a:solidFill>
                  <a:srgbClr val="64748B"/>
                </a:solidFill>
              </a:defRPr>
            </a:pPr>
            <a:r>
              <a:rPr sz="788" b="0">
                <a:solidFill>
                  <a:srgbClr val="64748B"/>
                </a:solidFill>
              </a:rPr>
              <a:t>_state.py</a:t>
            </a:r>
          </a:p>
        </p:txBody>
      </p:sp>
      <p:sp>
        <p:nvSpPr>
          <p:cNvPr id="19" name="lane-desc-3">
            <a:extLst xmlns:a="http://schemas.openxmlformats.org/drawingml/2006/main">
              <a:ext uri="{FF2B5EF4-FFF2-40B4-BE49-F238E27FC236}">
                <a16:creationId xmlns:a16="http://schemas.microsoft.com/office/drawing/2014/main" id="{8EC2BEF6-6FC8-44AB-8090-03A0147C9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31470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38" b="0">
                <a:solidFill>
                  <a:srgbClr val="334155"/>
                </a:solidFill>
              </a:defRPr>
            </a:pPr>
            <a:r>
              <a:rPr sz="938" b="0">
                <a:solidFill>
                  <a:srgbClr val="334155"/>
                </a:solidFill>
              </a:rPr>
              <a:t>懒加载的 runtime_registry / runtime_engine / agent_service；首次访问播种 Agent Definition（opendrsai@1）。</a:t>
            </a:r>
          </a:p>
        </p:txBody>
      </p:sp>
      <p:sp>
        <p:nvSpPr>
          <p:cNvPr id="20" name="lane-bg-4">
            <a:extLst xmlns:a="http://schemas.openxmlformats.org/drawingml/2006/main">
              <a:ext uri="{FF2B5EF4-FFF2-40B4-BE49-F238E27FC236}">
                <a16:creationId xmlns:a16="http://schemas.microsoft.com/office/drawing/2014/main" id="{A71C0866-B7B1-4524-94D2-D820293AA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9550"/>
            <a:ext cx="109728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1" name="lane-badge-4">
            <a:extLst xmlns:a="http://schemas.openxmlformats.org/drawingml/2006/main">
              <a:ext uri="{FF2B5EF4-FFF2-40B4-BE49-F238E27FC236}">
                <a16:creationId xmlns:a16="http://schemas.microsoft.com/office/drawing/2014/main" id="{3CC2C53D-FA2D-4778-AD8D-630B228CF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291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lane-stage-4">
            <a:extLst xmlns:a="http://schemas.openxmlformats.org/drawingml/2006/main">
              <a:ext uri="{FF2B5EF4-FFF2-40B4-BE49-F238E27FC236}">
                <a16:creationId xmlns:a16="http://schemas.microsoft.com/office/drawing/2014/main" id="{5D7EA93F-4C1F-494B-B4E4-F9738E936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133850"/>
            <a:ext cx="1485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1">
                <a:solidFill>
                  <a:srgbClr val="0F172A"/>
                </a:solidFill>
              </a:defRPr>
            </a:pPr>
            <a:r>
              <a:rPr sz="1200" b="1">
                <a:solidFill>
                  <a:srgbClr val="0F172A"/>
                </a:solidFill>
              </a:rPr>
              <a:t>Run 生命周期</a:t>
            </a:r>
          </a:p>
        </p:txBody>
      </p:sp>
      <p:sp>
        <p:nvSpPr>
          <p:cNvPr id="23" name="lane-path-4">
            <a:extLst xmlns:a="http://schemas.openxmlformats.org/drawingml/2006/main">
              <a:ext uri="{FF2B5EF4-FFF2-40B4-BE49-F238E27FC236}">
                <a16:creationId xmlns:a16="http://schemas.microsoft.com/office/drawing/2014/main" id="{E8FCCE5E-9B82-4487-B53D-DF0F969E0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400550"/>
            <a:ext cx="1504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788" b="0">
                <a:solidFill>
                  <a:srgbClr val="64748B"/>
                </a:solidFill>
              </a:defRPr>
            </a:pPr>
            <a:r>
              <a:rPr sz="788" b="0">
                <a:solidFill>
                  <a:srgbClr val="64748B"/>
                </a:solidFill>
              </a:rPr>
              <a:t>runtime/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788" b="0">
                <a:solidFill>
                  <a:srgbClr val="64748B"/>
                </a:solidFill>
              </a:defRPr>
            </a:pPr>
            <a:r>
              <a:rPr sz="788" b="0">
                <a:solidFill>
                  <a:srgbClr val="64748B"/>
                </a:solidFill>
              </a:rPr>
              <a:t>agent.py</a:t>
            </a:r>
          </a:p>
        </p:txBody>
      </p:sp>
      <p:sp>
        <p:nvSpPr>
          <p:cNvPr id="24" name="lane-desc-4">
            <a:extLst xmlns:a="http://schemas.openxmlformats.org/drawingml/2006/main">
              <a:ext uri="{FF2B5EF4-FFF2-40B4-BE49-F238E27FC236}">
                <a16:creationId xmlns:a16="http://schemas.microsoft.com/office/drawing/2014/main" id="{7183EE1A-7208-485B-BF3A-CCBB4CCF6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15290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38" b="0">
                <a:solidFill>
                  <a:srgbClr val="334155"/>
                </a:solidFill>
              </a:defRPr>
            </a:pPr>
            <a:r>
              <a:rPr sz="938" b="0">
                <a:solidFill>
                  <a:srgbClr val="334155"/>
                </a:solidFill>
              </a:rPr>
              <a:t>RuntimeAgentService.execute()：加载不可变 Definition、构造 RuntimeRunContext、写 manifest、收敛 completed/failed 终态。</a:t>
            </a:r>
          </a:p>
        </p:txBody>
      </p:sp>
      <p:sp>
        <p:nvSpPr>
          <p:cNvPr id="25" name="lane-bg-5">
            <a:extLst xmlns:a="http://schemas.openxmlformats.org/drawingml/2006/main">
              <a:ext uri="{FF2B5EF4-FFF2-40B4-BE49-F238E27FC236}">
                <a16:creationId xmlns:a16="http://schemas.microsoft.com/office/drawing/2014/main" id="{4B0DD80E-DFC5-4935-80C3-6C63D2259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109728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6" name="lane-badge-5">
            <a:extLst xmlns:a="http://schemas.openxmlformats.org/drawingml/2006/main">
              <a:ext uri="{FF2B5EF4-FFF2-40B4-BE49-F238E27FC236}">
                <a16:creationId xmlns:a16="http://schemas.microsoft.com/office/drawing/2014/main" id="{05421D4F-6DD7-4191-84AD-8BC16775D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673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7" name="lane-stage-5">
            <a:extLst xmlns:a="http://schemas.openxmlformats.org/drawingml/2006/main">
              <a:ext uri="{FF2B5EF4-FFF2-40B4-BE49-F238E27FC236}">
                <a16:creationId xmlns:a16="http://schemas.microsoft.com/office/drawing/2014/main" id="{276D292B-A540-42BD-95A2-9E250410B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972050"/>
            <a:ext cx="1485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1">
                <a:solidFill>
                  <a:srgbClr val="0F172A"/>
                </a:solidFill>
              </a:defRPr>
            </a:pPr>
            <a:r>
              <a:rPr sz="1200" b="1">
                <a:solidFill>
                  <a:srgbClr val="0F172A"/>
                </a:solidFill>
              </a:rPr>
              <a:t>实例化智能体</a:t>
            </a:r>
          </a:p>
        </p:txBody>
      </p:sp>
      <p:sp>
        <p:nvSpPr>
          <p:cNvPr id="28" name="lane-path-5">
            <a:extLst xmlns:a="http://schemas.openxmlformats.org/drawingml/2006/main">
              <a:ext uri="{FF2B5EF4-FFF2-40B4-BE49-F238E27FC236}">
                <a16:creationId xmlns:a16="http://schemas.microsoft.com/office/drawing/2014/main" id="{6CFC5634-DF1B-4A61-9F1D-C3F34FC15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238750"/>
            <a:ext cx="1504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788" b="0">
                <a:solidFill>
                  <a:srgbClr val="64748B"/>
                </a:solidFill>
              </a:defRPr>
            </a:pPr>
            <a:r>
              <a:rPr sz="788" b="0">
                <a:solidFill>
                  <a:srgbClr val="64748B"/>
                </a:solidFill>
              </a:rPr>
              <a:t>run_drsai_agent_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788" b="0">
                <a:solidFill>
                  <a:srgbClr val="64748B"/>
                </a:solidFill>
              </a:defRPr>
            </a:pPr>
            <a:r>
              <a:rPr sz="788" b="0">
                <a:solidFill>
                  <a:srgbClr val="64748B"/>
                </a:solidFill>
              </a:rPr>
              <a:t>factory.py</a:t>
            </a:r>
          </a:p>
        </p:txBody>
      </p:sp>
      <p:sp>
        <p:nvSpPr>
          <p:cNvPr id="29" name="lane-desc-5">
            <a:extLst xmlns:a="http://schemas.openxmlformats.org/drawingml/2006/main">
              <a:ext uri="{FF2B5EF4-FFF2-40B4-BE49-F238E27FC236}">
                <a16:creationId xmlns:a16="http://schemas.microsoft.com/office/drawing/2014/main" id="{741B8028-CD93-49AB-B852-371680D4E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99110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38" b="0">
                <a:solidFill>
                  <a:srgbClr val="334155"/>
                </a:solidFill>
              </a:defRPr>
            </a:pPr>
            <a:r>
              <a:rPr sz="938" b="0">
                <a:solidFill>
                  <a:srgbClr val="334155"/>
                </a:solidFill>
              </a:rPr>
              <a:t>全链路唯一的 new DrSaiAssistant(...) 点：解析模型绑定、选择 client、装配 kernel 与工具，产出可复现的指纹元数据。</a:t>
            </a:r>
          </a:p>
        </p:txBody>
      </p:sp>
      <p:sp>
        <p:nvSpPr>
          <p:cNvPr id="30" name="foot-bg-0">
            <a:extLst xmlns:a="http://schemas.openxmlformats.org/drawingml/2006/main">
              <a:ext uri="{FF2B5EF4-FFF2-40B4-BE49-F238E27FC236}">
                <a16:creationId xmlns:a16="http://schemas.microsoft.com/office/drawing/2014/main" id="{96475AA4-A921-49DE-B5B5-5DA971AEB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35306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EEF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foot-title-0">
            <a:extLst xmlns:a="http://schemas.openxmlformats.org/drawingml/2006/main">
              <a:ext uri="{FF2B5EF4-FFF2-40B4-BE49-F238E27FC236}">
                <a16:creationId xmlns:a16="http://schemas.microsoft.com/office/drawing/2014/main" id="{2ED0448C-2601-4FD2-AC5C-4C3D254C2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76925"/>
            <a:ext cx="322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125" b="1">
                <a:solidFill>
                  <a:srgbClr val="0F172A"/>
                </a:solidFill>
              </a:defRPr>
            </a:pPr>
            <a:r>
              <a:rPr sz="1125" b="1">
                <a:solidFill>
                  <a:srgbClr val="0F172A"/>
                </a:solidFill>
              </a:rPr>
              <a:t>唯一实例化点</a:t>
            </a:r>
          </a:p>
        </p:txBody>
      </p:sp>
      <p:sp>
        <p:nvSpPr>
          <p:cNvPr id="32" name="foot-body-0">
            <a:extLst xmlns:a="http://schemas.openxmlformats.org/drawingml/2006/main">
              <a:ext uri="{FF2B5EF4-FFF2-40B4-BE49-F238E27FC236}">
                <a16:creationId xmlns:a16="http://schemas.microsoft.com/office/drawing/2014/main" id="{7FCBA394-A317-4BDE-93C0-502AC38E9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96000"/>
            <a:ext cx="322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863" b="0">
                <a:solidFill>
                  <a:srgbClr val="334155"/>
                </a:solidFill>
              </a:defRPr>
            </a:pPr>
            <a:r>
              <a:rPr sz="863" b="0">
                <a:solidFill>
                  <a:srgbClr val="334155"/>
                </a:solidFill>
              </a:rPr>
              <a:t>create_agent() 是全链路唯一 new 智能体处，Gateway 与 TUI 共用，可测可控。</a:t>
            </a:r>
          </a:p>
        </p:txBody>
      </p:sp>
      <p:sp>
        <p:nvSpPr>
          <p:cNvPr id="33" name="foot-bg-1">
            <a:extLst xmlns:a="http://schemas.openxmlformats.org/drawingml/2006/main">
              <a:ext uri="{FF2B5EF4-FFF2-40B4-BE49-F238E27FC236}">
                <a16:creationId xmlns:a16="http://schemas.microsoft.com/office/drawing/2014/main" id="{F2DE528F-269B-4FC7-85D9-506602379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0700" y="5791200"/>
            <a:ext cx="35306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EEF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foot-title-1">
            <a:extLst xmlns:a="http://schemas.openxmlformats.org/drawingml/2006/main">
              <a:ext uri="{FF2B5EF4-FFF2-40B4-BE49-F238E27FC236}">
                <a16:creationId xmlns:a16="http://schemas.microsoft.com/office/drawing/2014/main" id="{A2D512CA-113B-4942-A81F-4909716D1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3100" y="5876925"/>
            <a:ext cx="322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125" b="1">
                <a:solidFill>
                  <a:srgbClr val="0F172A"/>
                </a:solidFill>
              </a:defRPr>
            </a:pPr>
            <a:r>
              <a:rPr sz="1125" b="1">
                <a:solidFill>
                  <a:srgbClr val="0F172A"/>
                </a:solidFill>
              </a:rPr>
              <a:t>三把锁分工</a:t>
            </a:r>
          </a:p>
        </p:txBody>
      </p:sp>
      <p:sp>
        <p:nvSpPr>
          <p:cNvPr id="35" name="foot-body-1">
            <a:extLst xmlns:a="http://schemas.openxmlformats.org/drawingml/2006/main">
              <a:ext uri="{FF2B5EF4-FFF2-40B4-BE49-F238E27FC236}">
                <a16:creationId xmlns:a16="http://schemas.microsoft.com/office/drawing/2014/main" id="{59A207C0-95BD-48A2-9463-53F200F8B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3100" y="6096000"/>
            <a:ext cx="322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863" b="0">
                <a:solidFill>
                  <a:srgbClr val="334155"/>
                </a:solidFill>
              </a:defRPr>
            </a:pPr>
            <a:r>
              <a:rPr sz="863" b="0">
                <a:solidFill>
                  <a:srgbClr val="334155"/>
                </a:solidFill>
              </a:rPr>
              <a:t>_global_lock 只护字典；_rebuild_lock 带超时串行构建；close() 5s 有界并 fire-and-forget。</a:t>
            </a:r>
          </a:p>
        </p:txBody>
      </p:sp>
      <p:sp>
        <p:nvSpPr>
          <p:cNvPr id="36" name="foot-bg-2">
            <a:extLst xmlns:a="http://schemas.openxmlformats.org/drawingml/2006/main">
              <a:ext uri="{FF2B5EF4-FFF2-40B4-BE49-F238E27FC236}">
                <a16:creationId xmlns:a16="http://schemas.microsoft.com/office/drawing/2014/main" id="{FC978EEA-557F-4830-973D-8B571F3DE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1800" y="5791200"/>
            <a:ext cx="35306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EEF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foot-title-2">
            <a:extLst xmlns:a="http://schemas.openxmlformats.org/drawingml/2006/main">
              <a:ext uri="{FF2B5EF4-FFF2-40B4-BE49-F238E27FC236}">
                <a16:creationId xmlns:a16="http://schemas.microsoft.com/office/drawing/2014/main" id="{9B42CDC3-F467-487D-8A69-1872C3D28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200" y="5876925"/>
            <a:ext cx="322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125" b="1">
                <a:solidFill>
                  <a:srgbClr val="0F172A"/>
                </a:solidFill>
              </a:defRPr>
            </a:pPr>
            <a:r>
              <a:rPr sz="1125" b="1">
                <a:solidFill>
                  <a:srgbClr val="0F172A"/>
                </a:solidFill>
              </a:rPr>
              <a:t>配置优先级链</a:t>
            </a:r>
          </a:p>
        </p:txBody>
      </p:sp>
      <p:sp>
        <p:nvSpPr>
          <p:cNvPr id="38" name="foot-body-2">
            <a:extLst xmlns:a="http://schemas.openxmlformats.org/drawingml/2006/main">
              <a:ext uri="{FF2B5EF4-FFF2-40B4-BE49-F238E27FC236}">
                <a16:creationId xmlns:a16="http://schemas.microsoft.com/office/drawing/2014/main" id="{3A5C23A8-6961-4DF1-BB86-95FDF7C04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200" y="6096000"/>
            <a:ext cx="322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863" b="0">
                <a:solidFill>
                  <a:srgbClr val="334155"/>
                </a:solidFill>
              </a:defRPr>
            </a:pPr>
            <a:r>
              <a:rPr sz="863" b="0">
                <a:solidFill>
                  <a:srgbClr val="334155"/>
                </a:solidFill>
              </a:rPr>
              <a:t>env &gt; cli_config.yaml &gt; config.toml &gt; 内置默认；OIDC 只对 HepAI provider 权威。</a:t>
            </a:r>
          </a:p>
        </p:txBody>
      </p:sp>
    </p:spTree>
    <p:extLst>
      <p:ext uri="{BB962C8B-B14F-4D97-AF65-F5344CB8AC3E}">
        <p14:creationId xmlns:p14="http://schemas.microsoft.com/office/powerpoint/2010/main" val="57815899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2026-09-17T02:49:40.1420000Z</dcterms:created>
  <dcterms:modified xsi:type="dcterms:W3CDTF">2026-09-17T02:49:40.1420000Z</dcterms:modified>
</coreProperties>
</file>